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70" r:id="rId11"/>
    <p:sldId id="264" r:id="rId12"/>
    <p:sldId id="265" r:id="rId13"/>
    <p:sldId id="275" r:id="rId14"/>
    <p:sldId id="271" r:id="rId15"/>
    <p:sldId id="272" r:id="rId16"/>
    <p:sldId id="273" r:id="rId17"/>
    <p:sldId id="274" r:id="rId18"/>
  </p:sldIdLst>
  <p:sldSz cx="12192000" cy="6858000"/>
  <p:notesSz cx="6858000" cy="9144000"/>
  <p:embeddedFontLst>
    <p:embeddedFont>
      <p:font typeface="Cambria Math" panose="02040503050406030204" pitchFamily="18" charset="0"/>
      <p:regular r:id="rId20"/>
    </p:embeddedFont>
    <p:embeddedFont>
      <p:font typeface="Inter" panose="020B0600070205080204" charset="0"/>
      <p:regular r:id="rId21"/>
      <p:bold r:id="rId22"/>
      <p:italic r:id="rId23"/>
      <p:boldItalic r:id="rId24"/>
    </p:embeddedFont>
    <p:embeddedFont>
      <p:font typeface="Inter SemiBold" panose="020B0600070205080204" charset="0"/>
      <p:regular r:id="rId25"/>
      <p:bold r:id="rId26"/>
      <p:italic r:id="rId27"/>
      <p:boldItalic r:id="rId28"/>
    </p:embeddedFont>
    <p:embeddedFont>
      <p:font typeface="Poppins" panose="000005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3A5AE5C-746B-482D-8075-EA727F144BAB}">
  <a:tblStyle styleId="{93A5AE5C-746B-482D-8075-EA727F144BA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6:57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0 327 24575,'4'1'0,"0"1"0,-1-1 0,1 1 0,-1 0 0,1 0 0,-1 0 0,0 0 0,0 1 0,6 4 0,0 1 0,23 15 0,1-2 0,1-1 0,0-1 0,2-2 0,63 21 0,-37-20 0,1-3 0,109 12 0,-135-23 0,439 31 0,-143-7 0,-111-5 0,-61-3 0,-94-10 0,79 2 0,-89-11 0,276 7 0,132 1 0,-69-3 0,-17 0 0,147-1 0,-340-5 0,111-19 0,-130 4 0,-53 8 0,164-31 0,36-12 0,-297 48 0,165-11 0,-2 0 0,-104 4 0,-2 1 0,0-3 0,124-35 0,-35 7 0,-49 14 0,-60 15 0,-41 8 0,0 0 0,-1-1 0,1 0 0,-1-1 0,1-1 0,15-7 0,35-19 0,-47 24 0,0 0 0,-1-1 0,0-1 0,22-16 0,34-19 0,-19 10 0,-37 25 0,0 0 0,25-22 0,48-41 0,-65 52 0,-16 14 0,-1 0 0,0 0 0,0 0 0,8-11 0,11-16-1365,-21 26-5461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0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211 33 24575,'0'-3'0,"0"1"0,0-1 0,0 0 0,0 1 0,0-1 0,-1 1 0,0-1 0,1 0 0,-2-2 0,2 5 0,0 0 0,-1 0 0,1-1 0,0 1 0,0 0 0,0 0 0,-1-1 0,1 1 0,0 0 0,-1 0 0,1 0 0,0-1 0,0 1 0,-1 0 0,1 0 0,0 0 0,-1 0 0,1 0 0,0 0 0,-1 0 0,1 0 0,0 0 0,-1 0 0,1 0 0,0 0 0,-1 0 0,1 0 0,-15 9 0,-1 6 0,-24 29 0,7-7 0,23-26 0,1 1 0,0 1 0,1-1 0,0 1 0,1 1 0,0 0 0,1-1 0,1 2 0,0-1 0,1 1 0,1-1 0,-2 18 0,-1 23 0,4 110 0,3-107 0,-1-52 0,1-1 0,-1 1 0,1-1 0,1 1 0,-1-1 0,1 1 0,0-1 0,0 0 0,1 0 0,-1 0 0,1 0 0,0 0 0,0-1 0,1 1 0,0-1 0,-1 0 0,1 0 0,1 0 0,-1-1 0,1 1 0,8 4 0,-3-2 0,-1-1 0,1-1 0,1 0 0,-1 0 0,1 0 0,-1-2 0,1 1 0,0-1 0,0-1 0,13 0 0,16 0 0,-15 0 0,0-1 0,44-6 0,-62 4 0,-1 0 0,1-1 0,-1 0 0,0 0 0,1-1 0,-2 0 0,1 0 0,0 0 0,-1-1 0,0 0 0,0 0 0,0 0 0,-1 0 0,1-1 0,-1 0 0,-1 0 0,1 0 0,-1 0 0,3-8 0,-4 9 0,0 0 0,-1 0 0,1 0 0,-1 0 0,0 0 0,-1 0 0,1 0 0,-1 0 0,0 0 0,0 0 0,-1 0 0,0-6 0,0 8 0,0-1 0,0 1 0,-1 0 0,1 0 0,-1-1 0,0 1 0,0 0 0,0 0 0,0 1 0,0-1 0,-1 0 0,1 1 0,-1-1 0,0 1 0,1 0 0,-1 0 0,0 0 0,-6-2 0,3 1 0,1 1 0,-1 1 0,0-1 0,0 1 0,1 0 0,-1 0 0,-11 1 0,-44 3 0,48-1 0,8-2 0,0 1 0,0 1 0,0-1 0,0 1 0,0 0 0,1 0 0,-1 0 0,1 0 0,-1 1 0,-4 3 0,-21 12 0,13-11 0,7-3 0,0 0 0,0 1 0,1 1 0,-1-1 0,-13 12 0,16-11-1365,1-2-5461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5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1 204 24575,'2'1'0,"-1"0"0,1 0 0,-1 0 0,1 0 0,-1 1 0,0-1 0,0 0 0,1 1 0,-1-1 0,0 1 0,1 2 0,2 2 0,42 50 0,64 64 0,-83-95 0,1-1 0,1-1 0,1-1 0,46 24 0,27 5 0,115 38 0,115 22 0,-166-57 0,-71-26 0,0-4 0,113 13 0,201 4 0,-158-19 0,138-1 0,1-22 0,-147 0 0,713 1 0,-904-3 0,102-17 0,102-32 0,87 2 0,-229 34 0,71-7 0,-124 16 0,81-19 0,-37 5 0,443-65 0,-287 28 0,70-38 0,-41 30 0,-130 34 0,-79 13 0,115-43 0,-152 47 0,-25 9 0,34-16 0,13-6 0,-47 20 0,-1 0 0,30-17 0,-31 13 0,-2 0 0,1-1 0,23-26 0,-23 23 0,-12 12 0,0-1 0,0 0 0,0 0 0,-1-1 0,6-8 0,65-119-1365,-72 126-5461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8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1 24575,'-2'5'0,"-1"0"0,0 0 0,0-1 0,0 1 0,-7 6 0,2-1 0,-7 11 0,1 0 0,1 1 0,1 1 0,1 0 0,-10 31 0,9-17 0,2 0 0,-11 71 0,20-99 0,0 0 0,1 0 0,0 0 0,1 0 0,0-1 0,0 1 0,0 0 0,1-1 0,1 1 0,3 9 0,0-6 0,0 0 0,1 0 0,1-1 0,0 1 0,18 18 0,-23-26 0,1 0 0,0 0 0,1 0 0,-1-1 0,0 1 0,1-1 0,0 0 0,0-1 0,0 1 0,0-1 0,0 0 0,0 0 0,1-1 0,-1 1 0,1-1 0,-1 0 0,1-1 0,-1 1 0,1-1 0,0-1 0,6 0 0,7 1 0,-11 0 0,-1 0 0,1 0 0,0-1 0,11-3 0,-16 3 0,0 0 0,0 0 0,-1 0 0,1-1 0,-1 1 0,1-1 0,-1 0 0,1 1 0,-1-1 0,0 0 0,0-1 0,0 1 0,0 0 0,0-1 0,2-2 0,5-9 0,-1 0 0,0 0 0,-1-1 0,-1 0 0,0 0 0,-1 0 0,-1-1 0,3-18 0,-7 32 0,0 1 0,0-1 0,0 1 0,0 0 0,0-1 0,-1 1 0,1-1 0,0 1 0,-1-1 0,1 1 0,-1 0 0,0-1 0,1 1 0,-1 0 0,0 0 0,0 0 0,0-1 0,0 1 0,0 0 0,0 0 0,0 0 0,0 1 0,-1-1 0,1 0 0,0 0 0,0 0 0,-1 1 0,1-1 0,0 1 0,-1-1 0,1 1 0,-1 0 0,1-1 0,-1 1 0,1 0 0,-2 0 0,-9-1 0,0 0 0,0 1 0,-18 1 0,14 1 0,-21-2-96,-27 2 312,58-2-364,1 1-1,0 0 1,0 1-1,0 0 1,0-1-1,0 1 1,0 1-1,0-1 0,-7 6 1,5-3-6678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7041EF0F-04AC-A5D6-BA9C-612DC334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EB0BFF37-1CA4-B3CF-F47A-2733BB94C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16827DC2-05DD-D82D-4D67-91084176B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496220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3CB0286-2FA9-ACBD-5469-2650C9E4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38F4E410-AD0B-09EB-DF11-F8DDD7F28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405CC17D-5942-80FB-448A-EE4077216A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02479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CB1956D2-0AFF-26A0-7B55-38BFE8504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90477BEB-7D5B-FA12-0338-00B9CF5663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F3BC80B3-F8CD-9485-0E68-632867AE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56112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C132F2D-0E42-FAE8-0947-E7EC6517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523AB4E6-57AF-3ACF-74E8-8375883881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E75F83F9-FD22-2534-A20D-0677ED035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61516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D362FEEA-4B51-3E8A-85F2-7A194F964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ED71EDB5-849A-A875-775B-8162CB7D4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364660C3-B7C0-EEBD-A615-9270779970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584844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93F8D4DE-DF85-D7D7-1C82-947D3E5F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07B9C05F-D18B-81AD-5215-25EAE99F88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CC7DA02A-C7B0-1F7E-5E77-C1C57EE0B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02000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FCFF7CF9-529D-4E0E-8E7E-A32AB52B7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1777AEEA-C3B8-8F04-B37E-59F9199B40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61C41160-69CF-656D-983F-4C9DC63665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279536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20.png"/><Relationship Id="rId5" Type="http://schemas.openxmlformats.org/officeDocument/2006/relationships/image" Target="../media/image17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3897541" y="2438400"/>
            <a:ext cx="4396915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8000" dirty="0"/>
              <a:t>数学基礎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2528648" y="4112473"/>
            <a:ext cx="7134700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数学の基礎中の基礎である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「</a:t>
            </a:r>
            <a:r>
              <a:rPr lang="ja-JP" altLang="en-US" sz="2100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計算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」</a:t>
            </a:r>
            <a:r>
              <a:rPr lang="ja-JP" alt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の基礎を解説します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7750" y="1819275"/>
            <a:ext cx="428625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7275" y="1828800"/>
            <a:ext cx="4267200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6381750" y="2505543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28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基本中の基本</a:t>
            </a:r>
            <a:endParaRPr lang="ja-JP" altLang="en-US" sz="2800"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381750" y="3041201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この講義では、英語で言えば「基礎単語」に相当する計算のルールを解説します。</a:t>
            </a:r>
            <a:endParaRPr lang="ja-JP" altLang="en-US" sz="1800"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6381750" y="3962400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ゲーム制作はもちろん、どのような専門分野においても、まず最初に必要不可欠となる知識です。</a:t>
            </a:r>
            <a:endParaRPr lang="ja-JP" altLang="en-US" sz="1800"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概要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ja-JP" alt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五則演算</a:t>
            </a: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1340941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73458" y="1340941"/>
            <a:ext cx="3492400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1279" y="1340942"/>
            <a:ext cx="3411457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7940" y="3136157"/>
            <a:ext cx="2433850" cy="504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4356" y="3130324"/>
            <a:ext cx="2711385" cy="492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15722" y="3106009"/>
            <a:ext cx="2399331" cy="497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83881" y="1564650"/>
            <a:ext cx="359106" cy="410407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1031126" y="2112579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</a:t>
            </a:r>
            <a:r>
              <a:rPr lang="en-US" altLang="ja-JP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(Add)</a:t>
            </a:r>
            <a:endParaRPr lang="en-US" altLang="ja-JP" sz="240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1114845" y="2650307"/>
            <a:ext cx="2699978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足し算。「</a:t>
            </a: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+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」で表します。</a:t>
            </a:r>
            <a:endParaRPr lang="ja-JP" altLang="en-US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695967" y="1545748"/>
            <a:ext cx="400033" cy="40069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498402" y="2094521"/>
            <a:ext cx="28469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減算 (Sub)</a:t>
            </a:r>
            <a:endParaRPr sz="2400"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4681970" y="2596446"/>
            <a:ext cx="2711389" cy="35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引き算。「-」で表します。</a:t>
            </a:r>
            <a:endParaRPr dirty="0"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63669" y="1570471"/>
            <a:ext cx="303439" cy="404586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627358" y="2101030"/>
            <a:ext cx="251929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乗算 (Mul)</a:t>
            </a:r>
            <a:endParaRPr sz="2400"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8627358" y="2650307"/>
            <a:ext cx="2750004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掛け算。「*」で表します。</a:t>
            </a:r>
            <a:endParaRPr lang="ja-JP" altLang="en-US"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262975" y="3334062"/>
            <a:ext cx="2091844" cy="1624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779" y="3297280"/>
            <a:ext cx="2330408" cy="158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884300" y="3284423"/>
            <a:ext cx="2062173" cy="16014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790575" y="453802"/>
            <a:ext cx="11401425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加算・減算・乗算・除算・剰余</a:t>
            </a:r>
            <a:endParaRPr lang="ja-JP" altLang="en-US" sz="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dirty="0"/>
          </a:p>
        </p:txBody>
      </p:sp>
      <p:sp>
        <p:nvSpPr>
          <p:cNvPr id="132" name="Google Shape;132;p16"/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1297C8-AFD6-A98A-A28F-1FD5DE2E89F7}"/>
              </a:ext>
            </a:extLst>
          </p:cNvPr>
          <p:cNvSpPr txBox="1"/>
          <p:nvPr/>
        </p:nvSpPr>
        <p:spPr>
          <a:xfrm>
            <a:off x="5079369" y="1120273"/>
            <a:ext cx="6097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8" name="Google Shape;113;p16" descr="image.png">
            <a:extLst>
              <a:ext uri="{FF2B5EF4-FFF2-40B4-BE49-F238E27FC236}">
                <a16:creationId xmlns:a16="http://schemas.microsoft.com/office/drawing/2014/main" id="{48CE5F6B-8A48-321D-8DBA-4991DDF37B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42987" y="4061433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6;p16" descr="image.png">
            <a:extLst>
              <a:ext uri="{FF2B5EF4-FFF2-40B4-BE49-F238E27FC236}">
                <a16:creationId xmlns:a16="http://schemas.microsoft.com/office/drawing/2014/main" id="{DC9FE6FF-14C6-3A61-8D60-3FB229B5B4C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84177" y="5856649"/>
            <a:ext cx="2433850" cy="50445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20;p16">
            <a:extLst>
              <a:ext uri="{FF2B5EF4-FFF2-40B4-BE49-F238E27FC236}">
                <a16:creationId xmlns:a16="http://schemas.microsoft.com/office/drawing/2014/main" id="{A26C354B-D176-E239-371C-071A49C76F62}"/>
              </a:ext>
            </a:extLst>
          </p:cNvPr>
          <p:cNvSpPr txBox="1"/>
          <p:nvPr/>
        </p:nvSpPr>
        <p:spPr>
          <a:xfrm>
            <a:off x="2807363" y="4833071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</a:t>
            </a:r>
            <a:r>
              <a:rPr lang="en-US" altLang="ja-JP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(Add)</a:t>
            </a:r>
            <a:endParaRPr lang="en-US" altLang="ja-JP" sz="2400" dirty="0"/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C23CCAE-BD35-0377-7DDB-FCE65A16B419}"/>
              </a:ext>
            </a:extLst>
          </p:cNvPr>
          <p:cNvSpPr txBox="1"/>
          <p:nvPr/>
        </p:nvSpPr>
        <p:spPr>
          <a:xfrm>
            <a:off x="2891082" y="5370799"/>
            <a:ext cx="2699978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割り算。「</a:t>
            </a: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」で表します。</a:t>
            </a:r>
            <a:endParaRPr lang="ja-JP" altLang="en-US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" name="Google Shape;113;p16" descr="image.png">
            <a:extLst>
              <a:ext uri="{FF2B5EF4-FFF2-40B4-BE49-F238E27FC236}">
                <a16:creationId xmlns:a16="http://schemas.microsoft.com/office/drawing/2014/main" id="{ABEF1128-A4CF-1CEC-DDF1-45829B4F05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3594" y="4061433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6;p16" descr="image.png">
            <a:extLst>
              <a:ext uri="{FF2B5EF4-FFF2-40B4-BE49-F238E27FC236}">
                <a16:creationId xmlns:a16="http://schemas.microsoft.com/office/drawing/2014/main" id="{56E40E69-5BA4-D15E-C425-EFDDF96578C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4784" y="5856649"/>
            <a:ext cx="2433850" cy="504458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20;p16">
            <a:extLst>
              <a:ext uri="{FF2B5EF4-FFF2-40B4-BE49-F238E27FC236}">
                <a16:creationId xmlns:a16="http://schemas.microsoft.com/office/drawing/2014/main" id="{E3E1969F-9074-0DAD-87E1-7594633761D1}"/>
              </a:ext>
            </a:extLst>
          </p:cNvPr>
          <p:cNvSpPr txBox="1"/>
          <p:nvPr/>
        </p:nvSpPr>
        <p:spPr>
          <a:xfrm>
            <a:off x="6487970" y="4833071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ja-JP" altLang="en-US" sz="2400" b="1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剰余 </a:t>
            </a:r>
            <a:r>
              <a:rPr lang="en-US" altLang="ja-JP" sz="2400" b="1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(Mod)</a:t>
            </a:r>
            <a:endParaRPr lang="en-US" altLang="ja-JP" sz="2400" dirty="0">
              <a:solidFill>
                <a:schemeClr val="tx1"/>
              </a:solidFill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A4574147-EA6D-41A0-9134-60BC41A792F0}"/>
              </a:ext>
            </a:extLst>
          </p:cNvPr>
          <p:cNvSpPr txBox="1"/>
          <p:nvPr/>
        </p:nvSpPr>
        <p:spPr>
          <a:xfrm>
            <a:off x="6571689" y="5370799"/>
            <a:ext cx="2699978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余りの計算。「%」で表します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DDC4777-292F-170B-41E1-229299BAF30A}"/>
              </a:ext>
            </a:extLst>
          </p:cNvPr>
          <p:cNvSpPr txBox="1"/>
          <p:nvPr/>
        </p:nvSpPr>
        <p:spPr>
          <a:xfrm>
            <a:off x="3937435" y="4141068"/>
            <a:ext cx="3273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/</a:t>
            </a:r>
            <a:endParaRPr kumimoji="1" lang="ja-JP" altLang="en-US" sz="40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3" name="Google Shape;146;p17" descr="image.png">
            <a:extLst>
              <a:ext uri="{FF2B5EF4-FFF2-40B4-BE49-F238E27FC236}">
                <a16:creationId xmlns:a16="http://schemas.microsoft.com/office/drawing/2014/main" id="{FBFCF024-21EA-6B38-710D-2C98EA750950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135108" y="6051949"/>
            <a:ext cx="407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56AC00B-5E57-9208-C5F2-524DCA831C7C}"/>
              </a:ext>
            </a:extLst>
          </p:cNvPr>
          <p:cNvSpPr txBox="1"/>
          <p:nvPr/>
        </p:nvSpPr>
        <p:spPr>
          <a:xfrm>
            <a:off x="7480985" y="4248296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endParaRPr kumimoji="1" lang="ja-JP" altLang="en-US" sz="32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5" name="Google Shape;147;p17" descr="image.png">
            <a:extLst>
              <a:ext uri="{FF2B5EF4-FFF2-40B4-BE49-F238E27FC236}">
                <a16:creationId xmlns:a16="http://schemas.microsoft.com/office/drawing/2014/main" id="{FBE99F0F-8262-D745-145A-F22DFFE5ACFA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838686" y="6018390"/>
            <a:ext cx="40767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1;p16">
            <a:extLst>
              <a:ext uri="{FF2B5EF4-FFF2-40B4-BE49-F238E27FC236}">
                <a16:creationId xmlns:a16="http://schemas.microsoft.com/office/drawing/2014/main" id="{E40F8D74-791A-F0CE-D535-FE20062CDBC4}"/>
              </a:ext>
            </a:extLst>
          </p:cNvPr>
          <p:cNvSpPr txBox="1"/>
          <p:nvPr/>
        </p:nvSpPr>
        <p:spPr>
          <a:xfrm>
            <a:off x="790575" y="453802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五則演算：演習</a:t>
            </a:r>
          </a:p>
        </p:txBody>
      </p:sp>
      <p:sp>
        <p:nvSpPr>
          <p:cNvPr id="3" name="Google Shape;132;p16">
            <a:extLst>
              <a:ext uri="{FF2B5EF4-FFF2-40B4-BE49-F238E27FC236}">
                <a16:creationId xmlns:a16="http://schemas.microsoft.com/office/drawing/2014/main" id="{2818D68F-8B34-970B-E0DD-25DF2069CDB1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3510B3-9ADE-19A5-2A80-578DE3C10DBA}"/>
              </a:ext>
            </a:extLst>
          </p:cNvPr>
          <p:cNvSpPr txBox="1"/>
          <p:nvPr/>
        </p:nvSpPr>
        <p:spPr>
          <a:xfrm>
            <a:off x="666750" y="1366897"/>
            <a:ext cx="281519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dirty="0"/>
              <a:t>5 +</a:t>
            </a:r>
            <a:r>
              <a:rPr kumimoji="1" lang="ja-JP" altLang="en-US" sz="3200" b="1" dirty="0"/>
              <a:t> </a:t>
            </a:r>
            <a:r>
              <a:rPr kumimoji="1" lang="en-US" altLang="ja-JP" sz="3200" b="1" dirty="0"/>
              <a:t>8</a:t>
            </a:r>
            <a:r>
              <a:rPr kumimoji="1" lang="ja-JP" altLang="en-US" sz="3200" b="1" dirty="0"/>
              <a:t> </a:t>
            </a:r>
            <a:r>
              <a:rPr kumimoji="1" lang="en-US" altLang="ja-JP" sz="3200" b="1" dirty="0"/>
              <a:t>=</a:t>
            </a:r>
          </a:p>
          <a:p>
            <a:r>
              <a:rPr kumimoji="1" lang="en-US" altLang="ja-JP" sz="3200" b="1" dirty="0"/>
              <a:t>1.2 + 3.8 =</a:t>
            </a:r>
          </a:p>
          <a:p>
            <a:r>
              <a:rPr kumimoji="1" lang="en-US" altLang="ja-JP" sz="3200" b="1" dirty="0"/>
              <a:t>125 + 280 =</a:t>
            </a:r>
          </a:p>
          <a:p>
            <a:r>
              <a:rPr kumimoji="1" lang="en-US" altLang="ja-JP" sz="3200" b="1" dirty="0"/>
              <a:t>9 – 4 =</a:t>
            </a:r>
          </a:p>
          <a:p>
            <a:r>
              <a:rPr kumimoji="1" lang="en-US" altLang="ja-JP" sz="3200" b="1" dirty="0"/>
              <a:t>4.5 – 1.2 =</a:t>
            </a:r>
          </a:p>
          <a:p>
            <a:r>
              <a:rPr kumimoji="1" lang="en-US" altLang="ja-JP" sz="3200" b="1" dirty="0"/>
              <a:t>1000 – 1500 =</a:t>
            </a:r>
          </a:p>
          <a:p>
            <a:r>
              <a:rPr kumimoji="1" lang="en-US" altLang="ja-JP" sz="3200" b="1" dirty="0"/>
              <a:t>2 * 3 =</a:t>
            </a:r>
          </a:p>
          <a:p>
            <a:r>
              <a:rPr kumimoji="1" lang="en-US" altLang="ja-JP" sz="3200" b="1" dirty="0"/>
              <a:t>0.8 * 0.5 =</a:t>
            </a:r>
          </a:p>
          <a:p>
            <a:r>
              <a:rPr kumimoji="1" lang="en-US" altLang="ja-JP" sz="3200" b="1" dirty="0"/>
              <a:t>-15 * 1.2 =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42380D-D8F9-86CB-107A-C3F2E0BCCB6A}"/>
              </a:ext>
            </a:extLst>
          </p:cNvPr>
          <p:cNvSpPr txBox="1"/>
          <p:nvPr/>
        </p:nvSpPr>
        <p:spPr>
          <a:xfrm>
            <a:off x="6096000" y="1341546"/>
            <a:ext cx="247375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dirty="0"/>
              <a:t>6 / 2 =</a:t>
            </a:r>
          </a:p>
          <a:p>
            <a:r>
              <a:rPr kumimoji="1" lang="en-US" altLang="ja-JP" sz="3200" b="1" dirty="0"/>
              <a:t>0.75 / 0.25 =</a:t>
            </a:r>
          </a:p>
          <a:p>
            <a:r>
              <a:rPr kumimoji="1" lang="en-US" altLang="ja-JP" sz="3200" b="1" dirty="0"/>
              <a:t>4.8 / 2 =</a:t>
            </a:r>
          </a:p>
          <a:p>
            <a:r>
              <a:rPr kumimoji="1" lang="en-US" altLang="ja-JP" sz="3200" b="1" dirty="0"/>
              <a:t>5 % 2 =</a:t>
            </a:r>
          </a:p>
          <a:p>
            <a:r>
              <a:rPr kumimoji="1" lang="en-US" altLang="ja-JP" sz="3200" b="1" dirty="0"/>
              <a:t>250 % 15 =</a:t>
            </a:r>
          </a:p>
          <a:p>
            <a:r>
              <a:rPr kumimoji="1" lang="en-US" altLang="ja-JP" sz="3200" b="1" dirty="0"/>
              <a:t>80 % 9 =</a:t>
            </a:r>
            <a:endParaRPr kumimoji="1" lang="ja-JP" alt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31BDC12D-3348-18A5-36CC-E8FC5DDC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AC38E511-FCF8-D59C-A7FE-B643AFA4E5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7;p15">
            <a:extLst>
              <a:ext uri="{FF2B5EF4-FFF2-40B4-BE49-F238E27FC236}">
                <a16:creationId xmlns:a16="http://schemas.microsoft.com/office/drawing/2014/main" id="{F45A8D56-D61C-F82F-2B8B-7225737B9992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ja-JP" alt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分数の計算</a:t>
            </a: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4648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0" y="2343150"/>
            <a:ext cx="121920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不等式・絶対値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183;p20" descr="image.png">
            <a:extLst>
              <a:ext uri="{FF2B5EF4-FFF2-40B4-BE49-F238E27FC236}">
                <a16:creationId xmlns:a16="http://schemas.microsoft.com/office/drawing/2014/main" id="{5A543339-8220-153A-A5A7-DFA5BCF40A9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4824573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183;p20" descr="image.png">
            <a:extLst>
              <a:ext uri="{FF2B5EF4-FFF2-40B4-BE49-F238E27FC236}">
                <a16:creationId xmlns:a16="http://schemas.microsoft.com/office/drawing/2014/main" id="{B97C9D2C-52F5-DEA7-9A0E-A0BA5940D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3996228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83;p20" descr="image.png">
            <a:extLst>
              <a:ext uri="{FF2B5EF4-FFF2-40B4-BE49-F238E27FC236}">
                <a16:creationId xmlns:a16="http://schemas.microsoft.com/office/drawing/2014/main" id="{65F30A87-C7EA-BC1B-B686-75E6B6ED858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3138015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83;p20" descr="image.png">
            <a:extLst>
              <a:ext uri="{FF2B5EF4-FFF2-40B4-BE49-F238E27FC236}">
                <a16:creationId xmlns:a16="http://schemas.microsoft.com/office/drawing/2014/main" id="{8A02928D-141D-0EFD-8B38-8AB4A8D8AF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2373799"/>
            <a:ext cx="5238750" cy="71446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811163" y="1480838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不等号を用いて、数量の大小関係を表した式です。</a:t>
            </a:r>
            <a:endParaRPr sz="2000" dirty="0"/>
          </a:p>
        </p:txBody>
      </p:sp>
      <p:sp>
        <p:nvSpPr>
          <p:cNvPr id="166" name="Google Shape;166;p19"/>
          <p:cNvSpPr txBox="1"/>
          <p:nvPr/>
        </p:nvSpPr>
        <p:spPr>
          <a:xfrm>
            <a:off x="3048683" y="4020121"/>
            <a:ext cx="2690360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左辺が右辺以上</a:t>
            </a:r>
            <a:endParaRPr sz="200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不等式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528053-FC3E-1FEF-36FB-B06C1C1FFEB7}"/>
              </a:ext>
            </a:extLst>
          </p:cNvPr>
          <p:cNvSpPr txBox="1"/>
          <p:nvPr/>
        </p:nvSpPr>
        <p:spPr>
          <a:xfrm>
            <a:off x="1703786" y="2328613"/>
            <a:ext cx="7650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54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&gt;</a:t>
            </a:r>
            <a:endParaRPr kumimoji="1" lang="ja-JP" altLang="en-US" sz="54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9BDBB2-9C9C-962C-263F-E84D73165406}"/>
              </a:ext>
            </a:extLst>
          </p:cNvPr>
          <p:cNvSpPr txBox="1"/>
          <p:nvPr/>
        </p:nvSpPr>
        <p:spPr>
          <a:xfrm>
            <a:off x="1703786" y="3057990"/>
            <a:ext cx="6182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54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&lt;</a:t>
            </a:r>
            <a:endParaRPr kumimoji="1" lang="ja-JP" altLang="en-US" sz="54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8B9A-5565-3CDB-A955-75D6E417FD2B}"/>
              </a:ext>
            </a:extLst>
          </p:cNvPr>
          <p:cNvSpPr txBox="1"/>
          <p:nvPr/>
        </p:nvSpPr>
        <p:spPr>
          <a:xfrm>
            <a:off x="2644290" y="3292617"/>
            <a:ext cx="4180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左辺が右辺よりも小さい</a:t>
            </a:r>
            <a:endParaRPr kumimoji="1" lang="ja-JP" altLang="en-US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C40EAD9-DB78-8EF7-EB98-DE375206267F}"/>
              </a:ext>
            </a:extLst>
          </p:cNvPr>
          <p:cNvSpPr txBox="1"/>
          <p:nvPr/>
        </p:nvSpPr>
        <p:spPr>
          <a:xfrm>
            <a:off x="1703786" y="3906244"/>
            <a:ext cx="74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≧</a:t>
            </a:r>
            <a:endParaRPr kumimoji="1" lang="ja-JP" altLang="en-US" sz="48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4807798-3817-0DFE-5A74-AC3EB2F91B8F}"/>
              </a:ext>
            </a:extLst>
          </p:cNvPr>
          <p:cNvSpPr txBox="1"/>
          <p:nvPr/>
        </p:nvSpPr>
        <p:spPr>
          <a:xfrm>
            <a:off x="6335663" y="3981350"/>
            <a:ext cx="47210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5≧2,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　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10≧3,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　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5≧5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F41C139-45A6-593E-BDA5-9D8E06A7BD37}"/>
              </a:ext>
            </a:extLst>
          </p:cNvPr>
          <p:cNvSpPr txBox="1"/>
          <p:nvPr/>
        </p:nvSpPr>
        <p:spPr>
          <a:xfrm>
            <a:off x="6335663" y="4772251"/>
            <a:ext cx="4372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2≦5,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3≦10,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5≦5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17" name="Google Shape;166;p19">
            <a:extLst>
              <a:ext uri="{FF2B5EF4-FFF2-40B4-BE49-F238E27FC236}">
                <a16:creationId xmlns:a16="http://schemas.microsoft.com/office/drawing/2014/main" id="{A1B97F88-13F5-8C7B-5314-905A67A99606}"/>
              </a:ext>
            </a:extLst>
          </p:cNvPr>
          <p:cNvSpPr txBox="1"/>
          <p:nvPr/>
        </p:nvSpPr>
        <p:spPr>
          <a:xfrm>
            <a:off x="3048683" y="4824573"/>
            <a:ext cx="2559357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ja-JP" sz="2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左辺が右辺以下</a:t>
            </a:r>
            <a:endParaRPr sz="20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6A53FAD-782A-A487-83E2-C7C890A3A370}"/>
              </a:ext>
            </a:extLst>
          </p:cNvPr>
          <p:cNvSpPr txBox="1"/>
          <p:nvPr/>
        </p:nvSpPr>
        <p:spPr>
          <a:xfrm>
            <a:off x="1693459" y="4710696"/>
            <a:ext cx="74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≦</a:t>
            </a:r>
            <a:endParaRPr kumimoji="1" lang="ja-JP" altLang="en-US" sz="48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4ECAAC8-2584-C18E-5EA5-61C4C2D9D997}"/>
              </a:ext>
            </a:extLst>
          </p:cNvPr>
          <p:cNvSpPr txBox="1"/>
          <p:nvPr/>
        </p:nvSpPr>
        <p:spPr>
          <a:xfrm>
            <a:off x="6335664" y="3141306"/>
            <a:ext cx="32120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2&lt;5,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　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3&lt;10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394438D-9FA3-AD61-C451-7D39527E528E}"/>
              </a:ext>
            </a:extLst>
          </p:cNvPr>
          <p:cNvSpPr txBox="1"/>
          <p:nvPr/>
        </p:nvSpPr>
        <p:spPr>
          <a:xfrm>
            <a:off x="2644290" y="2560398"/>
            <a:ext cx="4180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左辺が右辺よりも小さい</a:t>
            </a:r>
            <a:endParaRPr kumimoji="1" lang="ja-JP" altLang="en-US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7CC70A-4D76-08D8-17E1-78CA9B35C2DD}"/>
              </a:ext>
            </a:extLst>
          </p:cNvPr>
          <p:cNvSpPr txBox="1"/>
          <p:nvPr/>
        </p:nvSpPr>
        <p:spPr>
          <a:xfrm>
            <a:off x="6335663" y="2373799"/>
            <a:ext cx="32120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5&gt;2,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　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10&gt;3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3908163"/>
            <a:ext cx="5238750" cy="71446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 txBox="1"/>
          <p:nvPr/>
        </p:nvSpPr>
        <p:spPr>
          <a:xfrm>
            <a:off x="441714" y="2161992"/>
            <a:ext cx="52387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| X |</a:t>
            </a:r>
            <a:endParaRPr dirty="0"/>
          </a:p>
        </p:txBody>
      </p:sp>
      <p:sp>
        <p:nvSpPr>
          <p:cNvPr id="185" name="Google Shape;185;p20"/>
          <p:cNvSpPr txBox="1"/>
          <p:nvPr/>
        </p:nvSpPr>
        <p:spPr>
          <a:xfrm>
            <a:off x="441714" y="4042481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Distance from Zero</a:t>
            </a:r>
            <a:endParaRPr dirty="0"/>
          </a:p>
        </p:txBody>
      </p:sp>
      <p:sp>
        <p:nvSpPr>
          <p:cNvPr id="186" name="Google Shape;186;p20"/>
          <p:cNvSpPr txBox="1"/>
          <p:nvPr/>
        </p:nvSpPr>
        <p:spPr>
          <a:xfrm>
            <a:off x="5834063" y="1934546"/>
            <a:ext cx="550068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「大きさ」を表す値</a:t>
            </a:r>
            <a:endParaRPr sz="3200" dirty="0"/>
          </a:p>
        </p:txBody>
      </p:sp>
      <p:sp>
        <p:nvSpPr>
          <p:cNvPr id="187" name="Google Shape;187;p20"/>
          <p:cNvSpPr txBox="1"/>
          <p:nvPr/>
        </p:nvSpPr>
        <p:spPr>
          <a:xfrm>
            <a:off x="6293259" y="2721022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『0 からどれだけ離れているか』を表す値です。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「大きさ」と表現されることもあります。</a:t>
            </a:r>
            <a:endParaRPr sz="1800"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絶対値</a:t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EE251A0-951D-2E39-54D0-F2E9D528C44A}"/>
              </a:ext>
            </a:extLst>
          </p:cNvPr>
          <p:cNvSpPr txBox="1"/>
          <p:nvPr/>
        </p:nvSpPr>
        <p:spPr>
          <a:xfrm>
            <a:off x="7455863" y="4003787"/>
            <a:ext cx="2667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/>
              <a:t>∣</a:t>
            </a:r>
            <a:r>
              <a:rPr lang="en-US" altLang="ja-JP" sz="2800" dirty="0"/>
              <a:t>6∣=6,  ∣−6∣=6</a:t>
            </a:r>
            <a:endParaRPr kumimoji="1" lang="ja-JP" altLang="en-US" sz="2800" dirty="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84C4E73-301A-F78A-8E07-D20076E83069}"/>
              </a:ext>
            </a:extLst>
          </p:cNvPr>
          <p:cNvCxnSpPr/>
          <p:nvPr/>
        </p:nvCxnSpPr>
        <p:spPr>
          <a:xfrm>
            <a:off x="2719549" y="5595457"/>
            <a:ext cx="63169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49FC57-5286-EFE7-F6E1-07DDAEEF2033}"/>
              </a:ext>
            </a:extLst>
          </p:cNvPr>
          <p:cNvSpPr txBox="1"/>
          <p:nvPr/>
        </p:nvSpPr>
        <p:spPr>
          <a:xfrm>
            <a:off x="5593952" y="559545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777A4F6-0349-311B-EF66-61743067E4DB}"/>
              </a:ext>
            </a:extLst>
          </p:cNvPr>
          <p:cNvSpPr txBox="1"/>
          <p:nvPr/>
        </p:nvSpPr>
        <p:spPr>
          <a:xfrm>
            <a:off x="8715375" y="5574490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3B8DC3-0464-9440-5293-1A4539AF0ECE}"/>
              </a:ext>
            </a:extLst>
          </p:cNvPr>
          <p:cNvSpPr txBox="1"/>
          <p:nvPr/>
        </p:nvSpPr>
        <p:spPr>
          <a:xfrm>
            <a:off x="2719549" y="5616425"/>
            <a:ext cx="343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-6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インク 8">
                <a:extLst>
                  <a:ext uri="{FF2B5EF4-FFF2-40B4-BE49-F238E27FC236}">
                    <a16:creationId xmlns:a16="http://schemas.microsoft.com/office/drawing/2014/main" id="{1BAA5D2B-ACE9-9572-DBB0-721EDAB3B956}"/>
                  </a:ext>
                </a:extLst>
              </p14:cNvPr>
              <p14:cNvContentPartPr/>
              <p14:nvPr/>
            </p14:nvContentPartPr>
            <p14:xfrm>
              <a:off x="3011631" y="5699903"/>
              <a:ext cx="2642040" cy="261000"/>
            </p14:xfrm>
          </p:contentPart>
        </mc:Choice>
        <mc:Fallback>
          <p:pic>
            <p:nvPicPr>
              <p:cNvPr id="9" name="インク 8">
                <a:extLst>
                  <a:ext uri="{FF2B5EF4-FFF2-40B4-BE49-F238E27FC236}">
                    <a16:creationId xmlns:a16="http://schemas.microsoft.com/office/drawing/2014/main" id="{1BAA5D2B-ACE9-9572-DBB0-721EDAB3B9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05511" y="5693783"/>
                <a:ext cx="265428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0" name="インク 9">
                <a:extLst>
                  <a:ext uri="{FF2B5EF4-FFF2-40B4-BE49-F238E27FC236}">
                    <a16:creationId xmlns:a16="http://schemas.microsoft.com/office/drawing/2014/main" id="{BF101EFE-4C30-D854-9413-2341EF019BB4}"/>
                  </a:ext>
                </a:extLst>
              </p14:cNvPr>
              <p14:cNvContentPartPr/>
              <p14:nvPr/>
            </p14:nvContentPartPr>
            <p14:xfrm>
              <a:off x="4122591" y="6103823"/>
              <a:ext cx="169560" cy="260640"/>
            </p14:xfrm>
          </p:contentPart>
        </mc:Choice>
        <mc:Fallback>
          <p:pic>
            <p:nvPicPr>
              <p:cNvPr id="10" name="インク 9">
                <a:extLst>
                  <a:ext uri="{FF2B5EF4-FFF2-40B4-BE49-F238E27FC236}">
                    <a16:creationId xmlns:a16="http://schemas.microsoft.com/office/drawing/2014/main" id="{BF101EFE-4C30-D854-9413-2341EF019BB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16471" y="6097703"/>
                <a:ext cx="181800" cy="27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3F94794-328E-FA47-FAAA-9E9A0CB92E9C}"/>
              </a:ext>
            </a:extLst>
          </p:cNvPr>
          <p:cNvGrpSpPr/>
          <p:nvPr/>
        </p:nvGrpSpPr>
        <p:grpSpPr>
          <a:xfrm>
            <a:off x="5850951" y="5639423"/>
            <a:ext cx="2888280" cy="737280"/>
            <a:chOff x="5850951" y="5639423"/>
            <a:chExt cx="2888280" cy="73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インク 10">
                  <a:extLst>
                    <a:ext uri="{FF2B5EF4-FFF2-40B4-BE49-F238E27FC236}">
                      <a16:creationId xmlns:a16="http://schemas.microsoft.com/office/drawing/2014/main" id="{C662C68F-8C86-9B9B-CCC4-50C72254F9BD}"/>
                    </a:ext>
                  </a:extLst>
                </p14:cNvPr>
                <p14:cNvContentPartPr/>
                <p14:nvPr/>
              </p14:nvContentPartPr>
              <p14:xfrm>
                <a:off x="5850951" y="5639423"/>
                <a:ext cx="2888280" cy="368280"/>
              </p14:xfrm>
            </p:contentPart>
          </mc:Choice>
          <mc:Fallback>
            <p:pic>
              <p:nvPicPr>
                <p:cNvPr id="11" name="インク 10">
                  <a:extLst>
                    <a:ext uri="{FF2B5EF4-FFF2-40B4-BE49-F238E27FC236}">
                      <a16:creationId xmlns:a16="http://schemas.microsoft.com/office/drawing/2014/main" id="{C662C68F-8C86-9B9B-CCC4-50C72254F9B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44831" y="5633303"/>
                  <a:ext cx="29005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インク 11">
                  <a:extLst>
                    <a:ext uri="{FF2B5EF4-FFF2-40B4-BE49-F238E27FC236}">
                      <a16:creationId xmlns:a16="http://schemas.microsoft.com/office/drawing/2014/main" id="{05F27AEB-0883-2494-81C7-4E79494E4AC0}"/>
                    </a:ext>
                  </a:extLst>
                </p14:cNvPr>
                <p14:cNvContentPartPr/>
                <p14:nvPr/>
              </p14:nvContentPartPr>
              <p14:xfrm>
                <a:off x="7231191" y="6148823"/>
                <a:ext cx="130320" cy="227880"/>
              </p14:xfrm>
            </p:contentPart>
          </mc:Choice>
          <mc:Fallback>
            <p:pic>
              <p:nvPicPr>
                <p:cNvPr id="12" name="インク 11">
                  <a:extLst>
                    <a:ext uri="{FF2B5EF4-FFF2-40B4-BE49-F238E27FC236}">
                      <a16:creationId xmlns:a16="http://schemas.microsoft.com/office/drawing/2014/main" id="{05F27AEB-0883-2494-81C7-4E79494E4AC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25071" y="6142703"/>
                  <a:ext cx="142560" cy="240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2D6F0E38-3E0D-21C0-61E9-219D1D975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E86AF93B-AD38-57EA-7AAB-A98ABBE2C1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78E33A07-10C6-1647-2814-D5CA65A4ED01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・</a:t>
            </a:r>
            <a:r>
              <a:rPr lang="ja-JP" alt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平方根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080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7940"/>
            <a:ext cx="5238750" cy="621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2712" y="2825575"/>
            <a:ext cx="5238750" cy="635347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1"/>
          <p:cNvSpPr txBox="1"/>
          <p:nvPr/>
        </p:nvSpPr>
        <p:spPr>
          <a:xfrm>
            <a:off x="571500" y="1819275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571500" y="2305050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同じ数をいくつかかけ合わせたものです。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6422821" y="1819274"/>
            <a:ext cx="5500687" cy="21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平方根(</a:t>
            </a:r>
            <a:r>
              <a:rPr lang="ja-JP" altLang="en-US" sz="1404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ルート</a:t>
            </a:r>
            <a:r>
              <a:rPr lang="en-US" sz="1404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dirty="0"/>
          </a:p>
        </p:txBody>
      </p:sp>
      <p:sp>
        <p:nvSpPr>
          <p:cNvPr id="202" name="Google Shape;202;p21"/>
          <p:cNvSpPr txBox="1"/>
          <p:nvPr/>
        </p:nvSpPr>
        <p:spPr>
          <a:xfrm>
            <a:off x="6884215" y="2305050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2乗すると、ある数Xになる数字です。</a:t>
            </a:r>
            <a:endParaRPr dirty="0"/>
          </a:p>
        </p:txBody>
      </p:sp>
      <p:pic>
        <p:nvPicPr>
          <p:cNvPr id="204" name="Google Shape;20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523" y="2966152"/>
            <a:ext cx="4857750" cy="240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2712" y="2952608"/>
            <a:ext cx="4857750" cy="25434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1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累乗と平方根</a:t>
            </a:r>
            <a:endParaRPr/>
          </a:p>
        </p:txBody>
      </p:sp>
      <p:sp>
        <p:nvSpPr>
          <p:cNvPr id="207" name="Google Shape;207;p21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583B44E-7885-01E8-B57A-6256AC907A1B}"/>
                  </a:ext>
                </a:extLst>
              </p:cNvPr>
              <p:cNvSpPr txBox="1"/>
              <p:nvPr/>
            </p:nvSpPr>
            <p:spPr>
              <a:xfrm>
                <a:off x="762000" y="3797505"/>
                <a:ext cx="279912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320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320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1" lang="en-US" altLang="ja-JP" sz="320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kumimoji="1" lang="en-US" altLang="ja-JP" sz="3200" dirty="0">
                    <a:latin typeface="Inter" panose="020B0600070205080204" charset="0"/>
                  </a:rPr>
                  <a:t> = 2 * 2 * 2</a:t>
                </a:r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583B44E-7885-01E8-B57A-6256AC907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797505"/>
                <a:ext cx="2799127" cy="584775"/>
              </a:xfrm>
              <a:prstGeom prst="rect">
                <a:avLst/>
              </a:prstGeom>
              <a:blipFill>
                <a:blip r:embed="rId7"/>
                <a:stretch>
                  <a:fillRect t="-13542" r="-1961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B227D5E-2C6C-CC8C-98FF-AEB8ADAB1543}"/>
                  </a:ext>
                </a:extLst>
              </p:cNvPr>
              <p:cNvSpPr txBox="1"/>
              <p:nvPr/>
            </p:nvSpPr>
            <p:spPr>
              <a:xfrm>
                <a:off x="762000" y="4662969"/>
                <a:ext cx="170436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3200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kumimoji="1" lang="en-US" altLang="ja-JP" sz="3200" dirty="0">
                    <a:latin typeface="Inter" panose="020B0600070205080204" charset="0"/>
                  </a:rPr>
                  <a:t> = 1</a:t>
                </a:r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B227D5E-2C6C-CC8C-98FF-AEB8ADAB1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662969"/>
                <a:ext cx="1704363" cy="584775"/>
              </a:xfrm>
              <a:prstGeom prst="rect">
                <a:avLst/>
              </a:prstGeom>
              <a:blipFill>
                <a:blip r:embed="rId8"/>
                <a:stretch>
                  <a:fillRect t="-13542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9BCABE-6519-7535-4C7A-55E6ED09C822}"/>
              </a:ext>
            </a:extLst>
          </p:cNvPr>
          <p:cNvSpPr txBox="1"/>
          <p:nvPr/>
        </p:nvSpPr>
        <p:spPr>
          <a:xfrm>
            <a:off x="3972187" y="3936003"/>
            <a:ext cx="1510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</a:t>
            </a:r>
            <a:r>
              <a:rPr kumimoji="1" lang="en-US" altLang="ja-JP" dirty="0"/>
              <a:t>2</a:t>
            </a:r>
            <a:r>
              <a:rPr kumimoji="1" lang="ja-JP" altLang="en-US" dirty="0"/>
              <a:t>の</a:t>
            </a:r>
            <a:r>
              <a:rPr kumimoji="1" lang="en-US" altLang="ja-JP" dirty="0"/>
              <a:t>3</a:t>
            </a:r>
            <a:r>
              <a:rPr kumimoji="1" lang="ja-JP" altLang="en-US" dirty="0"/>
              <a:t>乗と読む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676176-0DEB-9B3B-D45F-2C1A54CB099F}"/>
              </a:ext>
            </a:extLst>
          </p:cNvPr>
          <p:cNvSpPr txBox="1"/>
          <p:nvPr/>
        </p:nvSpPr>
        <p:spPr>
          <a:xfrm>
            <a:off x="4061955" y="4801467"/>
            <a:ext cx="1330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</a:t>
            </a:r>
            <a:r>
              <a:rPr kumimoji="1" lang="en-US" altLang="ja-JP" dirty="0"/>
              <a:t>0</a:t>
            </a:r>
            <a:r>
              <a:rPr kumimoji="1" lang="ja-JP" altLang="en-US" dirty="0"/>
              <a:t>乗は必ず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981000A3-A5D7-2971-EDF1-9CCBDA6E0FB0}"/>
                  </a:ext>
                </a:extLst>
              </p:cNvPr>
              <p:cNvSpPr txBox="1"/>
              <p:nvPr/>
            </p:nvSpPr>
            <p:spPr>
              <a:xfrm>
                <a:off x="6946738" y="3681205"/>
                <a:ext cx="2799127" cy="654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dirty="0"/>
                  <a:t>3 =</a:t>
                </a:r>
                <a14:m>
                  <m:oMath xmlns:m="http://schemas.openxmlformats.org/officeDocument/2006/math">
                    <m:r>
                      <a:rPr kumimoji="1" lang="en-US" altLang="ja-JP" sz="3200" b="0" i="0" dirty="0" smtClean="0">
                        <a:latin typeface="Cambria Math" panose="02040503050406030204" pitchFamily="18" charset="0"/>
                      </a:rPr>
                      <m:t> </m:t>
                    </m:r>
                    <m:rad>
                      <m:radPr>
                        <m:degHide m:val="on"/>
                        <m:ctrlPr>
                          <a:rPr kumimoji="1" lang="en-US" altLang="ja-JP" sz="3200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 kumimoji="1" lang="en-US" altLang="ja-JP" sz="3200" b="0" i="1" dirty="0" smtClean="0">
                        <a:latin typeface="Cambria Math" panose="02040503050406030204" pitchFamily="18" charset="0"/>
                      </a:rPr>
                      <m:t> ∗</m:t>
                    </m:r>
                    <m:rad>
                      <m:radPr>
                        <m:degHide m:val="on"/>
                        <m:ctrlPr>
                          <a:rPr kumimoji="1" lang="en-US" altLang="ja-JP" sz="3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981000A3-A5D7-2971-EDF1-9CCBDA6E0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38" y="3681205"/>
                <a:ext cx="2799127" cy="654025"/>
              </a:xfrm>
              <a:prstGeom prst="rect">
                <a:avLst/>
              </a:prstGeom>
              <a:blipFill>
                <a:blip r:embed="rId9"/>
                <a:stretch>
                  <a:fillRect l="-5664" t="-5607" b="-2616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38E8437-A7A4-863D-C688-15C768C898E4}"/>
              </a:ext>
            </a:extLst>
          </p:cNvPr>
          <p:cNvSpPr txBox="1"/>
          <p:nvPr/>
        </p:nvSpPr>
        <p:spPr>
          <a:xfrm>
            <a:off x="9346349" y="3894028"/>
            <a:ext cx="2666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全ての数は√の掛け算になる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1158CF7-2945-45CE-CF7E-07D92551FFD7}"/>
                  </a:ext>
                </a:extLst>
              </p:cNvPr>
              <p:cNvSpPr txBox="1"/>
              <p:nvPr/>
            </p:nvSpPr>
            <p:spPr>
              <a:xfrm>
                <a:off x="6096000" y="4565569"/>
                <a:ext cx="5087269" cy="779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ja-JP" sz="3200" b="0" i="0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1" lang="en-US" altLang="ja-JP" sz="32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sz="32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e>
                          </m:d>
                        </m:e>
                        <m:sup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1" lang="en-US" altLang="ja-JP" sz="3200" b="0" i="0" dirty="0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kumimoji="1" lang="en-US" altLang="ja-JP" sz="3200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kumimoji="1" lang="en-US" altLang="ja-JP" sz="3200" b="0" i="1" dirty="0" smtClean="0">
                          <a:latin typeface="Cambria Math" panose="02040503050406030204" pitchFamily="18" charset="0"/>
                        </a:rPr>
                        <m:t> ∗</m:t>
                      </m:r>
                      <m:rad>
                        <m:radPr>
                          <m:degHide m:val="on"/>
                          <m:ctrlPr>
                            <a:rPr kumimoji="1" lang="en-US" altLang="ja-JP" sz="3200" i="1" dirty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kumimoji="1" lang="en-US" altLang="ja-JP" sz="32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1158CF7-2945-45CE-CF7E-07D92551F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65569"/>
                <a:ext cx="5087269" cy="77957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072287-881D-87CA-B140-C565C0E43FC7}"/>
              </a:ext>
            </a:extLst>
          </p:cNvPr>
          <p:cNvSpPr txBox="1"/>
          <p:nvPr/>
        </p:nvSpPr>
        <p:spPr>
          <a:xfrm>
            <a:off x="9346349" y="5386067"/>
            <a:ext cx="28456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√を２乗すると中身の数になる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2"/>
          <p:cNvSpPr txBox="1"/>
          <p:nvPr/>
        </p:nvSpPr>
        <p:spPr>
          <a:xfrm>
            <a:off x="571500" y="2689473"/>
            <a:ext cx="1104900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累乗と平方根を拡張した概念です。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1047750" y="3420963"/>
            <a:ext cx="10572750" cy="373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累乗根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n乗してaになる数の総称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15" name="Google Shape;215;p22"/>
          <p:cNvSpPr txBox="1"/>
          <p:nvPr/>
        </p:nvSpPr>
        <p:spPr>
          <a:xfrm>
            <a:off x="1047750" y="4032349"/>
            <a:ext cx="10572750" cy="401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分数表記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: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累乗根は分数乗としても表記可能です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16" name="Google Shape;216;p22"/>
          <p:cNvSpPr txBox="1"/>
          <p:nvPr/>
        </p:nvSpPr>
        <p:spPr>
          <a:xfrm>
            <a:off x="1047750" y="4672458"/>
            <a:ext cx="10572750" cy="38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負の累乗 : 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逆数（分数）を表します。</a:t>
            </a:r>
            <a:endParaRPr/>
          </a:p>
        </p:txBody>
      </p:sp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19650" y="3420963"/>
            <a:ext cx="1245542" cy="313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00800" y="4032349"/>
            <a:ext cx="1244351" cy="342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10150" y="4672458"/>
            <a:ext cx="1244649" cy="381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463825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075211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715321"/>
            <a:ext cx="23812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累乗と累乗根の定義</a:t>
            </a:r>
            <a:endParaRPr/>
          </a:p>
        </p:txBody>
      </p:sp>
      <p:sp>
        <p:nvSpPr>
          <p:cNvPr id="224" name="Google Shape;224;p22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0377EC6-4725-A956-CAA4-3703BCD3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1E005DDF-E333-5BD4-2DD7-FCAAB049F5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644E7E44-A939-838A-8EA1-A276E907B8A5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累乗・累乗根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7220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DDA00EDC-E4F5-1237-98E3-4F040633D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9D207612-C60C-C227-64E6-2F94FF8DCE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F5A59EB-985C-3B33-7C04-3C2E526771FC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方程式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72966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0E3DB2E-FCC8-4E01-8332-18825EC2F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A80A38DB-8B02-C4DD-F190-34827FE24F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BD09DFC6-13F3-523F-3EF7-9AF7A4C73FA8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式の展開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9504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5219DA7C-4D32-7F8C-B832-2C3DFFAEB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3EC4A4D0-5B5C-389A-109A-33BF2842458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66B3B93-2676-260F-4F75-F644D25E70CD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因数分解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0186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D0A2198-7CA9-B4FC-1FBB-F1F334B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53D522F5-7AE6-99FB-D9CB-0B51BA0BAA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5BFB5DF-B672-63EB-F2FC-3C596D43F834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文字と式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757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390</Words>
  <Application>Microsoft Office PowerPoint</Application>
  <PresentationFormat>ワイド画面</PresentationFormat>
  <Paragraphs>86</Paragraphs>
  <Slides>17</Slides>
  <Notes>17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4" baseType="lpstr">
      <vt:lpstr>Poppins</vt:lpstr>
      <vt:lpstr>Calibri</vt:lpstr>
      <vt:lpstr>Inter</vt:lpstr>
      <vt:lpstr>Arial</vt:lpstr>
      <vt:lpstr>Inter SemiBold</vt:lpstr>
      <vt:lpstr>Cambria Math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内藤 真広</cp:lastModifiedBy>
  <cp:revision>77</cp:revision>
  <dcterms:modified xsi:type="dcterms:W3CDTF">2026-04-21T16:08:56Z</dcterms:modified>
</cp:coreProperties>
</file>