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6"/>
  </p:notesMasterIdLst>
  <p:sldIdLst>
    <p:sldId id="256" r:id="rId2"/>
    <p:sldId id="257" r:id="rId3"/>
    <p:sldId id="258" r:id="rId4"/>
    <p:sldId id="259" r:id="rId5"/>
    <p:sldId id="260" r:id="rId6"/>
    <p:sldId id="269" r:id="rId7"/>
    <p:sldId id="276" r:id="rId8"/>
    <p:sldId id="277" r:id="rId9"/>
    <p:sldId id="279" r:id="rId10"/>
    <p:sldId id="278" r:id="rId11"/>
    <p:sldId id="261" r:id="rId12"/>
    <p:sldId id="262" r:id="rId13"/>
    <p:sldId id="263" r:id="rId14"/>
    <p:sldId id="280" r:id="rId15"/>
    <p:sldId id="270" r:id="rId16"/>
    <p:sldId id="264" r:id="rId17"/>
    <p:sldId id="282" r:id="rId18"/>
    <p:sldId id="275" r:id="rId19"/>
    <p:sldId id="265" r:id="rId20"/>
    <p:sldId id="281" r:id="rId21"/>
    <p:sldId id="271" r:id="rId22"/>
    <p:sldId id="272" r:id="rId23"/>
    <p:sldId id="273" r:id="rId24"/>
    <p:sldId id="274" r:id="rId25"/>
  </p:sldIdLst>
  <p:sldSz cx="12192000" cy="6858000"/>
  <p:notesSz cx="6858000" cy="9144000"/>
  <p:embeddedFontLst>
    <p:embeddedFont>
      <p:font typeface="Cambria Math" panose="02040503050406030204" pitchFamily="18" charset="0"/>
      <p:regular r:id="rId27"/>
    </p:embeddedFont>
    <p:embeddedFont>
      <p:font typeface="Inter" panose="020B0600070205080204" charset="0"/>
      <p:regular r:id="rId28"/>
      <p:bold r:id="rId29"/>
      <p:italic r:id="rId30"/>
      <p:boldItalic r:id="rId31"/>
    </p:embeddedFont>
    <p:embeddedFont>
      <p:font typeface="Inter SemiBold" panose="020B0600070205080204" charset="0"/>
      <p:regular r:id="rId32"/>
      <p:bold r:id="rId33"/>
      <p:italic r:id="rId34"/>
      <p:boldItalic r:id="rId35"/>
    </p:embeddedFont>
    <p:embeddedFont>
      <p:font typeface="Poppins" panose="00000500000000000000" pitchFamily="2" charset="0"/>
      <p:regular r:id="rId36"/>
      <p:bold r:id="rId37"/>
      <p:italic r:id="rId38"/>
      <p:boldItalic r:id="rId3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3A5AE5C-746B-482D-8075-EA727F144BAB}">
  <a:tblStyle styleId="{93A5AE5C-746B-482D-8075-EA727F144BAB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9" Type="http://schemas.openxmlformats.org/officeDocument/2006/relationships/font" Target="fonts/font13.fntdata"/><Relationship Id="rId21" Type="http://schemas.openxmlformats.org/officeDocument/2006/relationships/slide" Target="slides/slide20.xml"/><Relationship Id="rId34" Type="http://schemas.openxmlformats.org/officeDocument/2006/relationships/font" Target="fonts/font8.fntdata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3.fntdata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6.fntdata"/><Relationship Id="rId37" Type="http://schemas.openxmlformats.org/officeDocument/2006/relationships/font" Target="fonts/font11.fntdata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2.fntdata"/><Relationship Id="rId36" Type="http://schemas.openxmlformats.org/officeDocument/2006/relationships/font" Target="fonts/font10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1.fntdata"/><Relationship Id="rId30" Type="http://schemas.openxmlformats.org/officeDocument/2006/relationships/font" Target="fonts/font4.fntdata"/><Relationship Id="rId35" Type="http://schemas.openxmlformats.org/officeDocument/2006/relationships/font" Target="fonts/font9.fntdata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7.fntdata"/><Relationship Id="rId38" Type="http://schemas.openxmlformats.org/officeDocument/2006/relationships/font" Target="fonts/font12.fntdata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6:57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0 327 24575,'4'1'0,"0"1"0,-1-1 0,1 1 0,-1 0 0,1 0 0,-1 0 0,0 0 0,0 1 0,6 4 0,0 1 0,23 15 0,1-2 0,1-1 0,0-1 0,2-2 0,63 21 0,-37-20 0,1-3 0,109 12 0,-135-23 0,439 31 0,-143-7 0,-111-5 0,-61-3 0,-94-10 0,79 2 0,-89-11 0,276 7 0,132 1 0,-69-3 0,-17 0 0,147-1 0,-340-5 0,111-19 0,-130 4 0,-53 8 0,164-31 0,36-12 0,-297 48 0,165-11 0,-2 0 0,-104 4 0,-2 1 0,0-3 0,124-35 0,-35 7 0,-49 14 0,-60 15 0,-41 8 0,0 0 0,-1-1 0,1 0 0,-1-1 0,1-1 0,15-7 0,35-19 0,-47 24 0,0 0 0,-1-1 0,0-1 0,22-16 0,34-19 0,-19 10 0,-37 25 0,0 0 0,25-22 0,48-41 0,-65 52 0,-16 14 0,-1 0 0,0 0 0,0 0 0,8-11 0,11-16-1365,-21 26-5461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7:00.1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211 33 24575,'0'-3'0,"0"1"0,0-1 0,0 0 0,0 1 0,0-1 0,-1 1 0,0-1 0,1 0 0,-2-2 0,2 5 0,0 0 0,-1 0 0,1-1 0,0 1 0,0 0 0,0 0 0,-1-1 0,1 1 0,0 0 0,-1 0 0,1 0 0,0-1 0,0 1 0,-1 0 0,1 0 0,0 0 0,-1 0 0,1 0 0,0 0 0,-1 0 0,1 0 0,0 0 0,-1 0 0,1 0 0,0 0 0,-1 0 0,1 0 0,-15 9 0,-1 6 0,-24 29 0,7-7 0,23-26 0,1 1 0,0 1 0,1-1 0,0 1 0,1 1 0,0 0 0,1-1 0,1 2 0,0-1 0,1 1 0,1-1 0,-2 18 0,-1 23 0,4 110 0,3-107 0,-1-52 0,1-1 0,-1 1 0,1-1 0,1 1 0,-1-1 0,1 1 0,0-1 0,0 0 0,1 0 0,-1 0 0,1 0 0,0 0 0,0-1 0,1 1 0,0-1 0,-1 0 0,1 0 0,1 0 0,-1-1 0,1 1 0,8 4 0,-3-2 0,-1-1 0,1-1 0,1 0 0,-1 0 0,1 0 0,-1-2 0,1 1 0,0-1 0,0-1 0,13 0 0,16 0 0,-15 0 0,0-1 0,44-6 0,-62 4 0,-1 0 0,1-1 0,-1 0 0,0 0 0,1-1 0,-2 0 0,1 0 0,0 0 0,-1-1 0,0 0 0,0 0 0,0 0 0,-1 0 0,1-1 0,-1 0 0,-1 0 0,1 0 0,-1 0 0,3-8 0,-4 9 0,0 0 0,-1 0 0,1 0 0,-1 0 0,0 0 0,-1 0 0,1 0 0,-1 0 0,0 0 0,0 0 0,-1 0 0,0-6 0,0 8 0,0-1 0,0 1 0,-1 0 0,1 0 0,-1-1 0,0 1 0,0 0 0,0 0 0,0 1 0,0-1 0,-1 0 0,1 1 0,-1-1 0,0 1 0,1 0 0,-1 0 0,0 0 0,-6-2 0,3 1 0,1 1 0,-1 1 0,0-1 0,0 1 0,1 0 0,-1 0 0,-11 1 0,-44 3 0,48-1 0,8-2 0,0 1 0,0 1 0,0-1 0,0 1 0,0 0 0,1 0 0,-1 0 0,1 0 0,-1 1 0,-4 3 0,-21 12 0,13-11 0,7-3 0,0 0 0,0 1 0,1 1 0,-1-1 0,-13 12 0,16-11-1365,1-2-5461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7:05.4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1 204 24575,'2'1'0,"-1"0"0,1 0 0,-1 0 0,1 0 0,-1 1 0,0-1 0,0 0 0,1 1 0,-1-1 0,0 1 0,1 2 0,2 2 0,42 50 0,64 64 0,-83-95 0,1-1 0,1-1 0,1-1 0,46 24 0,27 5 0,115 38 0,115 22 0,-166-57 0,-71-26 0,0-4 0,113 13 0,201 4 0,-158-19 0,138-1 0,1-22 0,-147 0 0,713 1 0,-904-3 0,102-17 0,102-32 0,87 2 0,-229 34 0,71-7 0,-124 16 0,81-19 0,-37 5 0,443-65 0,-287 28 0,70-38 0,-41 30 0,-130 34 0,-79 13 0,115-43 0,-152 47 0,-25 9 0,34-16 0,13-6 0,-47 20 0,-1 0 0,30-17 0,-31 13 0,-2 0 0,1-1 0,23-26 0,-23 23 0,-12 12 0,0-1 0,0 0 0,0 0 0,-1-1 0,6-8 0,65-119-1365,-72 126-5461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4-21T15:57:08.08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163 1 24575,'-2'5'0,"-1"0"0,0 0 0,0-1 0,0 1 0,-7 6 0,2-1 0,-7 11 0,1 0 0,1 1 0,1 1 0,1 0 0,-10 31 0,9-17 0,2 0 0,-11 71 0,20-99 0,0 0 0,1 0 0,0 0 0,1 0 0,0-1 0,0 1 0,0 0 0,1-1 0,1 1 0,3 9 0,0-6 0,0 0 0,1 0 0,1-1 0,0 1 0,18 18 0,-23-26 0,1 0 0,0 0 0,1 0 0,-1-1 0,0 1 0,1-1 0,0 0 0,0-1 0,0 1 0,0-1 0,0 0 0,0 0 0,1-1 0,-1 1 0,1-1 0,-1 0 0,1-1 0,-1 1 0,1-1 0,0-1 0,6 0 0,7 1 0,-11 0 0,-1 0 0,1 0 0,0-1 0,11-3 0,-16 3 0,0 0 0,0 0 0,-1 0 0,1-1 0,-1 1 0,1-1 0,-1 0 0,1 1 0,-1-1 0,0 0 0,0-1 0,0 1 0,0 0 0,0-1 0,2-2 0,5-9 0,-1 0 0,0 0 0,-1-1 0,-1 0 0,0 0 0,-1 0 0,-1-1 0,3-18 0,-7 32 0,0 1 0,0-1 0,0 1 0,0 0 0,0-1 0,-1 1 0,1-1 0,0 1 0,-1-1 0,1 1 0,-1 0 0,0-1 0,1 1 0,-1 0 0,0 0 0,0 0 0,0-1 0,0 1 0,0 0 0,0 0 0,0 0 0,0 1 0,-1-1 0,1 0 0,0 0 0,0 0 0,-1 1 0,1-1 0,0 1 0,-1-1 0,1 1 0,-1 0 0,1-1 0,-1 1 0,1 0 0,-2 0 0,-9-1 0,0 0 0,0 1 0,-18 1 0,14 1 0,-21-2-96,-27 2 312,58-2-364,1 1-1,0 0 1,0 1-1,0 0 1,0-1-1,0 1 1,0 1-1,0-1 0,-7 6 1,5-3-6678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7041EF0F-04AC-A5D6-BA9C-612DC334E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EB0BFF37-1CA4-B3CF-F47A-2733BB94C71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16827DC2-05DD-D82D-4D67-91084176BA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7496220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1250793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3CB0286-2FA9-ACBD-5469-2650C9E45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38F4E410-AD0B-09EB-DF11-F8DDD7F28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405CC17D-5942-80FB-448A-EE4077216A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6024797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8269749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CB1956D2-0AFF-26A0-7B55-38BFE8504A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90477BEB-7D5B-FA12-0338-00B9CF5663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F3BC80B3-F8CD-9485-0E68-632867AEBE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611243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2C132F2D-0E42-FAE8-0947-E7EC6517F3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523AB4E6-57AF-3ACF-74E8-8375883881E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E75F83F9-FD22-2534-A20D-0677ED035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35615163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D362FEEA-4B51-3E8A-85F2-7A194F9640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ED71EDB5-849A-A875-775B-8162CB7D40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364660C3-B7C0-EEBD-A615-927077997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25848447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93F8D4DE-DF85-D7D7-1C82-947D3E5F8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07B9C05F-D18B-81AD-5215-25EAE99F880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CC7DA02A-C7B0-1F7E-5E77-C1C57EE0B3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206020008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>
          <a:extLst>
            <a:ext uri="{FF2B5EF4-FFF2-40B4-BE49-F238E27FC236}">
              <a16:creationId xmlns:a16="http://schemas.microsoft.com/office/drawing/2014/main" id="{FCFF7CF9-529D-4E0E-8E7E-A32AB52B7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>
            <a:extLst>
              <a:ext uri="{FF2B5EF4-FFF2-40B4-BE49-F238E27FC236}">
                <a16:creationId xmlns:a16="http://schemas.microsoft.com/office/drawing/2014/main" id="{1777AEEA-C3B8-8F04-B37E-59F9199B40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>
            <a:extLst>
              <a:ext uri="{FF2B5EF4-FFF2-40B4-BE49-F238E27FC236}">
                <a16:creationId xmlns:a16="http://schemas.microsoft.com/office/drawing/2014/main" id="{61C41160-69CF-656D-983F-4C9DC63665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279536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33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customXml" Target="../ink/ink3.xml"/><Relationship Id="rId3" Type="http://schemas.openxmlformats.org/officeDocument/2006/relationships/image" Target="../media/image41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2.xml"/><Relationship Id="rId11" Type="http://schemas.openxmlformats.org/officeDocument/2006/relationships/image" Target="../media/image200.png"/><Relationship Id="rId5" Type="http://schemas.openxmlformats.org/officeDocument/2006/relationships/image" Target="../media/image170.png"/><Relationship Id="rId10" Type="http://schemas.openxmlformats.org/officeDocument/2006/relationships/customXml" Target="../ink/ink4.xml"/><Relationship Id="rId4" Type="http://schemas.openxmlformats.org/officeDocument/2006/relationships/customXml" Target="../ink/ink1.xml"/><Relationship Id="rId9" Type="http://schemas.openxmlformats.org/officeDocument/2006/relationships/image" Target="../media/image19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0.png"/><Relationship Id="rId3" Type="http://schemas.openxmlformats.org/officeDocument/2006/relationships/image" Target="../media/image43.png"/><Relationship Id="rId7" Type="http://schemas.openxmlformats.org/officeDocument/2006/relationships/image" Target="../media/image25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10" Type="http://schemas.openxmlformats.org/officeDocument/2006/relationships/image" Target="../media/image280.png"/><Relationship Id="rId4" Type="http://schemas.openxmlformats.org/officeDocument/2006/relationships/image" Target="../media/image44.png"/><Relationship Id="rId9" Type="http://schemas.openxmlformats.org/officeDocument/2006/relationships/image" Target="../media/image270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.png"/><Relationship Id="rId3" Type="http://schemas.openxmlformats.org/officeDocument/2006/relationships/image" Target="../media/image47.png"/><Relationship Id="rId7" Type="http://schemas.openxmlformats.org/officeDocument/2006/relationships/image" Target="../media/image51.png"/><Relationship Id="rId12" Type="http://schemas.openxmlformats.org/officeDocument/2006/relationships/image" Target="../media/image5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0.png"/><Relationship Id="rId11" Type="http://schemas.openxmlformats.org/officeDocument/2006/relationships/image" Target="../media/image55.png"/><Relationship Id="rId5" Type="http://schemas.openxmlformats.org/officeDocument/2006/relationships/image" Target="../media/image49.png"/><Relationship Id="rId10" Type="http://schemas.openxmlformats.org/officeDocument/2006/relationships/image" Target="../media/image54.png"/><Relationship Id="rId4" Type="http://schemas.openxmlformats.org/officeDocument/2006/relationships/image" Target="../media/image48.png"/><Relationship Id="rId9" Type="http://schemas.openxmlformats.org/officeDocument/2006/relationships/image" Target="../media/image5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/>
        </p:nvSpPr>
        <p:spPr>
          <a:xfrm>
            <a:off x="3897541" y="2438400"/>
            <a:ext cx="4396915" cy="12311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8000" dirty="0"/>
              <a:t>数学基礎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2528648" y="4112473"/>
            <a:ext cx="7134700" cy="452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数学の基礎中の基礎である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「</a:t>
            </a:r>
            <a:r>
              <a:rPr lang="ja-JP" altLang="en-US" sz="2100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計算</a:t>
            </a:r>
            <a:r>
              <a:rPr 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」</a:t>
            </a:r>
            <a:r>
              <a:rPr lang="ja-JP" altLang="en-US" sz="2100" b="0" i="0" u="none" strike="noStrike" cap="none" dirty="0">
                <a:solidFill>
                  <a:srgbClr val="64748B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の基礎を解説します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047750" y="1819275"/>
            <a:ext cx="4286250" cy="428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57275" y="1828800"/>
            <a:ext cx="4267200" cy="42672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6381750" y="2505543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基本中の基本</a:t>
            </a:r>
            <a:endParaRPr lang="ja-JP" altLang="en-US" sz="2800"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6381750" y="3041201"/>
            <a:ext cx="5238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この講義では、英語で言えば「基礎単語」に相当する計算のルールを解説します。</a:t>
            </a:r>
            <a:endParaRPr lang="ja-JP" altLang="en-US" sz="1800"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6381750" y="3962400"/>
            <a:ext cx="5238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>
              <a:lnSpc>
                <a:spcPct val="140000"/>
              </a:lnSpc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ゲーム制作はもちろん、どのような専門分野においても、まず最初に必要不可欠となる知識です。</a:t>
            </a:r>
            <a:endParaRPr lang="ja-JP" altLang="en-US" sz="1800" dirty="0"/>
          </a:p>
        </p:txBody>
      </p:sp>
      <p:sp>
        <p:nvSpPr>
          <p:cNvPr id="98" name="Google Shape;98;p14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概要</a:t>
            </a:r>
            <a:endParaRPr/>
          </a:p>
        </p:txBody>
      </p:sp>
      <p:sp>
        <p:nvSpPr>
          <p:cNvPr id="99" name="Google Shape;99;p14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5"/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五則演算</a:t>
            </a: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3" name="Google Shape;113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340941"/>
            <a:ext cx="3316231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173458" y="1340941"/>
            <a:ext cx="3492400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81279" y="1340942"/>
            <a:ext cx="3411457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107940" y="3136157"/>
            <a:ext cx="2433850" cy="50445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564356" y="3130324"/>
            <a:ext cx="2711385" cy="4925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715722" y="3106009"/>
            <a:ext cx="2399331" cy="4973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3881" y="1564650"/>
            <a:ext cx="359106" cy="410407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6"/>
          <p:cNvSpPr txBox="1"/>
          <p:nvPr/>
        </p:nvSpPr>
        <p:spPr>
          <a:xfrm>
            <a:off x="1031126" y="2112579"/>
            <a:ext cx="2555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</a:t>
            </a:r>
            <a:r>
              <a:rPr lang="en-US" altLang="ja-JP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(Add)</a:t>
            </a:r>
            <a:endParaRPr lang="en-US" altLang="ja-JP" sz="2400"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1114845" y="2650307"/>
            <a:ext cx="2699978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足し算。「</a:t>
            </a:r>
            <a:r>
              <a:rPr lang="en-US" altLang="ja-JP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+</a:t>
            </a: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」で表します。</a:t>
            </a:r>
            <a:endParaRPr lang="ja-JP" altLang="en-US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22" name="Google Shape;122;p1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695967" y="1545748"/>
            <a:ext cx="400033" cy="400696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4498402" y="2094521"/>
            <a:ext cx="284695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減算 (Sub)</a:t>
            </a:r>
            <a:endParaRPr sz="2400" dirty="0"/>
          </a:p>
        </p:txBody>
      </p:sp>
      <p:sp>
        <p:nvSpPr>
          <p:cNvPr id="124" name="Google Shape;124;p16"/>
          <p:cNvSpPr txBox="1"/>
          <p:nvPr/>
        </p:nvSpPr>
        <p:spPr>
          <a:xfrm>
            <a:off x="4681970" y="2596446"/>
            <a:ext cx="2711389" cy="355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引き算。「-」で表します。</a:t>
            </a:r>
            <a:endParaRPr dirty="0"/>
          </a:p>
        </p:txBody>
      </p:sp>
      <p:pic>
        <p:nvPicPr>
          <p:cNvPr id="125" name="Google Shape;125;p1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63669" y="1570471"/>
            <a:ext cx="303439" cy="404586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>
            <a:off x="8627358" y="2101030"/>
            <a:ext cx="251929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乗算 (Mul)</a:t>
            </a:r>
            <a:endParaRPr sz="2400" dirty="0"/>
          </a:p>
        </p:txBody>
      </p:sp>
      <p:sp>
        <p:nvSpPr>
          <p:cNvPr id="127" name="Google Shape;127;p16"/>
          <p:cNvSpPr txBox="1"/>
          <p:nvPr/>
        </p:nvSpPr>
        <p:spPr>
          <a:xfrm>
            <a:off x="8627358" y="2650307"/>
            <a:ext cx="2750004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掛け算。「*」で表します。</a:t>
            </a:r>
            <a:endParaRPr lang="ja-JP" altLang="en-US" dirty="0"/>
          </a:p>
        </p:txBody>
      </p:sp>
      <p:pic>
        <p:nvPicPr>
          <p:cNvPr id="128" name="Google Shape;128;p16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262975" y="3334062"/>
            <a:ext cx="2091844" cy="162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9" name="Google Shape;129;p16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730779" y="3297280"/>
            <a:ext cx="2330408" cy="1586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6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884300" y="3284423"/>
            <a:ext cx="2062173" cy="160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6"/>
          <p:cNvSpPr txBox="1"/>
          <p:nvPr/>
        </p:nvSpPr>
        <p:spPr>
          <a:xfrm>
            <a:off x="790575" y="453802"/>
            <a:ext cx="11401425" cy="769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加算・減算・乗算・除算・剰余</a:t>
            </a:r>
            <a:endParaRPr lang="ja-JP" altLang="en-US" sz="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ja-JP" altLang="en-US" dirty="0"/>
          </a:p>
        </p:txBody>
      </p:sp>
      <p:sp>
        <p:nvSpPr>
          <p:cNvPr id="132" name="Google Shape;132;p16"/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0F1297C8-AFD6-A98A-A28F-1FD5DE2E89F7}"/>
              </a:ext>
            </a:extLst>
          </p:cNvPr>
          <p:cNvSpPr txBox="1"/>
          <p:nvPr/>
        </p:nvSpPr>
        <p:spPr>
          <a:xfrm>
            <a:off x="5079369" y="1120273"/>
            <a:ext cx="6097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8" name="Google Shape;113;p16" descr="image.png">
            <a:extLst>
              <a:ext uri="{FF2B5EF4-FFF2-40B4-BE49-F238E27FC236}">
                <a16:creationId xmlns:a16="http://schemas.microsoft.com/office/drawing/2014/main" id="{48CE5F6B-8A48-321D-8DBA-4991DDF37B59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2442987" y="4061433"/>
            <a:ext cx="3316231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Google Shape;116;p16" descr="image.png">
            <a:extLst>
              <a:ext uri="{FF2B5EF4-FFF2-40B4-BE49-F238E27FC236}">
                <a16:creationId xmlns:a16="http://schemas.microsoft.com/office/drawing/2014/main" id="{DC9FE6FF-14C6-3A61-8D60-3FB229B5B4C5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884177" y="5856649"/>
            <a:ext cx="2433850" cy="50445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20;p16">
            <a:extLst>
              <a:ext uri="{FF2B5EF4-FFF2-40B4-BE49-F238E27FC236}">
                <a16:creationId xmlns:a16="http://schemas.microsoft.com/office/drawing/2014/main" id="{A26C354B-D176-E239-371C-071A49C76F62}"/>
              </a:ext>
            </a:extLst>
          </p:cNvPr>
          <p:cNvSpPr txBox="1"/>
          <p:nvPr/>
        </p:nvSpPr>
        <p:spPr>
          <a:xfrm>
            <a:off x="2807363" y="4833071"/>
            <a:ext cx="2555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/>
            <a:r>
              <a:rPr lang="ja-JP" altLang="en-US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</a:t>
            </a:r>
            <a:r>
              <a:rPr lang="en-US" altLang="ja-JP" sz="24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(Add)</a:t>
            </a:r>
            <a:endParaRPr lang="en-US" altLang="ja-JP" sz="2400" dirty="0"/>
          </a:p>
        </p:txBody>
      </p:sp>
      <p:sp>
        <p:nvSpPr>
          <p:cNvPr id="12" name="Google Shape;121;p16">
            <a:extLst>
              <a:ext uri="{FF2B5EF4-FFF2-40B4-BE49-F238E27FC236}">
                <a16:creationId xmlns:a16="http://schemas.microsoft.com/office/drawing/2014/main" id="{BC23CCAE-BD35-0377-7DDB-FCE65A16B419}"/>
              </a:ext>
            </a:extLst>
          </p:cNvPr>
          <p:cNvSpPr txBox="1"/>
          <p:nvPr/>
        </p:nvSpPr>
        <p:spPr>
          <a:xfrm>
            <a:off x="2891082" y="5370799"/>
            <a:ext cx="2699978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割り算。「</a:t>
            </a:r>
            <a:r>
              <a:rPr lang="en-US" altLang="ja-JP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/</a:t>
            </a: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」で表します。</a:t>
            </a:r>
            <a:endParaRPr lang="ja-JP" altLang="en-US"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pic>
        <p:nvPicPr>
          <p:cNvPr id="14" name="Google Shape;113;p16" descr="image.png">
            <a:extLst>
              <a:ext uri="{FF2B5EF4-FFF2-40B4-BE49-F238E27FC236}">
                <a16:creationId xmlns:a16="http://schemas.microsoft.com/office/drawing/2014/main" id="{ABEF1128-A4CF-1CEC-DDF1-45829B4F053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23594" y="4061433"/>
            <a:ext cx="3316231" cy="24998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16;p16" descr="image.png">
            <a:extLst>
              <a:ext uri="{FF2B5EF4-FFF2-40B4-BE49-F238E27FC236}">
                <a16:creationId xmlns:a16="http://schemas.microsoft.com/office/drawing/2014/main" id="{56E40E69-5BA4-D15E-C425-EFDDF96578C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564784" y="5856649"/>
            <a:ext cx="2433850" cy="504458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20;p16">
            <a:extLst>
              <a:ext uri="{FF2B5EF4-FFF2-40B4-BE49-F238E27FC236}">
                <a16:creationId xmlns:a16="http://schemas.microsoft.com/office/drawing/2014/main" id="{E3E1969F-9074-0DAD-87E1-7594633761D1}"/>
              </a:ext>
            </a:extLst>
          </p:cNvPr>
          <p:cNvSpPr txBox="1"/>
          <p:nvPr/>
        </p:nvSpPr>
        <p:spPr>
          <a:xfrm>
            <a:off x="6487970" y="4833071"/>
            <a:ext cx="255554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/>
            <a:r>
              <a:rPr lang="ja-JP" altLang="en-US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剰余 </a:t>
            </a:r>
            <a:r>
              <a:rPr lang="en-US" altLang="ja-JP" sz="2400" b="1" dirty="0">
                <a:solidFill>
                  <a:schemeClr val="tx1"/>
                </a:solidFill>
                <a:latin typeface="Poppins"/>
                <a:ea typeface="Poppins"/>
                <a:cs typeface="Poppins"/>
                <a:sym typeface="Poppins"/>
              </a:rPr>
              <a:t>(Mod)</a:t>
            </a:r>
            <a:endParaRPr lang="en-US" altLang="ja-JP" sz="2400" dirty="0">
              <a:solidFill>
                <a:schemeClr val="tx1"/>
              </a:solidFill>
            </a:endParaRPr>
          </a:p>
        </p:txBody>
      </p:sp>
      <p:sp>
        <p:nvSpPr>
          <p:cNvPr id="18" name="Google Shape;121;p16">
            <a:extLst>
              <a:ext uri="{FF2B5EF4-FFF2-40B4-BE49-F238E27FC236}">
                <a16:creationId xmlns:a16="http://schemas.microsoft.com/office/drawing/2014/main" id="{A4574147-EA6D-41A0-9134-60BC41A792F0}"/>
              </a:ext>
            </a:extLst>
          </p:cNvPr>
          <p:cNvSpPr txBox="1"/>
          <p:nvPr/>
        </p:nvSpPr>
        <p:spPr>
          <a:xfrm>
            <a:off x="6571689" y="5370799"/>
            <a:ext cx="2699978" cy="3016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40000"/>
              </a:lnSpc>
            </a:pPr>
            <a:r>
              <a:rPr lang="en-US" altLang="ja-JP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余りの計算。「%」で表します</a:t>
            </a:r>
            <a:r>
              <a:rPr lang="ja-JP" altLang="en-US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CDDC4777-292F-170B-41E1-229299BAF30A}"/>
              </a:ext>
            </a:extLst>
          </p:cNvPr>
          <p:cNvSpPr txBox="1"/>
          <p:nvPr/>
        </p:nvSpPr>
        <p:spPr>
          <a:xfrm>
            <a:off x="3937435" y="4141068"/>
            <a:ext cx="32733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/</a:t>
            </a:r>
            <a:endParaRPr kumimoji="1" lang="ja-JP" altLang="en-US" sz="40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3" name="Google Shape;146;p17" descr="image.png">
            <a:extLst>
              <a:ext uri="{FF2B5EF4-FFF2-40B4-BE49-F238E27FC236}">
                <a16:creationId xmlns:a16="http://schemas.microsoft.com/office/drawing/2014/main" id="{FBFCF024-21EA-6B38-710D-2C98EA750950}"/>
              </a:ext>
            </a:extLst>
          </p:cNvPr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2135108" y="6051949"/>
            <a:ext cx="40767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E56AC00B-5E57-9208-C5F2-524DCA831C7C}"/>
              </a:ext>
            </a:extLst>
          </p:cNvPr>
          <p:cNvSpPr txBox="1"/>
          <p:nvPr/>
        </p:nvSpPr>
        <p:spPr>
          <a:xfrm>
            <a:off x="7480985" y="4248296"/>
            <a:ext cx="6014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32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%</a:t>
            </a:r>
            <a:endParaRPr kumimoji="1" lang="ja-JP" altLang="en-US" sz="32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25" name="Google Shape;147;p17" descr="image.png">
            <a:extLst>
              <a:ext uri="{FF2B5EF4-FFF2-40B4-BE49-F238E27FC236}">
                <a16:creationId xmlns:a16="http://schemas.microsoft.com/office/drawing/2014/main" id="{FBE99F0F-8262-D745-145A-F22DFFE5ACFA}"/>
              </a:ext>
            </a:extLst>
          </p:cNvPr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5838686" y="6018390"/>
            <a:ext cx="4076700" cy="180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31;p16">
            <a:extLst>
              <a:ext uri="{FF2B5EF4-FFF2-40B4-BE49-F238E27FC236}">
                <a16:creationId xmlns:a16="http://schemas.microsoft.com/office/drawing/2014/main" id="{E40F8D74-791A-F0CE-D535-FE20062CDBC4}"/>
              </a:ext>
            </a:extLst>
          </p:cNvPr>
          <p:cNvSpPr txBox="1"/>
          <p:nvPr/>
        </p:nvSpPr>
        <p:spPr>
          <a:xfrm>
            <a:off x="790575" y="453802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五則演算：演習</a:t>
            </a:r>
          </a:p>
        </p:txBody>
      </p:sp>
      <p:sp>
        <p:nvSpPr>
          <p:cNvPr id="3" name="Google Shape;132;p16">
            <a:extLst>
              <a:ext uri="{FF2B5EF4-FFF2-40B4-BE49-F238E27FC236}">
                <a16:creationId xmlns:a16="http://schemas.microsoft.com/office/drawing/2014/main" id="{2818D68F-8B34-970B-E0DD-25DF2069CDB1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3510B3-9ADE-19A5-2A80-578DE3C10DBA}"/>
              </a:ext>
            </a:extLst>
          </p:cNvPr>
          <p:cNvSpPr txBox="1"/>
          <p:nvPr/>
        </p:nvSpPr>
        <p:spPr>
          <a:xfrm>
            <a:off x="666750" y="1366897"/>
            <a:ext cx="263886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5 +</a:t>
            </a:r>
            <a:r>
              <a:rPr kumimoji="1" lang="ja-JP" altLang="en-US" sz="4000" b="1" dirty="0"/>
              <a:t> </a:t>
            </a:r>
            <a:r>
              <a:rPr kumimoji="1" lang="en-US" altLang="ja-JP" sz="4000" b="1" dirty="0"/>
              <a:t>8</a:t>
            </a:r>
            <a:r>
              <a:rPr kumimoji="1" lang="ja-JP" altLang="en-US" sz="4000" b="1" dirty="0"/>
              <a:t> </a:t>
            </a:r>
            <a:r>
              <a:rPr kumimoji="1" lang="en-US" altLang="ja-JP" sz="4000" b="1" dirty="0"/>
              <a:t>=</a:t>
            </a:r>
          </a:p>
          <a:p>
            <a:r>
              <a:rPr kumimoji="1" lang="en-US" altLang="ja-JP" sz="4000" b="1" dirty="0"/>
              <a:t>1.2 + 3.8 =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842380D-D8F9-86CB-107A-C3F2E0BCCB6A}"/>
              </a:ext>
            </a:extLst>
          </p:cNvPr>
          <p:cNvSpPr txBox="1"/>
          <p:nvPr/>
        </p:nvSpPr>
        <p:spPr>
          <a:xfrm>
            <a:off x="6096000" y="1654291"/>
            <a:ext cx="3052439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6 / 2 =</a:t>
            </a:r>
          </a:p>
          <a:p>
            <a:r>
              <a:rPr kumimoji="1" lang="en-US" altLang="ja-JP" sz="4000" b="1" dirty="0"/>
              <a:t>0.75 / 0.25 =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B5CE3C83-EF81-42B9-85D6-1BE449CC4D01}"/>
              </a:ext>
            </a:extLst>
          </p:cNvPr>
          <p:cNvSpPr txBox="1"/>
          <p:nvPr/>
        </p:nvSpPr>
        <p:spPr>
          <a:xfrm>
            <a:off x="673161" y="2890391"/>
            <a:ext cx="262443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9 – 4 =</a:t>
            </a:r>
          </a:p>
          <a:p>
            <a:r>
              <a:rPr kumimoji="1" lang="en-US" altLang="ja-JP" sz="4000" b="1" dirty="0"/>
              <a:t>4.5 – 1.2 =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4AB9CC4-787A-4E1A-8299-1A751038B297}"/>
              </a:ext>
            </a:extLst>
          </p:cNvPr>
          <p:cNvSpPr txBox="1"/>
          <p:nvPr/>
        </p:nvSpPr>
        <p:spPr>
          <a:xfrm>
            <a:off x="715640" y="4399114"/>
            <a:ext cx="253947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2 * 3 =</a:t>
            </a:r>
          </a:p>
          <a:p>
            <a:r>
              <a:rPr kumimoji="1" lang="en-US" altLang="ja-JP" sz="4000" b="1" dirty="0"/>
              <a:t>0.8 * 0.5 =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A8D18EA5-C1B1-45F5-976D-315B794EC48D}"/>
              </a:ext>
            </a:extLst>
          </p:cNvPr>
          <p:cNvSpPr txBox="1"/>
          <p:nvPr/>
        </p:nvSpPr>
        <p:spPr>
          <a:xfrm>
            <a:off x="6098447" y="3624221"/>
            <a:ext cx="2795958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4000" b="1" dirty="0"/>
              <a:t>5 % 2 =</a:t>
            </a:r>
          </a:p>
          <a:p>
            <a:r>
              <a:rPr kumimoji="1" lang="en-US" altLang="ja-JP" sz="4000" b="1" dirty="0"/>
              <a:t>250 % 15 =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31BDC12D-3348-18A5-36CC-E8FC5DDCA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AC38E511-FCF8-D59C-A7FE-B643AFA4E59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107;p15">
            <a:extLst>
              <a:ext uri="{FF2B5EF4-FFF2-40B4-BE49-F238E27FC236}">
                <a16:creationId xmlns:a16="http://schemas.microsoft.com/office/drawing/2014/main" id="{F45A8D56-D61C-F82F-2B8B-7225737B9992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ja-JP" altLang="en-US" sz="54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/>
                <a:ea typeface="Poppins"/>
                <a:cs typeface="Poppins"/>
                <a:sym typeface="Poppins"/>
              </a:rPr>
              <a:t>分数の計算</a:t>
            </a:r>
            <a:endParaRPr kumimoji="0" lang="ja-JP" altLang="en-US" sz="14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146483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344140"/>
            <a:ext cx="11049000" cy="50106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7749" y="3411936"/>
            <a:ext cx="10182225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1047750" y="1891657"/>
            <a:ext cx="4752975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分母を揃える（通分）</a:t>
            </a:r>
            <a:endParaRPr sz="3200" dirty="0"/>
          </a:p>
        </p:txBody>
      </p:sp>
      <p:sp>
        <p:nvSpPr>
          <p:cNvPr id="119" name="Google Shape;119;p15"/>
          <p:cNvSpPr txBox="1"/>
          <p:nvPr/>
        </p:nvSpPr>
        <p:spPr>
          <a:xfrm>
            <a:off x="1047749" y="2711597"/>
            <a:ext cx="8086725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分母が異なる場合は、まず分母を同じ数に揃える必要があります。</a:t>
            </a:r>
            <a:endParaRPr sz="2000" dirty="0"/>
          </a:p>
        </p:txBody>
      </p:sp>
      <p:sp>
        <p:nvSpPr>
          <p:cNvPr id="120" name="Google Shape;120;p15"/>
          <p:cNvSpPr txBox="1"/>
          <p:nvPr/>
        </p:nvSpPr>
        <p:spPr>
          <a:xfrm>
            <a:off x="3096593" y="4642067"/>
            <a:ext cx="196229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0" i="1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例： </a:t>
            </a:r>
            <a:endParaRPr sz="3200" dirty="0"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058891" y="3464795"/>
            <a:ext cx="2074218" cy="45704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53454" y="4761606"/>
            <a:ext cx="3885091" cy="619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790575" y="503187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加算と減算</a:t>
            </a:r>
            <a:endParaRPr dirty="0"/>
          </a:p>
        </p:txBody>
      </p:sp>
      <p:sp>
        <p:nvSpPr>
          <p:cNvPr id="13" name="Google Shape;132;p16">
            <a:extLst>
              <a:ext uri="{FF2B5EF4-FFF2-40B4-BE49-F238E27FC236}">
                <a16:creationId xmlns:a16="http://schemas.microsoft.com/office/drawing/2014/main" id="{1FCC9574-DFCD-4262-A7D4-98197B2A6FEC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2507" y="1165697"/>
            <a:ext cx="5334000" cy="3563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262463" y="1182889"/>
            <a:ext cx="5334000" cy="356304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3048" y="2988910"/>
            <a:ext cx="4124325" cy="1319648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52988" y="2908414"/>
            <a:ext cx="4552950" cy="138557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2403511" y="1515369"/>
            <a:ext cx="215156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乗算 (Mul)</a:t>
            </a:r>
            <a:endParaRPr sz="2800" dirty="0"/>
          </a:p>
        </p:txBody>
      </p:sp>
      <p:sp>
        <p:nvSpPr>
          <p:cNvPr id="101" name="Google Shape;101;p14"/>
          <p:cNvSpPr txBox="1"/>
          <p:nvPr/>
        </p:nvSpPr>
        <p:spPr>
          <a:xfrm>
            <a:off x="1193519" y="2346634"/>
            <a:ext cx="4246583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分母同士、分子同士を掛けます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102" name="Google Shape;102;p14"/>
          <p:cNvSpPr txBox="1"/>
          <p:nvPr/>
        </p:nvSpPr>
        <p:spPr>
          <a:xfrm>
            <a:off x="8159046" y="1453552"/>
            <a:ext cx="2490124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除算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 (</a:t>
            </a:r>
            <a:r>
              <a:rPr lang="en-US" sz="2800" b="1" i="0" u="none" strike="noStrike" cap="none" dirty="0" err="1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Div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)</a:t>
            </a:r>
            <a:endParaRPr sz="2800" dirty="0"/>
          </a:p>
        </p:txBody>
      </p:sp>
      <p:sp>
        <p:nvSpPr>
          <p:cNvPr id="103" name="Google Shape;103;p14"/>
          <p:cNvSpPr txBox="1"/>
          <p:nvPr/>
        </p:nvSpPr>
        <p:spPr>
          <a:xfrm>
            <a:off x="6869002" y="2264611"/>
            <a:ext cx="37433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後ろの分数を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逆数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にして掛けます。</a:t>
            </a:r>
            <a:endParaRPr dirty="0"/>
          </a:p>
        </p:txBody>
      </p:sp>
      <p:pic>
        <p:nvPicPr>
          <p:cNvPr id="104" name="Google Shape;104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52500" y="1249896"/>
            <a:ext cx="628650" cy="838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07379" y="3370499"/>
            <a:ext cx="2309994" cy="5259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6549161" y="1270057"/>
            <a:ext cx="673442" cy="72820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545047" y="3335972"/>
            <a:ext cx="2768832" cy="530454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14"/>
          <p:cNvSpPr txBox="1"/>
          <p:nvPr/>
        </p:nvSpPr>
        <p:spPr>
          <a:xfrm>
            <a:off x="790575" y="534486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乗算と除算</a:t>
            </a:r>
            <a:endParaRPr dirty="0"/>
          </a:p>
        </p:txBody>
      </p:sp>
      <p:sp>
        <p:nvSpPr>
          <p:cNvPr id="18" name="Google Shape;132;p16">
            <a:extLst>
              <a:ext uri="{FF2B5EF4-FFF2-40B4-BE49-F238E27FC236}">
                <a16:creationId xmlns:a16="http://schemas.microsoft.com/office/drawing/2014/main" id="{F1143C7C-FA93-4B58-BCEE-E8BC84C1B540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C8D3694-6CFF-462D-A493-273351A82453}"/>
                  </a:ext>
                </a:extLst>
              </p:cNvPr>
              <p:cNvSpPr txBox="1"/>
              <p:nvPr/>
            </p:nvSpPr>
            <p:spPr>
              <a:xfrm>
                <a:off x="2097091" y="5129120"/>
                <a:ext cx="2016237" cy="98161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4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1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4000" i="1">
                        <a:latin typeface="Cambria Math" panose="02040503050406030204" pitchFamily="18" charset="0"/>
                      </a:rPr>
                      <m:t>＊</m:t>
                    </m:r>
                    <m:f>
                      <m:fPr>
                        <m:ctrlPr>
                          <a:rPr lang="ja-JP" altLang="en-US" sz="4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40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4000" i="0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2000" dirty="0"/>
                  <a:t> </a:t>
                </a:r>
                <a:r>
                  <a:rPr lang="en-US" altLang="ja-JP" sz="2000" dirty="0"/>
                  <a:t>=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4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ja-JP" altLang="en-US" sz="4000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ja-JP" altLang="en-US" sz="4000" i="0" dirty="0"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endParaRPr lang="ja-JP" altLang="en-US" sz="2800" dirty="0"/>
              </a:p>
            </p:txBody>
          </p:sp>
        </mc:Choice>
        <mc:Fallback xmlns="">
          <p:sp>
            <p:nvSpPr>
              <p:cNvPr id="19" name="テキスト ボックス 18">
                <a:extLst>
                  <a:ext uri="{FF2B5EF4-FFF2-40B4-BE49-F238E27FC236}">
                    <a16:creationId xmlns:a16="http://schemas.microsoft.com/office/drawing/2014/main" id="{CC8D3694-6CFF-462D-A493-273351A824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7091" y="5129120"/>
                <a:ext cx="2016237" cy="981615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1821CA14-2257-4206-80DB-DB10626C055C}"/>
                  </a:ext>
                </a:extLst>
              </p:cNvPr>
              <p:cNvSpPr txBox="1"/>
              <p:nvPr/>
            </p:nvSpPr>
            <p:spPr>
              <a:xfrm>
                <a:off x="7222603" y="5204137"/>
                <a:ext cx="4083572" cy="102040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4000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1" i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4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4000" i="1">
                        <a:latin typeface="Cambria Math" panose="02040503050406030204" pitchFamily="18" charset="0"/>
                      </a:rPr>
                      <m:t>＊</m:t>
                    </m:r>
                    <m:f>
                      <m:fPr>
                        <m:ctrlPr>
                          <a:rPr lang="ja-JP" altLang="en-US" sz="400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1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ja-JP" altLang="en-US" sz="4000" i="0" dirty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lang="ja-JP" altLang="en-US" sz="2000" dirty="0"/>
                  <a:t>  </a:t>
                </a:r>
                <a:r>
                  <a:rPr lang="en-US" altLang="ja-JP" sz="2000" dirty="0"/>
                  <a:t>=</a:t>
                </a:r>
                <a:r>
                  <a:rPr lang="ja-JP" altLang="en-US" sz="2000" dirty="0"/>
                  <a:t> </a:t>
                </a:r>
                <a:r>
                  <a:rPr lang="en-US" altLang="ja-JP" sz="20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kumimoji="1" lang="en-US" altLang="ja-JP" sz="4000" i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sz="4000" b="1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𝟏</m:t>
                        </m:r>
                      </m:num>
                      <m:den>
                        <m:r>
                          <a:rPr kumimoji="1" lang="en-US" altLang="ja-JP" sz="40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kumimoji="1" lang="ja-JP" altLang="en-US" sz="4000" i="1">
                        <a:latin typeface="Cambria Math" panose="02040503050406030204" pitchFamily="18" charset="0"/>
                      </a:rPr>
                      <m:t>＊</m:t>
                    </m:r>
                    <m:f>
                      <m:fPr>
                        <m:ctrlPr>
                          <a:rPr lang="ja-JP" altLang="en-US" sz="4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4000" b="0" i="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lang="ja-JP" altLang="en-US" sz="2800" dirty="0"/>
                  <a:t> </a:t>
                </a:r>
                <a:r>
                  <a:rPr lang="en-US" altLang="ja-JP" sz="2800" dirty="0"/>
                  <a:t>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ja-JP" altLang="en-US" sz="4000" i="1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4000" dirty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US" altLang="ja-JP" sz="4000" b="0" i="0" dirty="0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lang="ja-JP" altLang="en-US" sz="1800" dirty="0"/>
                  <a:t> </a:t>
                </a:r>
                <a:endParaRPr lang="ja-JP" altLang="en-US" sz="2800" dirty="0"/>
              </a:p>
            </p:txBody>
          </p:sp>
        </mc:Choice>
        <mc:Fallback xmlns="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1821CA14-2257-4206-80DB-DB10626C05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22603" y="5204137"/>
                <a:ext cx="4083572" cy="1020408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 txBox="1"/>
          <p:nvPr/>
        </p:nvSpPr>
        <p:spPr>
          <a:xfrm>
            <a:off x="619125" y="5912793"/>
            <a:ext cx="10132671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875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ja-JP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※</a:t>
            </a: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計算の途中で約分できる場合は、先に行うと数字が大きくならずミスが減ります。</a:t>
            </a:r>
            <a:endParaRPr sz="2000" dirty="0"/>
          </a:p>
        </p:txBody>
      </p:sp>
      <p:sp>
        <p:nvSpPr>
          <p:cNvPr id="140" name="Google Shape;140;p16"/>
          <p:cNvSpPr txBox="1"/>
          <p:nvPr/>
        </p:nvSpPr>
        <p:spPr>
          <a:xfrm>
            <a:off x="790575" y="50970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公約数と</a:t>
            </a:r>
            <a:r>
              <a:rPr lang="ja-JP" altLang="en-US" sz="36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約分</a:t>
            </a:r>
            <a:endParaRPr lang="en-US" altLang="ja-JP" sz="3600" b="1" i="0" u="none" strike="noStrike" cap="none" dirty="0">
              <a:solidFill>
                <a:srgbClr val="0F172A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pic>
        <p:nvPicPr>
          <p:cNvPr id="15" name="Google Shape;130;p16" descr="image.png">
            <a:extLst>
              <a:ext uri="{FF2B5EF4-FFF2-40B4-BE49-F238E27FC236}">
                <a16:creationId xmlns:a16="http://schemas.microsoft.com/office/drawing/2014/main" id="{6CFCFD9C-C1FF-4168-B62B-62B94E31C50D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6750" y="1414269"/>
            <a:ext cx="5334000" cy="3248025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35;p16">
            <a:extLst>
              <a:ext uri="{FF2B5EF4-FFF2-40B4-BE49-F238E27FC236}">
                <a16:creationId xmlns:a16="http://schemas.microsoft.com/office/drawing/2014/main" id="{F956263C-396A-4ACD-A309-6F3029C7B28A}"/>
              </a:ext>
            </a:extLst>
          </p:cNvPr>
          <p:cNvSpPr txBox="1"/>
          <p:nvPr/>
        </p:nvSpPr>
        <p:spPr>
          <a:xfrm>
            <a:off x="1013207" y="1804795"/>
            <a:ext cx="25603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4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公約数</a:t>
            </a:r>
            <a:endParaRPr dirty="0"/>
          </a:p>
        </p:txBody>
      </p:sp>
      <p:pic>
        <p:nvPicPr>
          <p:cNvPr id="22" name="Google Shape;132;p16" descr="image.png">
            <a:extLst>
              <a:ext uri="{FF2B5EF4-FFF2-40B4-BE49-F238E27FC236}">
                <a16:creationId xmlns:a16="http://schemas.microsoft.com/office/drawing/2014/main" id="{593A86F5-BF42-427F-97D9-0215D21A265E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13207" y="3374805"/>
            <a:ext cx="4752975" cy="8444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C249DEF-4038-4937-A8DD-D4A84D54C707}"/>
              </a:ext>
            </a:extLst>
          </p:cNvPr>
          <p:cNvSpPr txBox="1"/>
          <p:nvPr/>
        </p:nvSpPr>
        <p:spPr>
          <a:xfrm>
            <a:off x="1641374" y="3566920"/>
            <a:ext cx="359906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2800" dirty="0"/>
              <a:t>8,4</a:t>
            </a:r>
            <a:r>
              <a:rPr kumimoji="1" lang="ja-JP" altLang="en-US" sz="2800" dirty="0"/>
              <a:t>の公約数は、</a:t>
            </a:r>
            <a:r>
              <a:rPr kumimoji="1" lang="en-US" altLang="ja-JP" sz="2800" dirty="0"/>
              <a:t>2</a:t>
            </a:r>
            <a:r>
              <a:rPr kumimoji="1" lang="ja-JP" altLang="en-US" sz="2800" dirty="0"/>
              <a:t>と</a:t>
            </a:r>
            <a:r>
              <a:rPr kumimoji="1" lang="en-US" altLang="ja-JP" sz="2800" dirty="0"/>
              <a:t>4</a:t>
            </a:r>
            <a:endParaRPr kumimoji="1" lang="ja-JP" altLang="en-US" sz="2800" dirty="0"/>
          </a:p>
        </p:txBody>
      </p:sp>
      <p:sp>
        <p:nvSpPr>
          <p:cNvPr id="25" name="Google Shape;132;p16">
            <a:extLst>
              <a:ext uri="{FF2B5EF4-FFF2-40B4-BE49-F238E27FC236}">
                <a16:creationId xmlns:a16="http://schemas.microsoft.com/office/drawing/2014/main" id="{CF1F62EE-1756-4ACA-86FA-2DF32634C10D}"/>
              </a:ext>
            </a:extLst>
          </p:cNvPr>
          <p:cNvSpPr/>
          <p:nvPr/>
        </p:nvSpPr>
        <p:spPr>
          <a:xfrm>
            <a:off x="571500" y="434473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" name="Google Shape;130;p16" descr="image.png">
            <a:extLst>
              <a:ext uri="{FF2B5EF4-FFF2-40B4-BE49-F238E27FC236}">
                <a16:creationId xmlns:a16="http://schemas.microsoft.com/office/drawing/2014/main" id="{EF0F1F6F-41D4-43F5-BFD6-9F1A888720EA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452704" y="1414269"/>
            <a:ext cx="5334000" cy="3248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132;p16" descr="image.png">
            <a:extLst>
              <a:ext uri="{FF2B5EF4-FFF2-40B4-BE49-F238E27FC236}">
                <a16:creationId xmlns:a16="http://schemas.microsoft.com/office/drawing/2014/main" id="{050E9EA7-C3D3-434F-8BA2-BBE19668649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843228" y="3427322"/>
            <a:ext cx="4752975" cy="844448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135;p16">
            <a:extLst>
              <a:ext uri="{FF2B5EF4-FFF2-40B4-BE49-F238E27FC236}">
                <a16:creationId xmlns:a16="http://schemas.microsoft.com/office/drawing/2014/main" id="{9EDEBFFA-6A7E-4D68-9FAA-A507AAC5B176}"/>
              </a:ext>
            </a:extLst>
          </p:cNvPr>
          <p:cNvSpPr txBox="1"/>
          <p:nvPr/>
        </p:nvSpPr>
        <p:spPr>
          <a:xfrm>
            <a:off x="6843229" y="1804794"/>
            <a:ext cx="256032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約分 (Reduction)</a:t>
            </a:r>
            <a:endParaRPr dirty="0"/>
          </a:p>
        </p:txBody>
      </p:sp>
      <p:sp>
        <p:nvSpPr>
          <p:cNvPr id="29" name="Google Shape;136;p16">
            <a:extLst>
              <a:ext uri="{FF2B5EF4-FFF2-40B4-BE49-F238E27FC236}">
                <a16:creationId xmlns:a16="http://schemas.microsoft.com/office/drawing/2014/main" id="{20688647-6F1B-42C0-8643-85464B888D0E}"/>
              </a:ext>
            </a:extLst>
          </p:cNvPr>
          <p:cNvSpPr txBox="1"/>
          <p:nvPr/>
        </p:nvSpPr>
        <p:spPr>
          <a:xfrm>
            <a:off x="6843229" y="2250625"/>
            <a:ext cx="455295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分子と分母を</a:t>
            </a:r>
            <a:r>
              <a:rPr 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公約数</a:t>
            </a: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で割り、最も簡単な形に</a:t>
            </a:r>
            <a:r>
              <a:rPr lang="ja-JP" alt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すること。</a:t>
            </a:r>
            <a:endParaRPr dirty="0"/>
          </a:p>
        </p:txBody>
      </p:sp>
      <p:pic>
        <p:nvPicPr>
          <p:cNvPr id="30" name="Google Shape;139;p16" descr="image.png">
            <a:extLst>
              <a:ext uri="{FF2B5EF4-FFF2-40B4-BE49-F238E27FC236}">
                <a16:creationId xmlns:a16="http://schemas.microsoft.com/office/drawing/2014/main" id="{4DA31CEE-A965-4FDD-82D0-62A69926C1E0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89004" y="3545639"/>
            <a:ext cx="1261422" cy="60781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7602987B-E9B2-4307-B6E4-B6CE051F806E}"/>
              </a:ext>
            </a:extLst>
          </p:cNvPr>
          <p:cNvSpPr txBox="1"/>
          <p:nvPr/>
        </p:nvSpPr>
        <p:spPr>
          <a:xfrm>
            <a:off x="952500" y="5052820"/>
            <a:ext cx="45127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8,16,24</a:t>
            </a:r>
            <a:r>
              <a:rPr kumimoji="1" lang="ja-JP" altLang="en-US" sz="3200" dirty="0"/>
              <a:t>の公約数は</a:t>
            </a:r>
            <a:r>
              <a:rPr kumimoji="1" lang="en-US" altLang="ja-JP" sz="3200" dirty="0"/>
              <a:t>2,4,8</a:t>
            </a:r>
            <a:endParaRPr kumimoji="1" lang="ja-JP" altLang="en-US" sz="32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9E90DC0-28BE-4274-9AC3-7B96672EC75D}"/>
                  </a:ext>
                </a:extLst>
              </p:cNvPr>
              <p:cNvSpPr txBox="1"/>
              <p:nvPr/>
            </p:nvSpPr>
            <p:spPr>
              <a:xfrm>
                <a:off x="8395430" y="4801891"/>
                <a:ext cx="2016237" cy="91057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kumimoji="1" lang="en-US" altLang="ja-JP" sz="28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kumimoji="1" lang="en-US" altLang="ja-JP" sz="2800" i="1" smtClean="0">
                              <a:latin typeface="Cambria Math" panose="02040503050406030204" pitchFamily="18" charset="0"/>
                            </a:rPr>
                            <m:t>15</m:t>
                          </m:r>
                        </m:den>
                      </m:f>
                      <m:r>
                        <a:rPr kumimoji="1" lang="en-US" altLang="ja-JP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ja-JP" altLang="en-US" sz="2800" i="1" dirty="0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ja-JP" altLang="en-US" sz="2800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ja-JP" altLang="en-US" sz="2800" i="0" dirty="0">
                              <a:latin typeface="Cambria Math" panose="02040503050406030204" pitchFamily="18" charset="0"/>
                            </a:rPr>
                            <m:t>3</m:t>
                          </m:r>
                        </m:den>
                      </m:f>
                    </m:oMath>
                  </m:oMathPara>
                </a14:m>
                <a:endParaRPr lang="ja-JP" altLang="en-US" dirty="0"/>
              </a:p>
            </p:txBody>
          </p:sp>
        </mc:Choice>
        <mc:Fallback xmlns="">
          <p:sp>
            <p:nvSpPr>
              <p:cNvPr id="34" name="テキスト ボックス 33">
                <a:extLst>
                  <a:ext uri="{FF2B5EF4-FFF2-40B4-BE49-F238E27FC236}">
                    <a16:creationId xmlns:a16="http://schemas.microsoft.com/office/drawing/2014/main" id="{99E90DC0-28BE-4274-9AC3-7B96672EC7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95430" y="4801891"/>
                <a:ext cx="2016237" cy="91057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Google Shape;136;p16">
            <a:extLst>
              <a:ext uri="{FF2B5EF4-FFF2-40B4-BE49-F238E27FC236}">
                <a16:creationId xmlns:a16="http://schemas.microsoft.com/office/drawing/2014/main" id="{C53B8177-1F6A-426A-B0FC-8A06EADC86DC}"/>
              </a:ext>
            </a:extLst>
          </p:cNvPr>
          <p:cNvSpPr txBox="1"/>
          <p:nvPr/>
        </p:nvSpPr>
        <p:spPr>
          <a:xfrm>
            <a:off x="1057275" y="2260374"/>
            <a:ext cx="455295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1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複数の数に対して、</a:t>
            </a:r>
            <a:r>
              <a:rPr lang="ja-JP" altLang="en-US" sz="1800" b="1" i="0" u="none" strike="noStrike" cap="none" dirty="0">
                <a:solidFill>
                  <a:srgbClr val="EF4444"/>
                </a:solidFill>
                <a:latin typeface="Inter"/>
                <a:ea typeface="Inter"/>
                <a:cs typeface="Inter"/>
                <a:sym typeface="Inter"/>
              </a:rPr>
              <a:t>両者</a:t>
            </a:r>
            <a:r>
              <a:rPr lang="ja-JP" altLang="en-US" sz="1800" dirty="0">
                <a:solidFill>
                  <a:schemeClr val="tx1"/>
                </a:solidFill>
                <a:latin typeface="Inter"/>
                <a:ea typeface="Inter"/>
                <a:cs typeface="Inter"/>
                <a:sym typeface="Inter"/>
              </a:rPr>
              <a:t>を割れる数</a:t>
            </a:r>
            <a:endParaRPr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666750" y="2444055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7"/>
          <p:cNvSpPr/>
          <p:nvPr/>
        </p:nvSpPr>
        <p:spPr>
          <a:xfrm>
            <a:off x="6667500" y="2444055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666750" y="2796480"/>
            <a:ext cx="5048250" cy="41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153" name="Google Shape;153;p17"/>
          <p:cNvSpPr/>
          <p:nvPr/>
        </p:nvSpPr>
        <p:spPr>
          <a:xfrm>
            <a:off x="666750" y="3335833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7"/>
          <p:cNvSpPr/>
          <p:nvPr/>
        </p:nvSpPr>
        <p:spPr>
          <a:xfrm>
            <a:off x="6667500" y="3335833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666750" y="4227611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7"/>
          <p:cNvSpPr txBox="1"/>
          <p:nvPr/>
        </p:nvSpPr>
        <p:spPr>
          <a:xfrm>
            <a:off x="6667500" y="3688258"/>
            <a:ext cx="5048250" cy="4155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159" name="Google Shape;159;p17"/>
          <p:cNvSpPr/>
          <p:nvPr/>
        </p:nvSpPr>
        <p:spPr>
          <a:xfrm>
            <a:off x="6667500" y="4227611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66750" y="4580036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/>
          </a:p>
        </p:txBody>
      </p:sp>
      <p:sp>
        <p:nvSpPr>
          <p:cNvPr id="161" name="Google Shape;161;p17"/>
          <p:cNvSpPr/>
          <p:nvPr/>
        </p:nvSpPr>
        <p:spPr>
          <a:xfrm>
            <a:off x="666750" y="5132486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7"/>
          <p:cNvSpPr txBox="1"/>
          <p:nvPr/>
        </p:nvSpPr>
        <p:spPr>
          <a:xfrm>
            <a:off x="6667500" y="4580036"/>
            <a:ext cx="504825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/>
          </a:p>
        </p:txBody>
      </p:sp>
      <p:sp>
        <p:nvSpPr>
          <p:cNvPr id="163" name="Google Shape;163;p17"/>
          <p:cNvSpPr/>
          <p:nvPr/>
        </p:nvSpPr>
        <p:spPr>
          <a:xfrm>
            <a:off x="6667500" y="5132486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666750" y="1964828"/>
            <a:ext cx="952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pic>
        <p:nvPicPr>
          <p:cNvPr id="165" name="Google Shape;16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52500" y="1904702"/>
            <a:ext cx="1112043" cy="396478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6667500" y="1996081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dirty="0"/>
          </a:p>
        </p:txBody>
      </p:sp>
      <p:pic>
        <p:nvPicPr>
          <p:cNvPr id="167" name="Google Shape;167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000875" y="1904702"/>
            <a:ext cx="1106537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009650" y="2796480"/>
            <a:ext cx="1112043" cy="396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7"/>
          <p:cNvSpPr txBox="1"/>
          <p:nvPr/>
        </p:nvSpPr>
        <p:spPr>
          <a:xfrm>
            <a:off x="6667500" y="2856607"/>
            <a:ext cx="15240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 dirty="0"/>
          </a:p>
        </p:txBody>
      </p:sp>
      <p:pic>
        <p:nvPicPr>
          <p:cNvPr id="171" name="Google Shape;171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010400" y="2796480"/>
            <a:ext cx="1027658" cy="396478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7"/>
          <p:cNvSpPr txBox="1"/>
          <p:nvPr/>
        </p:nvSpPr>
        <p:spPr>
          <a:xfrm>
            <a:off x="666750" y="3748385"/>
            <a:ext cx="142875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 dirty="0"/>
          </a:p>
        </p:txBody>
      </p:sp>
      <p:pic>
        <p:nvPicPr>
          <p:cNvPr id="173" name="Google Shape;173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000125" y="3688258"/>
            <a:ext cx="1112043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010400" y="3688258"/>
            <a:ext cx="1146125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90600" y="4586585"/>
            <a:ext cx="1140618" cy="3964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7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010400" y="4580036"/>
            <a:ext cx="2116931" cy="409575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7"/>
          <p:cNvSpPr txBox="1"/>
          <p:nvPr/>
        </p:nvSpPr>
        <p:spPr>
          <a:xfrm>
            <a:off x="790575" y="572989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分数の計算：演習</a:t>
            </a:r>
            <a:endParaRPr dirty="0"/>
          </a:p>
        </p:txBody>
      </p:sp>
      <p:sp>
        <p:nvSpPr>
          <p:cNvPr id="181" name="Google Shape;181;p17"/>
          <p:cNvSpPr/>
          <p:nvPr/>
        </p:nvSpPr>
        <p:spPr>
          <a:xfrm>
            <a:off x="571500" y="458689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 txBox="1"/>
          <p:nvPr/>
        </p:nvSpPr>
        <p:spPr>
          <a:xfrm>
            <a:off x="0" y="2343150"/>
            <a:ext cx="12192000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不等式・絶対値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183;p20" descr="image.png">
            <a:extLst>
              <a:ext uri="{FF2B5EF4-FFF2-40B4-BE49-F238E27FC236}">
                <a16:creationId xmlns:a16="http://schemas.microsoft.com/office/drawing/2014/main" id="{5A543339-8220-153A-A5A7-DFA5BCF40A9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4824573"/>
            <a:ext cx="5238750" cy="71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183;p20" descr="image.png">
            <a:extLst>
              <a:ext uri="{FF2B5EF4-FFF2-40B4-BE49-F238E27FC236}">
                <a16:creationId xmlns:a16="http://schemas.microsoft.com/office/drawing/2014/main" id="{B97C9D2C-52F5-DEA7-9A0E-A0BA5940DA2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3996228"/>
            <a:ext cx="5238750" cy="71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" name="Google Shape;183;p20" descr="image.png">
            <a:extLst>
              <a:ext uri="{FF2B5EF4-FFF2-40B4-BE49-F238E27FC236}">
                <a16:creationId xmlns:a16="http://schemas.microsoft.com/office/drawing/2014/main" id="{65F30A87-C7EA-BC1B-B686-75E6B6ED858F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3138015"/>
            <a:ext cx="5238750" cy="71446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" name="Google Shape;183;p20" descr="image.png">
            <a:extLst>
              <a:ext uri="{FF2B5EF4-FFF2-40B4-BE49-F238E27FC236}">
                <a16:creationId xmlns:a16="http://schemas.microsoft.com/office/drawing/2014/main" id="{8A02928D-141D-0EFD-8B38-8AB4A8D8AFE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35663" y="2373799"/>
            <a:ext cx="5238750" cy="7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/>
        </p:nvSpPr>
        <p:spPr>
          <a:xfrm>
            <a:off x="811163" y="1480838"/>
            <a:ext cx="11049000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不等号を用いて、数量の大小関係を表した式です。</a:t>
            </a:r>
            <a:endParaRPr sz="2000" dirty="0"/>
          </a:p>
        </p:txBody>
      </p:sp>
      <p:sp>
        <p:nvSpPr>
          <p:cNvPr id="166" name="Google Shape;166;p19"/>
          <p:cNvSpPr txBox="1"/>
          <p:nvPr/>
        </p:nvSpPr>
        <p:spPr>
          <a:xfrm>
            <a:off x="3048683" y="4020121"/>
            <a:ext cx="2690360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左辺が右辺以上</a:t>
            </a:r>
            <a:endParaRPr sz="2000" dirty="0"/>
          </a:p>
        </p:txBody>
      </p:sp>
      <p:sp>
        <p:nvSpPr>
          <p:cNvPr id="176" name="Google Shape;176;p19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不等式</a:t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6528053-FC3E-1FEF-36FB-B06C1C1FFEB7}"/>
              </a:ext>
            </a:extLst>
          </p:cNvPr>
          <p:cNvSpPr txBox="1"/>
          <p:nvPr/>
        </p:nvSpPr>
        <p:spPr>
          <a:xfrm>
            <a:off x="1703786" y="2328613"/>
            <a:ext cx="7650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5400" b="1" dirty="0">
                <a:solidFill>
                  <a:schemeClr val="bg2">
                    <a:lumMod val="60000"/>
                    <a:lumOff val="40000"/>
                  </a:schemeClr>
                </a:solidFill>
                <a:latin typeface="Inter"/>
                <a:ea typeface="Inter"/>
                <a:cs typeface="Inter"/>
                <a:sym typeface="Inter"/>
              </a:rPr>
              <a:t>&gt;</a:t>
            </a:r>
            <a:endParaRPr kumimoji="1" lang="ja-JP" altLang="en-US" sz="5400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C9BDBB2-9C9C-962C-263F-E84D73165406}"/>
              </a:ext>
            </a:extLst>
          </p:cNvPr>
          <p:cNvSpPr txBox="1"/>
          <p:nvPr/>
        </p:nvSpPr>
        <p:spPr>
          <a:xfrm>
            <a:off x="1703786" y="3057990"/>
            <a:ext cx="61825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54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&lt;</a:t>
            </a:r>
            <a:endParaRPr kumimoji="1" lang="ja-JP" altLang="en-US" sz="54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93F8B9A-5565-3CDB-A955-75D6E417FD2B}"/>
              </a:ext>
            </a:extLst>
          </p:cNvPr>
          <p:cNvSpPr txBox="1"/>
          <p:nvPr/>
        </p:nvSpPr>
        <p:spPr>
          <a:xfrm>
            <a:off x="2644290" y="3292617"/>
            <a:ext cx="418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左辺が右辺よりも小さい</a:t>
            </a:r>
            <a:endParaRPr kumimoji="1" lang="ja-JP" altLang="en-US" sz="24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AC40EAD9-DB78-8EF7-EB98-DE375206267F}"/>
              </a:ext>
            </a:extLst>
          </p:cNvPr>
          <p:cNvSpPr txBox="1"/>
          <p:nvPr/>
        </p:nvSpPr>
        <p:spPr>
          <a:xfrm>
            <a:off x="1703786" y="3906244"/>
            <a:ext cx="74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≧</a:t>
            </a:r>
            <a:endParaRPr kumimoji="1" lang="ja-JP" altLang="en-US" sz="48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24807798-3817-0DFE-5A74-AC3EB2F91B8F}"/>
              </a:ext>
            </a:extLst>
          </p:cNvPr>
          <p:cNvSpPr txBox="1"/>
          <p:nvPr/>
        </p:nvSpPr>
        <p:spPr>
          <a:xfrm>
            <a:off x="6335663" y="3981350"/>
            <a:ext cx="52387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5≧2,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10≧3,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5≧5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2F41C139-45A6-593E-BDA5-9D8E06A7BD37}"/>
              </a:ext>
            </a:extLst>
          </p:cNvPr>
          <p:cNvSpPr txBox="1"/>
          <p:nvPr/>
        </p:nvSpPr>
        <p:spPr>
          <a:xfrm>
            <a:off x="6350730" y="4772251"/>
            <a:ext cx="43728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2≦5,</a:t>
            </a:r>
            <a:r>
              <a:rPr lang="ja-JP" altLang="en-US" sz="4000" b="0" i="0" dirty="0">
                <a:effectLst/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3≦10,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5≦5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  <p:sp>
        <p:nvSpPr>
          <p:cNvPr id="17" name="Google Shape;166;p19">
            <a:extLst>
              <a:ext uri="{FF2B5EF4-FFF2-40B4-BE49-F238E27FC236}">
                <a16:creationId xmlns:a16="http://schemas.microsoft.com/office/drawing/2014/main" id="{A1B97F88-13F5-8C7B-5314-905A67A99606}"/>
              </a:ext>
            </a:extLst>
          </p:cNvPr>
          <p:cNvSpPr txBox="1"/>
          <p:nvPr/>
        </p:nvSpPr>
        <p:spPr>
          <a:xfrm>
            <a:off x="3048683" y="4824573"/>
            <a:ext cx="2559357" cy="6032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40000"/>
              </a:lnSpc>
            </a:pPr>
            <a:r>
              <a:rPr lang="en-US" altLang="ja-JP" sz="28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左辺が右辺以下</a:t>
            </a:r>
            <a:endParaRPr sz="2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06A53FAD-782A-A487-83E2-C7C890A3A370}"/>
              </a:ext>
            </a:extLst>
          </p:cNvPr>
          <p:cNvSpPr txBox="1"/>
          <p:nvPr/>
        </p:nvSpPr>
        <p:spPr>
          <a:xfrm>
            <a:off x="1693459" y="4710696"/>
            <a:ext cx="74827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8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≦</a:t>
            </a:r>
            <a:endParaRPr kumimoji="1" lang="ja-JP" altLang="en-US" sz="4800" b="1" dirty="0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E4ECAAC8-2584-C18E-5EA5-61C4C2D9D997}"/>
              </a:ext>
            </a:extLst>
          </p:cNvPr>
          <p:cNvSpPr txBox="1"/>
          <p:nvPr/>
        </p:nvSpPr>
        <p:spPr>
          <a:xfrm>
            <a:off x="6335664" y="3141306"/>
            <a:ext cx="3212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2&lt;5,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3&lt;10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D394438D-9FA3-AD61-C451-7D39527E528E}"/>
              </a:ext>
            </a:extLst>
          </p:cNvPr>
          <p:cNvSpPr txBox="1"/>
          <p:nvPr/>
        </p:nvSpPr>
        <p:spPr>
          <a:xfrm>
            <a:off x="2644290" y="2560398"/>
            <a:ext cx="41801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2400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左辺が右辺よりも小さい</a:t>
            </a:r>
            <a:endParaRPr kumimoji="1" lang="ja-JP" altLang="en-US" sz="2400" dirty="0"/>
          </a:p>
        </p:txBody>
      </p:sp>
      <p:sp>
        <p:nvSpPr>
          <p:cNvPr id="22" name="テキスト ボックス 21">
            <a:extLst>
              <a:ext uri="{FF2B5EF4-FFF2-40B4-BE49-F238E27FC236}">
                <a16:creationId xmlns:a16="http://schemas.microsoft.com/office/drawing/2014/main" id="{897CC70A-4D76-08D8-17E1-78CA9B35C2DD}"/>
              </a:ext>
            </a:extLst>
          </p:cNvPr>
          <p:cNvSpPr txBox="1"/>
          <p:nvPr/>
        </p:nvSpPr>
        <p:spPr>
          <a:xfrm>
            <a:off x="6335663" y="2373799"/>
            <a:ext cx="321204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5&gt;2,</a:t>
            </a:r>
            <a:r>
              <a:rPr lang="ja-JP" altLang="en-US" sz="4000" dirty="0">
                <a:latin typeface="Inter" panose="020B0600070205080204" charset="0"/>
                <a:ea typeface="Inter" panose="020B0600070205080204" charset="0"/>
              </a:rPr>
              <a:t> </a:t>
            </a:r>
            <a:r>
              <a:rPr lang="en-US" altLang="ja-JP" sz="4000" b="0" i="0" dirty="0">
                <a:effectLst/>
                <a:latin typeface="Inter" panose="020B0600070205080204" charset="0"/>
                <a:ea typeface="Inter" panose="020B0600070205080204" charset="0"/>
              </a:rPr>
              <a:t>10&gt;3</a:t>
            </a:r>
            <a:endParaRPr kumimoji="1" lang="ja-JP" altLang="en-US" sz="3200" dirty="0">
              <a:latin typeface="Inter" panose="020B060007020508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3" name="Google Shape;183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3908163"/>
            <a:ext cx="5238750" cy="714468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441714" y="2161992"/>
            <a:ext cx="523875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0" b="1" i="0" u="none" strike="noStrike" cap="none" dirty="0">
                <a:solidFill>
                  <a:srgbClr val="3B82F6"/>
                </a:solidFill>
                <a:latin typeface="Poppins"/>
                <a:ea typeface="Poppins"/>
                <a:cs typeface="Poppins"/>
                <a:sym typeface="Poppins"/>
              </a:rPr>
              <a:t>| X |</a:t>
            </a:r>
            <a:endParaRPr dirty="0"/>
          </a:p>
        </p:txBody>
      </p:sp>
      <p:sp>
        <p:nvSpPr>
          <p:cNvPr id="185" name="Google Shape;185;p20"/>
          <p:cNvSpPr txBox="1"/>
          <p:nvPr/>
        </p:nvSpPr>
        <p:spPr>
          <a:xfrm>
            <a:off x="441714" y="4042481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 dirty="0">
                <a:solidFill>
                  <a:srgbClr val="0F172A"/>
                </a:solidFill>
                <a:latin typeface="Inter"/>
                <a:ea typeface="Inter"/>
                <a:cs typeface="Inter"/>
                <a:sym typeface="Inter"/>
              </a:rPr>
              <a:t>Distance from Zero</a:t>
            </a:r>
            <a:endParaRPr dirty="0"/>
          </a:p>
        </p:txBody>
      </p:sp>
      <p:sp>
        <p:nvSpPr>
          <p:cNvPr id="186" name="Google Shape;186;p20"/>
          <p:cNvSpPr txBox="1"/>
          <p:nvPr/>
        </p:nvSpPr>
        <p:spPr>
          <a:xfrm>
            <a:off x="5834063" y="1934546"/>
            <a:ext cx="5500687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「大きさ」を表す値</a:t>
            </a:r>
            <a:endParaRPr sz="3200" dirty="0"/>
          </a:p>
        </p:txBody>
      </p:sp>
      <p:sp>
        <p:nvSpPr>
          <p:cNvPr id="187" name="Google Shape;187;p20"/>
          <p:cNvSpPr txBox="1"/>
          <p:nvPr/>
        </p:nvSpPr>
        <p:spPr>
          <a:xfrm>
            <a:off x="6293259" y="2721022"/>
            <a:ext cx="5238750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『0 からどれだけ離れているか』を表す値です。</a:t>
            </a:r>
          </a:p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「大きさ」と表現されることもあります。</a:t>
            </a:r>
            <a:endParaRPr sz="1800" dirty="0"/>
          </a:p>
        </p:txBody>
      </p:sp>
      <p:sp>
        <p:nvSpPr>
          <p:cNvPr id="189" name="Google Shape;189;p20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絶対値</a:t>
            </a:r>
            <a:endParaRPr/>
          </a:p>
        </p:txBody>
      </p:sp>
      <p:sp>
        <p:nvSpPr>
          <p:cNvPr id="190" name="Google Shape;190;p20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0EE251A0-951D-2E39-54D0-F2E9D528C44A}"/>
              </a:ext>
            </a:extLst>
          </p:cNvPr>
          <p:cNvSpPr txBox="1"/>
          <p:nvPr/>
        </p:nvSpPr>
        <p:spPr>
          <a:xfrm>
            <a:off x="7455863" y="4003787"/>
            <a:ext cx="266743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/>
              <a:t>∣</a:t>
            </a:r>
            <a:r>
              <a:rPr lang="en-US" altLang="ja-JP" sz="2800" dirty="0"/>
              <a:t>6∣=6,  ∣−6∣=6</a:t>
            </a:r>
            <a:endParaRPr kumimoji="1" lang="ja-JP" altLang="en-US" sz="2800" dirty="0"/>
          </a:p>
        </p:txBody>
      </p: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484C4E73-301A-F78A-8E07-D20076E83069}"/>
              </a:ext>
            </a:extLst>
          </p:cNvPr>
          <p:cNvCxnSpPr/>
          <p:nvPr/>
        </p:nvCxnSpPr>
        <p:spPr>
          <a:xfrm>
            <a:off x="2719549" y="5595457"/>
            <a:ext cx="631691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D949FC57-5286-EFE7-F6E1-07DDAEEF2033}"/>
              </a:ext>
            </a:extLst>
          </p:cNvPr>
          <p:cNvSpPr txBox="1"/>
          <p:nvPr/>
        </p:nvSpPr>
        <p:spPr>
          <a:xfrm>
            <a:off x="5593952" y="5595457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0</a:t>
            </a:r>
            <a:endParaRPr kumimoji="1" lang="ja-JP" altLang="en-US" dirty="0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777A4F6-0349-311B-EF66-61743067E4DB}"/>
              </a:ext>
            </a:extLst>
          </p:cNvPr>
          <p:cNvSpPr txBox="1"/>
          <p:nvPr/>
        </p:nvSpPr>
        <p:spPr>
          <a:xfrm>
            <a:off x="8715375" y="5574490"/>
            <a:ext cx="2840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6</a:t>
            </a:r>
            <a:endParaRPr kumimoji="1" lang="ja-JP" altLang="en-US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73B8DC3-0464-9440-5293-1A4539AF0ECE}"/>
              </a:ext>
            </a:extLst>
          </p:cNvPr>
          <p:cNvSpPr txBox="1"/>
          <p:nvPr/>
        </p:nvSpPr>
        <p:spPr>
          <a:xfrm>
            <a:off x="2719549" y="5616425"/>
            <a:ext cx="3433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-6</a:t>
            </a:r>
            <a:endParaRPr kumimoji="1" lang="ja-JP" alt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インク 8">
                <a:extLst>
                  <a:ext uri="{FF2B5EF4-FFF2-40B4-BE49-F238E27FC236}">
                    <a16:creationId xmlns:a16="http://schemas.microsoft.com/office/drawing/2014/main" id="{1BAA5D2B-ACE9-9572-DBB0-721EDAB3B956}"/>
                  </a:ext>
                </a:extLst>
              </p14:cNvPr>
              <p14:cNvContentPartPr/>
              <p14:nvPr/>
            </p14:nvContentPartPr>
            <p14:xfrm>
              <a:off x="3011631" y="5699903"/>
              <a:ext cx="2642040" cy="261000"/>
            </p14:xfrm>
          </p:contentPart>
        </mc:Choice>
        <mc:Fallback xmlns="">
          <p:pic>
            <p:nvPicPr>
              <p:cNvPr id="9" name="インク 8">
                <a:extLst>
                  <a:ext uri="{FF2B5EF4-FFF2-40B4-BE49-F238E27FC236}">
                    <a16:creationId xmlns:a16="http://schemas.microsoft.com/office/drawing/2014/main" id="{1BAA5D2B-ACE9-9572-DBB0-721EDAB3B95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005511" y="5693783"/>
                <a:ext cx="265428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インク 9">
                <a:extLst>
                  <a:ext uri="{FF2B5EF4-FFF2-40B4-BE49-F238E27FC236}">
                    <a16:creationId xmlns:a16="http://schemas.microsoft.com/office/drawing/2014/main" id="{BF101EFE-4C30-D854-9413-2341EF019BB4}"/>
                  </a:ext>
                </a:extLst>
              </p14:cNvPr>
              <p14:cNvContentPartPr/>
              <p14:nvPr/>
            </p14:nvContentPartPr>
            <p14:xfrm>
              <a:off x="4122591" y="6103823"/>
              <a:ext cx="169560" cy="260640"/>
            </p14:xfrm>
          </p:contentPart>
        </mc:Choice>
        <mc:Fallback xmlns="">
          <p:pic>
            <p:nvPicPr>
              <p:cNvPr id="10" name="インク 9">
                <a:extLst>
                  <a:ext uri="{FF2B5EF4-FFF2-40B4-BE49-F238E27FC236}">
                    <a16:creationId xmlns:a16="http://schemas.microsoft.com/office/drawing/2014/main" id="{BF101EFE-4C30-D854-9413-2341EF019B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116471" y="6097703"/>
                <a:ext cx="181800" cy="27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3" name="グループ化 12">
            <a:extLst>
              <a:ext uri="{FF2B5EF4-FFF2-40B4-BE49-F238E27FC236}">
                <a16:creationId xmlns:a16="http://schemas.microsoft.com/office/drawing/2014/main" id="{03F94794-328E-FA47-FAAA-9E9A0CB92E9C}"/>
              </a:ext>
            </a:extLst>
          </p:cNvPr>
          <p:cNvGrpSpPr/>
          <p:nvPr/>
        </p:nvGrpSpPr>
        <p:grpSpPr>
          <a:xfrm>
            <a:off x="5850951" y="5639423"/>
            <a:ext cx="2888280" cy="737280"/>
            <a:chOff x="5850951" y="5639423"/>
            <a:chExt cx="2888280" cy="73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1" name="インク 10">
                  <a:extLst>
                    <a:ext uri="{FF2B5EF4-FFF2-40B4-BE49-F238E27FC236}">
                      <a16:creationId xmlns:a16="http://schemas.microsoft.com/office/drawing/2014/main" id="{C662C68F-8C86-9B9B-CCC4-50C72254F9BD}"/>
                    </a:ext>
                  </a:extLst>
                </p14:cNvPr>
                <p14:cNvContentPartPr/>
                <p14:nvPr/>
              </p14:nvContentPartPr>
              <p14:xfrm>
                <a:off x="5850951" y="5639423"/>
                <a:ext cx="2888280" cy="368280"/>
              </p14:xfrm>
            </p:contentPart>
          </mc:Choice>
          <mc:Fallback xmlns="">
            <p:pic>
              <p:nvPicPr>
                <p:cNvPr id="11" name="インク 10">
                  <a:extLst>
                    <a:ext uri="{FF2B5EF4-FFF2-40B4-BE49-F238E27FC236}">
                      <a16:creationId xmlns:a16="http://schemas.microsoft.com/office/drawing/2014/main" id="{C662C68F-8C86-9B9B-CCC4-50C72254F9BD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844831" y="5633303"/>
                  <a:ext cx="2900520" cy="38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2" name="インク 11">
                  <a:extLst>
                    <a:ext uri="{FF2B5EF4-FFF2-40B4-BE49-F238E27FC236}">
                      <a16:creationId xmlns:a16="http://schemas.microsoft.com/office/drawing/2014/main" id="{05F27AEB-0883-2494-81C7-4E79494E4AC0}"/>
                    </a:ext>
                  </a:extLst>
                </p14:cNvPr>
                <p14:cNvContentPartPr/>
                <p14:nvPr/>
              </p14:nvContentPartPr>
              <p14:xfrm>
                <a:off x="7231191" y="6148823"/>
                <a:ext cx="130320" cy="227880"/>
              </p14:xfrm>
            </p:contentPart>
          </mc:Choice>
          <mc:Fallback xmlns="">
            <p:pic>
              <p:nvPicPr>
                <p:cNvPr id="12" name="インク 11">
                  <a:extLst>
                    <a:ext uri="{FF2B5EF4-FFF2-40B4-BE49-F238E27FC236}">
                      <a16:creationId xmlns:a16="http://schemas.microsoft.com/office/drawing/2014/main" id="{05F27AEB-0883-2494-81C7-4E79494E4A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7225071" y="6142703"/>
                  <a:ext cx="142560" cy="24012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7"/>
          <p:cNvSpPr/>
          <p:nvPr/>
        </p:nvSpPr>
        <p:spPr>
          <a:xfrm>
            <a:off x="704180" y="2358078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7"/>
          <p:cNvSpPr txBox="1"/>
          <p:nvPr/>
        </p:nvSpPr>
        <p:spPr>
          <a:xfrm>
            <a:off x="704180" y="2723600"/>
            <a:ext cx="25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2</a:t>
            </a:r>
            <a:endParaRPr dirty="0"/>
          </a:p>
        </p:txBody>
      </p:sp>
      <p:sp>
        <p:nvSpPr>
          <p:cNvPr id="153" name="Google Shape;153;p17"/>
          <p:cNvSpPr/>
          <p:nvPr/>
        </p:nvSpPr>
        <p:spPr>
          <a:xfrm>
            <a:off x="704180" y="3249856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7"/>
          <p:cNvSpPr/>
          <p:nvPr/>
        </p:nvSpPr>
        <p:spPr>
          <a:xfrm>
            <a:off x="704180" y="4141634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704180" y="4523705"/>
            <a:ext cx="25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4</a:t>
            </a:r>
          </a:p>
        </p:txBody>
      </p:sp>
      <p:sp>
        <p:nvSpPr>
          <p:cNvPr id="161" name="Google Shape;161;p17"/>
          <p:cNvSpPr/>
          <p:nvPr/>
        </p:nvSpPr>
        <p:spPr>
          <a:xfrm>
            <a:off x="704180" y="5046509"/>
            <a:ext cx="5048250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7"/>
          <p:cNvSpPr txBox="1"/>
          <p:nvPr/>
        </p:nvSpPr>
        <p:spPr>
          <a:xfrm>
            <a:off x="704180" y="1878851"/>
            <a:ext cx="9525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2400" dirty="0"/>
          </a:p>
        </p:txBody>
      </p:sp>
      <p:sp>
        <p:nvSpPr>
          <p:cNvPr id="172" name="Google Shape;172;p17"/>
          <p:cNvSpPr txBox="1"/>
          <p:nvPr/>
        </p:nvSpPr>
        <p:spPr>
          <a:xfrm>
            <a:off x="704180" y="3691072"/>
            <a:ext cx="1428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3</a:t>
            </a:r>
            <a:endParaRPr sz="2400" dirty="0"/>
          </a:p>
        </p:txBody>
      </p:sp>
      <p:sp>
        <p:nvSpPr>
          <p:cNvPr id="180" name="Google Shape;180;p17"/>
          <p:cNvSpPr txBox="1"/>
          <p:nvPr/>
        </p:nvSpPr>
        <p:spPr>
          <a:xfrm>
            <a:off x="790575" y="57298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不等式・絶対値：演習</a:t>
            </a:r>
            <a:endParaRPr lang="ja-JP" altLang="en-US" dirty="0"/>
          </a:p>
        </p:txBody>
      </p:sp>
      <p:sp>
        <p:nvSpPr>
          <p:cNvPr id="181" name="Google Shape;181;p17"/>
          <p:cNvSpPr/>
          <p:nvPr/>
        </p:nvSpPr>
        <p:spPr>
          <a:xfrm>
            <a:off x="571500" y="458689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160;p17">
            <a:extLst>
              <a:ext uri="{FF2B5EF4-FFF2-40B4-BE49-F238E27FC236}">
                <a16:creationId xmlns:a16="http://schemas.microsoft.com/office/drawing/2014/main" id="{23DF22AC-36FD-4524-AA14-E265B4EE771A}"/>
              </a:ext>
            </a:extLst>
          </p:cNvPr>
          <p:cNvSpPr txBox="1"/>
          <p:nvPr/>
        </p:nvSpPr>
        <p:spPr>
          <a:xfrm>
            <a:off x="6766029" y="1817296"/>
            <a:ext cx="257175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>
                <a:solidFill>
                  <a:srgbClr val="3B82F6"/>
                </a:solidFill>
                <a:latin typeface="Inter"/>
                <a:ea typeface="Inter"/>
                <a:sym typeface="Inter"/>
              </a:rPr>
              <a:t>5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B0138777-52ED-43C4-9A8F-DE018E053343}"/>
              </a:ext>
            </a:extLst>
          </p:cNvPr>
          <p:cNvSpPr txBox="1"/>
          <p:nvPr/>
        </p:nvSpPr>
        <p:spPr>
          <a:xfrm>
            <a:off x="7089879" y="1878851"/>
            <a:ext cx="48526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dirty="0"/>
              <a:t>以下の数値から、絶対値が等しい組み合わせを全て選べ。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5A3A264-EDD2-45B7-882C-81EDE12EE698}"/>
                  </a:ext>
                </a:extLst>
              </p:cNvPr>
              <p:cNvSpPr txBox="1"/>
              <p:nvPr/>
            </p:nvSpPr>
            <p:spPr>
              <a:xfrm>
                <a:off x="7089879" y="2875123"/>
                <a:ext cx="4305300" cy="10143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−8,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8,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kumimoji="1" lang="ja-JP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4</m:t>
                          </m:r>
                        </m:den>
                      </m:f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kumimoji="1" lang="ja-JP" altLang="en-US" sz="3200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kumimoji="1" lang="ja-JP" altLang="en-US" sz="320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kumimoji="1" lang="ja-JP" altLang="en-US" sz="3200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kumimoji="1" lang="en-US" altLang="ja-JP" sz="3200" b="0" i="1" smtClean="0">
                          <a:latin typeface="Cambria Math" panose="02040503050406030204" pitchFamily="18" charset="0"/>
                        </a:rPr>
                        <m:t>1,7,−6</m:t>
                      </m:r>
                    </m:oMath>
                  </m:oMathPara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65A3A264-EDD2-45B7-882C-81EDE12EE6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89879" y="2875123"/>
                <a:ext cx="4305300" cy="1014317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C3F6E1-E125-44EB-8C73-5250ED27D250}"/>
              </a:ext>
            </a:extLst>
          </p:cNvPr>
          <p:cNvSpPr txBox="1"/>
          <p:nvPr/>
        </p:nvSpPr>
        <p:spPr>
          <a:xfrm>
            <a:off x="1637630" y="171104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4</a:t>
            </a:r>
            <a:endParaRPr kumimoji="1" lang="ja-JP" altLang="en-US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BAD3689D-52BE-4647-B4E6-BA9328E05F02}"/>
              </a:ext>
            </a:extLst>
          </p:cNvPr>
          <p:cNvSpPr txBox="1"/>
          <p:nvPr/>
        </p:nvSpPr>
        <p:spPr>
          <a:xfrm>
            <a:off x="4069222" y="1673202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5</a:t>
            </a:r>
            <a:endParaRPr kumimoji="1" lang="ja-JP" altLang="en-US" dirty="0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AFFC2E51-0721-4041-B304-C6EF7134ED03}"/>
              </a:ext>
            </a:extLst>
          </p:cNvPr>
          <p:cNvSpPr/>
          <p:nvPr/>
        </p:nvSpPr>
        <p:spPr>
          <a:xfrm>
            <a:off x="2561555" y="1739102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A0225D33-6A1A-4ACF-BCD7-37B51287B387}"/>
              </a:ext>
            </a:extLst>
          </p:cNvPr>
          <p:cNvSpPr txBox="1"/>
          <p:nvPr/>
        </p:nvSpPr>
        <p:spPr>
          <a:xfrm>
            <a:off x="1637630" y="2625552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7</a:t>
            </a:r>
            <a:endParaRPr kumimoji="1" lang="ja-JP" altLang="en-US" dirty="0"/>
          </a:p>
        </p:txBody>
      </p:sp>
      <p:sp>
        <p:nvSpPr>
          <p:cNvPr id="38" name="テキスト ボックス 37">
            <a:extLst>
              <a:ext uri="{FF2B5EF4-FFF2-40B4-BE49-F238E27FC236}">
                <a16:creationId xmlns:a16="http://schemas.microsoft.com/office/drawing/2014/main" id="{1AB9A690-3F9E-472B-8D53-24E376281D39}"/>
              </a:ext>
            </a:extLst>
          </p:cNvPr>
          <p:cNvSpPr txBox="1"/>
          <p:nvPr/>
        </p:nvSpPr>
        <p:spPr>
          <a:xfrm>
            <a:off x="4069222" y="2587705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8</a:t>
            </a:r>
            <a:endParaRPr kumimoji="1" lang="ja-JP" altLang="en-US" dirty="0"/>
          </a:p>
        </p:txBody>
      </p:sp>
      <p:sp>
        <p:nvSpPr>
          <p:cNvPr id="39" name="正方形/長方形 38">
            <a:extLst>
              <a:ext uri="{FF2B5EF4-FFF2-40B4-BE49-F238E27FC236}">
                <a16:creationId xmlns:a16="http://schemas.microsoft.com/office/drawing/2014/main" id="{1F6DBAAC-4381-446F-9838-A24CAF447394}"/>
              </a:ext>
            </a:extLst>
          </p:cNvPr>
          <p:cNvSpPr/>
          <p:nvPr/>
        </p:nvSpPr>
        <p:spPr>
          <a:xfrm>
            <a:off x="2561555" y="2653605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0" name="テキスト ボックス 39">
            <a:extLst>
              <a:ext uri="{FF2B5EF4-FFF2-40B4-BE49-F238E27FC236}">
                <a16:creationId xmlns:a16="http://schemas.microsoft.com/office/drawing/2014/main" id="{3CF1A7C9-5622-4ADF-BCCC-7F901B342797}"/>
              </a:ext>
            </a:extLst>
          </p:cNvPr>
          <p:cNvSpPr txBox="1"/>
          <p:nvPr/>
        </p:nvSpPr>
        <p:spPr>
          <a:xfrm>
            <a:off x="1636958" y="3483086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2</a:t>
            </a:r>
            <a:endParaRPr kumimoji="1" lang="ja-JP" altLang="en-US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5A2384AA-6D63-49C3-8F7E-1D805A034FDD}"/>
              </a:ext>
            </a:extLst>
          </p:cNvPr>
          <p:cNvSpPr txBox="1"/>
          <p:nvPr/>
        </p:nvSpPr>
        <p:spPr>
          <a:xfrm>
            <a:off x="4068550" y="344523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4</a:t>
            </a:r>
            <a:endParaRPr kumimoji="1" lang="ja-JP" altLang="en-US" dirty="0"/>
          </a:p>
        </p:txBody>
      </p:sp>
      <p:sp>
        <p:nvSpPr>
          <p:cNvPr id="42" name="正方形/長方形 41">
            <a:extLst>
              <a:ext uri="{FF2B5EF4-FFF2-40B4-BE49-F238E27FC236}">
                <a16:creationId xmlns:a16="http://schemas.microsoft.com/office/drawing/2014/main" id="{15A9EA1A-9BA8-4523-82AF-3D3C4149FBE5}"/>
              </a:ext>
            </a:extLst>
          </p:cNvPr>
          <p:cNvSpPr/>
          <p:nvPr/>
        </p:nvSpPr>
        <p:spPr>
          <a:xfrm>
            <a:off x="2560883" y="3511139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720E43ED-7787-4F59-B8DD-60F922D31911}"/>
              </a:ext>
            </a:extLst>
          </p:cNvPr>
          <p:cNvSpPr txBox="1"/>
          <p:nvPr/>
        </p:nvSpPr>
        <p:spPr>
          <a:xfrm>
            <a:off x="1636958" y="4347406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3</a:t>
            </a:r>
            <a:endParaRPr kumimoji="1" lang="ja-JP" altLang="en-US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26DE9005-F700-441E-9D8B-5FB72ACCF7C4}"/>
              </a:ext>
            </a:extLst>
          </p:cNvPr>
          <p:cNvSpPr txBox="1"/>
          <p:nvPr/>
        </p:nvSpPr>
        <p:spPr>
          <a:xfrm>
            <a:off x="4068550" y="4309559"/>
            <a:ext cx="41229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sz="3200" dirty="0"/>
              <a:t>1</a:t>
            </a:r>
            <a:endParaRPr kumimoji="1" lang="ja-JP" altLang="en-US" dirty="0"/>
          </a:p>
        </p:txBody>
      </p:sp>
      <p:sp>
        <p:nvSpPr>
          <p:cNvPr id="45" name="正方形/長方形 44">
            <a:extLst>
              <a:ext uri="{FF2B5EF4-FFF2-40B4-BE49-F238E27FC236}">
                <a16:creationId xmlns:a16="http://schemas.microsoft.com/office/drawing/2014/main" id="{50B18FFF-5443-425D-BDA4-EC1F57CC640D}"/>
              </a:ext>
            </a:extLst>
          </p:cNvPr>
          <p:cNvSpPr/>
          <p:nvPr/>
        </p:nvSpPr>
        <p:spPr>
          <a:xfrm>
            <a:off x="2560883" y="4375459"/>
            <a:ext cx="1209675" cy="534948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40634052-BF64-4D35-BE06-AA6AFCD083F9}"/>
              </a:ext>
            </a:extLst>
          </p:cNvPr>
          <p:cNvSpPr txBox="1"/>
          <p:nvPr/>
        </p:nvSpPr>
        <p:spPr>
          <a:xfrm>
            <a:off x="4708487" y="3715138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≧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≦を入れよ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B837AF8F-DA52-4E77-A0A5-FB398DB9F451}"/>
              </a:ext>
            </a:extLst>
          </p:cNvPr>
          <p:cNvSpPr txBox="1"/>
          <p:nvPr/>
        </p:nvSpPr>
        <p:spPr>
          <a:xfrm>
            <a:off x="4677866" y="4512081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≧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≦を入れよ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  <p:sp>
        <p:nvSpPr>
          <p:cNvPr id="48" name="テキスト ボックス 47">
            <a:extLst>
              <a:ext uri="{FF2B5EF4-FFF2-40B4-BE49-F238E27FC236}">
                <a16:creationId xmlns:a16="http://schemas.microsoft.com/office/drawing/2014/main" id="{9E5B5C8E-D17E-4B2B-856A-61C5F0C13B73}"/>
              </a:ext>
            </a:extLst>
          </p:cNvPr>
          <p:cNvSpPr txBox="1"/>
          <p:nvPr/>
        </p:nvSpPr>
        <p:spPr>
          <a:xfrm>
            <a:off x="4677866" y="2819221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＞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＜を入れよ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  <p:sp>
        <p:nvSpPr>
          <p:cNvPr id="49" name="テキスト ボックス 48">
            <a:extLst>
              <a:ext uri="{FF2B5EF4-FFF2-40B4-BE49-F238E27FC236}">
                <a16:creationId xmlns:a16="http://schemas.microsoft.com/office/drawing/2014/main" id="{BF5D76AB-2328-493F-BBB9-05C1E41AB954}"/>
              </a:ext>
            </a:extLst>
          </p:cNvPr>
          <p:cNvSpPr txBox="1"/>
          <p:nvPr/>
        </p:nvSpPr>
        <p:spPr>
          <a:xfrm>
            <a:off x="4658959" y="1914867"/>
            <a:ext cx="17678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1800" b="1" dirty="0">
                <a:solidFill>
                  <a:schemeClr val="tx1"/>
                </a:solidFill>
              </a:rPr>
              <a:t>＞</a:t>
            </a:r>
            <a:r>
              <a:rPr lang="en-US" altLang="ja-JP" sz="1800" b="1" dirty="0">
                <a:solidFill>
                  <a:schemeClr val="tx1"/>
                </a:solidFill>
              </a:rPr>
              <a:t>,</a:t>
            </a:r>
            <a:r>
              <a:rPr lang="ja-JP" altLang="en-US" sz="1800" b="1" dirty="0">
                <a:solidFill>
                  <a:schemeClr val="tx1"/>
                </a:solidFill>
              </a:rPr>
              <a:t> ＜を入れよ</a:t>
            </a:r>
            <a:endParaRPr kumimoji="1" lang="ja-JP" altLang="en-US" sz="1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08420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2D6F0E38-3E0D-21C0-61E9-219D1D975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E86AF93B-AD38-57EA-7AAB-A98ABBE2C11E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78E33A07-10C6-1647-2814-D5CA65A4ED01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乗数</a:t>
            </a: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・</a:t>
            </a:r>
            <a:r>
              <a:rPr lang="ja-JP" altLang="en-US" sz="54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平方根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080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7" name="Google Shape;197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807940"/>
            <a:ext cx="5238750" cy="621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62712" y="2825575"/>
            <a:ext cx="5238750" cy="63534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/>
        </p:nvSpPr>
        <p:spPr>
          <a:xfrm>
            <a:off x="595313" y="1635538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2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乗数</a:t>
            </a:r>
            <a:endParaRPr sz="2800" dirty="0"/>
          </a:p>
        </p:txBody>
      </p:sp>
      <p:sp>
        <p:nvSpPr>
          <p:cNvPr id="200" name="Google Shape;200;p21"/>
          <p:cNvSpPr txBox="1"/>
          <p:nvPr/>
        </p:nvSpPr>
        <p:spPr>
          <a:xfrm>
            <a:off x="571500" y="230505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同じ数をいくつかかけ合わせたものです。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6462712" y="1564477"/>
            <a:ext cx="5500687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平方根(</a:t>
            </a:r>
            <a:r>
              <a:rPr lang="ja-JP" altLang="en-US" sz="2800" b="1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ルート</a:t>
            </a:r>
            <a:r>
              <a:rPr lang="en-US" sz="28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)</a:t>
            </a:r>
            <a:endParaRPr sz="2800" dirty="0"/>
          </a:p>
        </p:txBody>
      </p:sp>
      <p:sp>
        <p:nvSpPr>
          <p:cNvPr id="202" name="Google Shape;202;p21"/>
          <p:cNvSpPr txBox="1"/>
          <p:nvPr/>
        </p:nvSpPr>
        <p:spPr>
          <a:xfrm>
            <a:off x="6884215" y="2305050"/>
            <a:ext cx="5238750" cy="2933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2乗すると、ある数Xになる数字です。</a:t>
            </a:r>
            <a:endParaRPr dirty="0"/>
          </a:p>
        </p:txBody>
      </p:sp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63523" y="2966152"/>
            <a:ext cx="4857750" cy="240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62712" y="2952608"/>
            <a:ext cx="4857750" cy="254347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762000" y="571500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乗数</a:t>
            </a: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と平方根</a:t>
            </a:r>
            <a:endParaRPr dirty="0"/>
          </a:p>
        </p:txBody>
      </p:sp>
      <p:sp>
        <p:nvSpPr>
          <p:cNvPr id="207" name="Google Shape;207;p21"/>
          <p:cNvSpPr/>
          <p:nvPr/>
        </p:nvSpPr>
        <p:spPr>
          <a:xfrm>
            <a:off x="577168" y="487526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583B44E-7885-01E8-B57A-6256AC907A1B}"/>
                  </a:ext>
                </a:extLst>
              </p:cNvPr>
              <p:cNvSpPr txBox="1"/>
              <p:nvPr/>
            </p:nvSpPr>
            <p:spPr>
              <a:xfrm>
                <a:off x="762000" y="3797505"/>
                <a:ext cx="279912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200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ja-JP" sz="320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kumimoji="1" lang="en-US" altLang="ja-JP" sz="3200" dirty="0">
                    <a:latin typeface="Inter" panose="020B0600070205080204" charset="0"/>
                  </a:rPr>
                  <a:t> = 2 * 2 * 2</a:t>
                </a:r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3" name="テキスト ボックス 2">
                <a:extLst>
                  <a:ext uri="{FF2B5EF4-FFF2-40B4-BE49-F238E27FC236}">
                    <a16:creationId xmlns:a16="http://schemas.microsoft.com/office/drawing/2014/main" id="{5583B44E-7885-01E8-B57A-6256AC907A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3797505"/>
                <a:ext cx="2799127" cy="584775"/>
              </a:xfrm>
              <a:prstGeom prst="rect">
                <a:avLst/>
              </a:prstGeom>
              <a:blipFill>
                <a:blip r:embed="rId7"/>
                <a:stretch>
                  <a:fillRect t="-13542" r="-1961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B227D5E-2C6C-CC8C-98FF-AEB8ADAB1543}"/>
                  </a:ext>
                </a:extLst>
              </p:cNvPr>
              <p:cNvSpPr txBox="1"/>
              <p:nvPr/>
            </p:nvSpPr>
            <p:spPr>
              <a:xfrm>
                <a:off x="762000" y="4662969"/>
                <a:ext cx="1704363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3200" dirty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kumimoji="1" lang="en-US" altLang="ja-JP" sz="3200" b="0" i="0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p>
                    </m:sSup>
                  </m:oMath>
                </a14:m>
                <a:r>
                  <a:rPr kumimoji="1" lang="en-US" altLang="ja-JP" sz="3200" dirty="0">
                    <a:latin typeface="Inter" panose="020B0600070205080204" charset="0"/>
                  </a:rPr>
                  <a:t> = 1</a:t>
                </a:r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4" name="テキスト ボックス 3">
                <a:extLst>
                  <a:ext uri="{FF2B5EF4-FFF2-40B4-BE49-F238E27FC236}">
                    <a16:creationId xmlns:a16="http://schemas.microsoft.com/office/drawing/2014/main" id="{DB227D5E-2C6C-CC8C-98FF-AEB8ADAB15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00" y="4662969"/>
                <a:ext cx="1704363" cy="584775"/>
              </a:xfrm>
              <a:prstGeom prst="rect">
                <a:avLst/>
              </a:prstGeom>
              <a:blipFill>
                <a:blip r:embed="rId8"/>
                <a:stretch>
                  <a:fillRect t="-13542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59BCABE-6519-7535-4C7A-55E6ED09C822}"/>
              </a:ext>
            </a:extLst>
          </p:cNvPr>
          <p:cNvSpPr txBox="1"/>
          <p:nvPr/>
        </p:nvSpPr>
        <p:spPr>
          <a:xfrm>
            <a:off x="3972187" y="3936003"/>
            <a:ext cx="15103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</a:t>
            </a:r>
            <a:r>
              <a:rPr kumimoji="1" lang="en-US" altLang="ja-JP" dirty="0"/>
              <a:t>2</a:t>
            </a:r>
            <a:r>
              <a:rPr kumimoji="1" lang="ja-JP" altLang="en-US" dirty="0"/>
              <a:t>の</a:t>
            </a:r>
            <a:r>
              <a:rPr kumimoji="1" lang="en-US" altLang="ja-JP" dirty="0"/>
              <a:t>3</a:t>
            </a:r>
            <a:r>
              <a:rPr kumimoji="1" lang="ja-JP" altLang="en-US" dirty="0"/>
              <a:t>乗と読む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F6676176-0DEB-9B3B-D45F-2C1A54CB099F}"/>
              </a:ext>
            </a:extLst>
          </p:cNvPr>
          <p:cNvSpPr txBox="1"/>
          <p:nvPr/>
        </p:nvSpPr>
        <p:spPr>
          <a:xfrm>
            <a:off x="4061955" y="4801467"/>
            <a:ext cx="13308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</a:t>
            </a:r>
            <a:r>
              <a:rPr kumimoji="1" lang="en-US" altLang="ja-JP" dirty="0"/>
              <a:t>0</a:t>
            </a:r>
            <a:r>
              <a:rPr kumimoji="1" lang="ja-JP" altLang="en-US" dirty="0"/>
              <a:t>乗は必ず</a:t>
            </a:r>
            <a:r>
              <a:rPr kumimoji="1" lang="en-US" altLang="ja-JP" dirty="0"/>
              <a:t>1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81000A3-A5D7-2971-EDF1-9CCBDA6E0FB0}"/>
                  </a:ext>
                </a:extLst>
              </p:cNvPr>
              <p:cNvSpPr txBox="1"/>
              <p:nvPr/>
            </p:nvSpPr>
            <p:spPr>
              <a:xfrm>
                <a:off x="6946738" y="3681205"/>
                <a:ext cx="2799127" cy="654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3200" dirty="0"/>
                  <a:t>3 =</a:t>
                </a:r>
                <a14:m>
                  <m:oMath xmlns:m="http://schemas.openxmlformats.org/officeDocument/2006/math">
                    <m:r>
                      <a:rPr kumimoji="1" lang="en-US" altLang="ja-JP" sz="3200" b="0" i="0" dirty="0" smtClean="0">
                        <a:latin typeface="Cambria Math" panose="02040503050406030204" pitchFamily="18" charset="0"/>
                      </a:rPr>
                      <m:t> </m:t>
                    </m:r>
                    <m:rad>
                      <m:radPr>
                        <m:degHide m:val="on"/>
                        <m:ctrlPr>
                          <a:rPr kumimoji="1" lang="en-US" altLang="ja-JP" sz="3200" i="1" dirty="0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32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r>
                      <a:rPr kumimoji="1" lang="en-US" altLang="ja-JP" sz="3200" b="0" i="1" dirty="0" smtClean="0">
                        <a:latin typeface="Cambria Math" panose="02040503050406030204" pitchFamily="18" charset="0"/>
                      </a:rPr>
                      <m:t> ∗</m:t>
                    </m:r>
                    <m:rad>
                      <m:radPr>
                        <m:degHide m:val="on"/>
                        <m:ctrlPr>
                          <a:rPr kumimoji="1" lang="en-US" altLang="ja-JP" sz="3200" i="1" dirty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kumimoji="1" lang="en-US" altLang="ja-JP" sz="3200" b="0" i="0" dirty="0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981000A3-A5D7-2971-EDF1-9CCBDA6E0F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46738" y="3681205"/>
                <a:ext cx="2799127" cy="654025"/>
              </a:xfrm>
              <a:prstGeom prst="rect">
                <a:avLst/>
              </a:prstGeom>
              <a:blipFill>
                <a:blip r:embed="rId9"/>
                <a:stretch>
                  <a:fillRect l="-5664" t="-5607" b="-2616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38E8437-A7A4-863D-C688-15C768C898E4}"/>
              </a:ext>
            </a:extLst>
          </p:cNvPr>
          <p:cNvSpPr txBox="1"/>
          <p:nvPr/>
        </p:nvSpPr>
        <p:spPr>
          <a:xfrm>
            <a:off x="9346349" y="3894028"/>
            <a:ext cx="26661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全ての数は√の掛け算になる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1158CF7-2945-45CE-CF7E-07D92551FFD7}"/>
                  </a:ext>
                </a:extLst>
              </p:cNvPr>
              <p:cNvSpPr txBox="1"/>
              <p:nvPr/>
            </p:nvSpPr>
            <p:spPr>
              <a:xfrm>
                <a:off x="6096000" y="4565569"/>
                <a:ext cx="5087269" cy="77957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kumimoji="1" lang="en-US" altLang="ja-JP" sz="3200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2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ad>
                                <m:radPr>
                                  <m:degHide m:val="on"/>
                                  <m:ctrlPr>
                                    <a:rPr kumimoji="1" lang="en-US" altLang="ja-JP" sz="3200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kumimoji="1" lang="en-US" altLang="ja-JP" sz="3200" b="0" i="0" dirty="0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</m:e>
                          </m:d>
                        </m:e>
                        <m:sup>
                          <m:r>
                            <a:rPr kumimoji="1" lang="en-US" altLang="ja-JP" sz="3200" b="0" i="0" dirty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kumimoji="1" lang="en-US" altLang="ja-JP" sz="3200" b="0" i="0" dirty="0" smtClean="0">
                          <a:latin typeface="Cambria Math" panose="02040503050406030204" pitchFamily="18" charset="0"/>
                        </a:rPr>
                        <m:t>= </m:t>
                      </m:r>
                      <m:rad>
                        <m:radPr>
                          <m:degHide m:val="on"/>
                          <m:ctrlPr>
                            <a:rPr kumimoji="1" lang="en-US" altLang="ja-JP" sz="3200" i="1" dirty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3200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kumimoji="1" lang="en-US" altLang="ja-JP" sz="3200" b="0" i="1" dirty="0" smtClean="0">
                          <a:latin typeface="Cambria Math" panose="02040503050406030204" pitchFamily="18" charset="0"/>
                        </a:rPr>
                        <m:t> ∗</m:t>
                      </m:r>
                      <m:rad>
                        <m:radPr>
                          <m:degHide m:val="on"/>
                          <m:ctrlPr>
                            <a:rPr kumimoji="1" lang="en-US" altLang="ja-JP" sz="3200" i="1" dirty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kumimoji="1" lang="en-US" altLang="ja-JP" sz="3200" b="0" i="0" dirty="0" smtClean="0">
                              <a:latin typeface="Cambria Math" panose="02040503050406030204" pitchFamily="18" charset="0"/>
                            </a:rPr>
                            <m:t>3</m:t>
                          </m:r>
                        </m:e>
                      </m:rad>
                      <m:r>
                        <a:rPr kumimoji="1" lang="en-US" altLang="ja-JP" sz="3200" b="0" i="1" dirty="0" smtClean="0">
                          <a:latin typeface="Cambria Math" panose="02040503050406030204" pitchFamily="18" charset="0"/>
                        </a:rPr>
                        <m:t>=3</m:t>
                      </m:r>
                    </m:oMath>
                  </m:oMathPara>
                </a14:m>
                <a:endParaRPr kumimoji="1" lang="ja-JP" altLang="en-US" sz="3200" dirty="0">
                  <a:latin typeface="Inter" panose="020B0600070205080204" charset="0"/>
                </a:endParaRPr>
              </a:p>
            </p:txBody>
          </p:sp>
        </mc:Choice>
        <mc:Fallback xmlns="">
          <p:sp>
            <p:nvSpPr>
              <p:cNvPr id="9" name="テキスト ボックス 8">
                <a:extLst>
                  <a:ext uri="{FF2B5EF4-FFF2-40B4-BE49-F238E27FC236}">
                    <a16:creationId xmlns:a16="http://schemas.microsoft.com/office/drawing/2014/main" id="{D1158CF7-2945-45CE-CF7E-07D92551F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4565569"/>
                <a:ext cx="5087269" cy="779572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5072287-881D-87CA-B140-C565C0E43FC7}"/>
              </a:ext>
            </a:extLst>
          </p:cNvPr>
          <p:cNvSpPr txBox="1"/>
          <p:nvPr/>
        </p:nvSpPr>
        <p:spPr>
          <a:xfrm>
            <a:off x="9346349" y="5386067"/>
            <a:ext cx="284565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 √を２乗すると中身の数になる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"/>
          <p:cNvSpPr txBox="1"/>
          <p:nvPr/>
        </p:nvSpPr>
        <p:spPr>
          <a:xfrm>
            <a:off x="790575" y="572989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乗数・平方根：演習</a:t>
            </a:r>
            <a:endParaRPr lang="ja-JP" altLang="en-US" dirty="0"/>
          </a:p>
        </p:txBody>
      </p:sp>
      <p:sp>
        <p:nvSpPr>
          <p:cNvPr id="6" name="Google Shape;207;p21">
            <a:extLst>
              <a:ext uri="{FF2B5EF4-FFF2-40B4-BE49-F238E27FC236}">
                <a16:creationId xmlns:a16="http://schemas.microsoft.com/office/drawing/2014/main" id="{960019B4-918D-4513-B963-A20D3D6FC50A}"/>
              </a:ext>
            </a:extLst>
          </p:cNvPr>
          <p:cNvSpPr/>
          <p:nvPr/>
        </p:nvSpPr>
        <p:spPr>
          <a:xfrm>
            <a:off x="577168" y="487526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85;p13">
            <a:extLst>
              <a:ext uri="{FF2B5EF4-FFF2-40B4-BE49-F238E27FC236}">
                <a16:creationId xmlns:a16="http://schemas.microsoft.com/office/drawing/2014/main" id="{63A8F6B8-67B3-4A26-897D-9F52F52570DC}"/>
              </a:ext>
            </a:extLst>
          </p:cNvPr>
          <p:cNvSpPr txBox="1"/>
          <p:nvPr/>
        </p:nvSpPr>
        <p:spPr>
          <a:xfrm>
            <a:off x="790575" y="1753191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/>
          </a:p>
        </p:txBody>
      </p:sp>
      <p:sp>
        <p:nvSpPr>
          <p:cNvPr id="28" name="Google Shape;86;p13">
            <a:extLst>
              <a:ext uri="{FF2B5EF4-FFF2-40B4-BE49-F238E27FC236}">
                <a16:creationId xmlns:a16="http://schemas.microsoft.com/office/drawing/2014/main" id="{E34A10B3-2B4D-42D6-8467-61F7AEE92D14}"/>
              </a:ext>
            </a:extLst>
          </p:cNvPr>
          <p:cNvSpPr txBox="1"/>
          <p:nvPr/>
        </p:nvSpPr>
        <p:spPr>
          <a:xfrm>
            <a:off x="6696075" y="1753191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6</a:t>
            </a:r>
            <a:endParaRPr/>
          </a:p>
        </p:txBody>
      </p:sp>
      <p:sp>
        <p:nvSpPr>
          <p:cNvPr id="29" name="Google Shape;87;p13">
            <a:extLst>
              <a:ext uri="{FF2B5EF4-FFF2-40B4-BE49-F238E27FC236}">
                <a16:creationId xmlns:a16="http://schemas.microsoft.com/office/drawing/2014/main" id="{6FD2A61C-BA05-43EA-986C-DAA5A211296E}"/>
              </a:ext>
            </a:extLst>
          </p:cNvPr>
          <p:cNvSpPr txBox="1"/>
          <p:nvPr/>
        </p:nvSpPr>
        <p:spPr>
          <a:xfrm>
            <a:off x="790575" y="2640504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/>
          </a:p>
        </p:txBody>
      </p:sp>
      <p:sp>
        <p:nvSpPr>
          <p:cNvPr id="30" name="Google Shape;88;p13">
            <a:extLst>
              <a:ext uri="{FF2B5EF4-FFF2-40B4-BE49-F238E27FC236}">
                <a16:creationId xmlns:a16="http://schemas.microsoft.com/office/drawing/2014/main" id="{C4A8CE1C-3F3E-40A6-A8B3-74BCCDBDF881}"/>
              </a:ext>
            </a:extLst>
          </p:cNvPr>
          <p:cNvSpPr txBox="1"/>
          <p:nvPr/>
        </p:nvSpPr>
        <p:spPr>
          <a:xfrm>
            <a:off x="6696075" y="2640504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7</a:t>
            </a:r>
            <a:endParaRPr/>
          </a:p>
        </p:txBody>
      </p:sp>
      <p:sp>
        <p:nvSpPr>
          <p:cNvPr id="31" name="Google Shape;89;p13">
            <a:extLst>
              <a:ext uri="{FF2B5EF4-FFF2-40B4-BE49-F238E27FC236}">
                <a16:creationId xmlns:a16="http://schemas.microsoft.com/office/drawing/2014/main" id="{ECD47819-8A00-48CD-8158-F4B9BA5D1113}"/>
              </a:ext>
            </a:extLst>
          </p:cNvPr>
          <p:cNvSpPr txBox="1"/>
          <p:nvPr/>
        </p:nvSpPr>
        <p:spPr>
          <a:xfrm>
            <a:off x="790575" y="352781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/>
          </a:p>
        </p:txBody>
      </p:sp>
      <p:sp>
        <p:nvSpPr>
          <p:cNvPr id="32" name="Google Shape;90;p13">
            <a:extLst>
              <a:ext uri="{FF2B5EF4-FFF2-40B4-BE49-F238E27FC236}">
                <a16:creationId xmlns:a16="http://schemas.microsoft.com/office/drawing/2014/main" id="{759C03F4-435A-4C2E-BB52-D4B580AB2F95}"/>
              </a:ext>
            </a:extLst>
          </p:cNvPr>
          <p:cNvSpPr txBox="1"/>
          <p:nvPr/>
        </p:nvSpPr>
        <p:spPr>
          <a:xfrm>
            <a:off x="6696075" y="352781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8</a:t>
            </a:r>
            <a:endParaRPr/>
          </a:p>
        </p:txBody>
      </p:sp>
      <p:sp>
        <p:nvSpPr>
          <p:cNvPr id="33" name="Google Shape;91;p13">
            <a:extLst>
              <a:ext uri="{FF2B5EF4-FFF2-40B4-BE49-F238E27FC236}">
                <a16:creationId xmlns:a16="http://schemas.microsoft.com/office/drawing/2014/main" id="{B3C7B509-4A23-466E-98F3-E326983D47F8}"/>
              </a:ext>
            </a:extLst>
          </p:cNvPr>
          <p:cNvSpPr txBox="1"/>
          <p:nvPr/>
        </p:nvSpPr>
        <p:spPr>
          <a:xfrm>
            <a:off x="790575" y="4451743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4</a:t>
            </a:r>
            <a:endParaRPr/>
          </a:p>
        </p:txBody>
      </p:sp>
      <p:sp>
        <p:nvSpPr>
          <p:cNvPr id="34" name="Google Shape;92;p13">
            <a:extLst>
              <a:ext uri="{FF2B5EF4-FFF2-40B4-BE49-F238E27FC236}">
                <a16:creationId xmlns:a16="http://schemas.microsoft.com/office/drawing/2014/main" id="{DB17EFBC-AEDD-4E92-AE8A-CBC609134993}"/>
              </a:ext>
            </a:extLst>
          </p:cNvPr>
          <p:cNvSpPr txBox="1"/>
          <p:nvPr/>
        </p:nvSpPr>
        <p:spPr>
          <a:xfrm>
            <a:off x="6696075" y="4451743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9</a:t>
            </a:r>
            <a:endParaRPr/>
          </a:p>
        </p:txBody>
      </p:sp>
      <p:sp>
        <p:nvSpPr>
          <p:cNvPr id="35" name="Google Shape;93;p13">
            <a:extLst>
              <a:ext uri="{FF2B5EF4-FFF2-40B4-BE49-F238E27FC236}">
                <a16:creationId xmlns:a16="http://schemas.microsoft.com/office/drawing/2014/main" id="{3FC7143C-9BCD-415D-B34A-09F9C0DE0FBF}"/>
              </a:ext>
            </a:extLst>
          </p:cNvPr>
          <p:cNvSpPr txBox="1"/>
          <p:nvPr/>
        </p:nvSpPr>
        <p:spPr>
          <a:xfrm>
            <a:off x="790575" y="537566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5</a:t>
            </a:r>
            <a:endParaRPr/>
          </a:p>
        </p:txBody>
      </p:sp>
      <p:sp>
        <p:nvSpPr>
          <p:cNvPr id="36" name="Google Shape;94;p13">
            <a:extLst>
              <a:ext uri="{FF2B5EF4-FFF2-40B4-BE49-F238E27FC236}">
                <a16:creationId xmlns:a16="http://schemas.microsoft.com/office/drawing/2014/main" id="{BEFD8381-3734-4C9E-920C-CC8889D34D2D}"/>
              </a:ext>
            </a:extLst>
          </p:cNvPr>
          <p:cNvSpPr txBox="1"/>
          <p:nvPr/>
        </p:nvSpPr>
        <p:spPr>
          <a:xfrm>
            <a:off x="6696075" y="5375668"/>
            <a:ext cx="4762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3B82F6"/>
                </a:solidFill>
                <a:latin typeface="Inter"/>
                <a:ea typeface="Inter"/>
                <a:cs typeface="Inter"/>
                <a:sym typeface="Inter"/>
              </a:rPr>
              <a:t>10</a:t>
            </a:r>
            <a:endParaRPr/>
          </a:p>
        </p:txBody>
      </p:sp>
      <p:pic>
        <p:nvPicPr>
          <p:cNvPr id="37" name="Google Shape;95;p13" descr="image.png">
            <a:extLst>
              <a:ext uri="{FF2B5EF4-FFF2-40B4-BE49-F238E27FC236}">
                <a16:creationId xmlns:a16="http://schemas.microsoft.com/office/drawing/2014/main" id="{631CF160-0D56-42D4-B367-BD4A9C18A4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266825" y="1742922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38" name="Google Shape;96;p13" descr="image.png">
            <a:extLst>
              <a:ext uri="{FF2B5EF4-FFF2-40B4-BE49-F238E27FC236}">
                <a16:creationId xmlns:a16="http://schemas.microsoft.com/office/drawing/2014/main" id="{DC216920-080C-4006-90BC-A559D84C619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172325" y="1748726"/>
            <a:ext cx="819745" cy="3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" name="Google Shape;97;p13" descr="image.png">
            <a:extLst>
              <a:ext uri="{FF2B5EF4-FFF2-40B4-BE49-F238E27FC236}">
                <a16:creationId xmlns:a16="http://schemas.microsoft.com/office/drawing/2014/main" id="{F4067AB0-2471-4D5E-A29C-4190831C1A3A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66825" y="2630235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98;p13" descr="image.png">
            <a:extLst>
              <a:ext uri="{FF2B5EF4-FFF2-40B4-BE49-F238E27FC236}">
                <a16:creationId xmlns:a16="http://schemas.microsoft.com/office/drawing/2014/main" id="{516A4329-E4B7-497D-9704-974DD5A68A5C}"/>
              </a:ext>
            </a:extLst>
          </p:cNvPr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172325" y="2636039"/>
            <a:ext cx="1008161" cy="3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" name="Google Shape;99;p13" descr="image.png">
            <a:extLst>
              <a:ext uri="{FF2B5EF4-FFF2-40B4-BE49-F238E27FC236}">
                <a16:creationId xmlns:a16="http://schemas.microsoft.com/office/drawing/2014/main" id="{FE3567BF-123A-456C-877E-586E1C1E190A}"/>
              </a:ext>
            </a:extLst>
          </p:cNvPr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266825" y="3517548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100;p13" descr="image.png">
            <a:extLst>
              <a:ext uri="{FF2B5EF4-FFF2-40B4-BE49-F238E27FC236}">
                <a16:creationId xmlns:a16="http://schemas.microsoft.com/office/drawing/2014/main" id="{2ED3206F-2CBA-4477-A0C3-A41304E9D376}"/>
              </a:ext>
            </a:extLst>
          </p:cNvPr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172325" y="3523353"/>
            <a:ext cx="1196726" cy="33263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" name="Google Shape;101;p13" descr="image.png">
            <a:extLst>
              <a:ext uri="{FF2B5EF4-FFF2-40B4-BE49-F238E27FC236}">
                <a16:creationId xmlns:a16="http://schemas.microsoft.com/office/drawing/2014/main" id="{762774AD-4587-4133-90E3-37BC6245777D}"/>
              </a:ext>
            </a:extLst>
          </p:cNvPr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266825" y="4441473"/>
            <a:ext cx="1011435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102;p13" descr="image.png">
            <a:extLst>
              <a:ext uri="{FF2B5EF4-FFF2-40B4-BE49-F238E27FC236}">
                <a16:creationId xmlns:a16="http://schemas.microsoft.com/office/drawing/2014/main" id="{4FFD4EDC-B886-405E-8A38-0C8CBDDFD77F}"/>
              </a:ext>
            </a:extLst>
          </p:cNvPr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7172325" y="4404862"/>
            <a:ext cx="1029890" cy="417611"/>
          </a:xfrm>
          <a:prstGeom prst="rect">
            <a:avLst/>
          </a:prstGeom>
          <a:noFill/>
          <a:ln>
            <a:noFill/>
          </a:ln>
        </p:spPr>
      </p:pic>
      <p:pic>
        <p:nvPicPr>
          <p:cNvPr id="45" name="Google Shape;103;p13" descr="image.png">
            <a:extLst>
              <a:ext uri="{FF2B5EF4-FFF2-40B4-BE49-F238E27FC236}">
                <a16:creationId xmlns:a16="http://schemas.microsoft.com/office/drawing/2014/main" id="{F89D53CE-A59D-41DC-A2E9-3863253DDF7B}"/>
              </a:ext>
            </a:extLst>
          </p:cNvPr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1266825" y="5365398"/>
            <a:ext cx="823019" cy="344388"/>
          </a:xfrm>
          <a:prstGeom prst="rect">
            <a:avLst/>
          </a:prstGeom>
          <a:noFill/>
          <a:ln>
            <a:noFill/>
          </a:ln>
        </p:spPr>
      </p:pic>
      <p:pic>
        <p:nvPicPr>
          <p:cNvPr id="46" name="Google Shape;104;p13" descr="image.png">
            <a:extLst>
              <a:ext uri="{FF2B5EF4-FFF2-40B4-BE49-F238E27FC236}">
                <a16:creationId xmlns:a16="http://schemas.microsoft.com/office/drawing/2014/main" id="{969454F6-88DE-45AF-9357-BB89A4B7E662}"/>
              </a:ext>
            </a:extLst>
          </p:cNvPr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172325" y="5371203"/>
            <a:ext cx="1639490" cy="3326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7078567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0377EC6-4725-A956-CAA4-3703BCD32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1E005DDF-E333-5BD4-2DD7-FCAAB049F5E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644E7E44-A939-838A-8EA1-A276E907B8A5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累乗・累乗根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872203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2"/>
          <p:cNvSpPr txBox="1"/>
          <p:nvPr/>
        </p:nvSpPr>
        <p:spPr>
          <a:xfrm>
            <a:off x="666750" y="1592461"/>
            <a:ext cx="4657725" cy="430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累乗と平方根を拡張した概念です</a:t>
            </a:r>
            <a:r>
              <a:rPr lang="en-US" sz="165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。</a:t>
            </a:r>
            <a:endParaRPr dirty="0"/>
          </a:p>
        </p:txBody>
      </p:sp>
      <p:sp>
        <p:nvSpPr>
          <p:cNvPr id="214" name="Google Shape;214;p22"/>
          <p:cNvSpPr txBox="1"/>
          <p:nvPr/>
        </p:nvSpPr>
        <p:spPr>
          <a:xfrm>
            <a:off x="619125" y="2454719"/>
            <a:ext cx="5876924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累乗根 :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n乗してaになる数の総称。</a:t>
            </a:r>
            <a:endParaRPr sz="2400" dirty="0"/>
          </a:p>
        </p:txBody>
      </p:sp>
      <p:sp>
        <p:nvSpPr>
          <p:cNvPr id="215" name="Google Shape;215;p22"/>
          <p:cNvSpPr txBox="1"/>
          <p:nvPr/>
        </p:nvSpPr>
        <p:spPr>
          <a:xfrm>
            <a:off x="614362" y="3323808"/>
            <a:ext cx="8510588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分数表記 :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累乗根は分数乗としても表記可能です。</a:t>
            </a:r>
            <a:endParaRPr sz="2400" dirty="0"/>
          </a:p>
        </p:txBody>
      </p:sp>
      <p:sp>
        <p:nvSpPr>
          <p:cNvPr id="216" name="Google Shape;216;p22"/>
          <p:cNvSpPr txBox="1"/>
          <p:nvPr/>
        </p:nvSpPr>
        <p:spPr>
          <a:xfrm>
            <a:off x="619125" y="4192897"/>
            <a:ext cx="6962775" cy="5170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負の累乗 : </a:t>
            </a:r>
            <a:r>
              <a:rPr lang="en-US" sz="2400" b="0" i="0" u="none" strike="noStrike" cap="none" dirty="0">
                <a:solidFill>
                  <a:srgbClr val="475569"/>
                </a:solidFill>
                <a:latin typeface="Inter"/>
                <a:ea typeface="Inter"/>
                <a:cs typeface="Inter"/>
                <a:sym typeface="Inter"/>
              </a:rPr>
              <a:t> 逆数（分数）を表します。</a:t>
            </a:r>
            <a:endParaRPr sz="2400" dirty="0"/>
          </a:p>
        </p:txBody>
      </p:sp>
      <p:pic>
        <p:nvPicPr>
          <p:cNvPr id="217" name="Google Shape;217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766095" y="2198075"/>
            <a:ext cx="2509923" cy="63190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8" name="Google Shape;21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766095" y="3182002"/>
            <a:ext cx="2482755" cy="6829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001049" y="4236524"/>
            <a:ext cx="2247801" cy="689419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2"/>
          <p:cNvSpPr txBox="1"/>
          <p:nvPr/>
        </p:nvSpPr>
        <p:spPr>
          <a:xfrm>
            <a:off x="762000" y="571500"/>
            <a:ext cx="11401425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累乗と累乗根の定義</a:t>
            </a:r>
            <a:endParaRPr dirty="0"/>
          </a:p>
        </p:txBody>
      </p:sp>
      <p:sp>
        <p:nvSpPr>
          <p:cNvPr id="224" name="Google Shape;224;p22"/>
          <p:cNvSpPr/>
          <p:nvPr/>
        </p:nvSpPr>
        <p:spPr>
          <a:xfrm>
            <a:off x="571500" y="57150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24;p22">
            <a:extLst>
              <a:ext uri="{FF2B5EF4-FFF2-40B4-BE49-F238E27FC236}">
                <a16:creationId xmlns:a16="http://schemas.microsoft.com/office/drawing/2014/main" id="{FEFD3685-8F7D-4981-ACEB-8BA728B067D0}"/>
              </a:ext>
            </a:extLst>
          </p:cNvPr>
          <p:cNvSpPr/>
          <p:nvPr/>
        </p:nvSpPr>
        <p:spPr>
          <a:xfrm>
            <a:off x="444179" y="204130"/>
            <a:ext cx="95250" cy="6858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223;p22">
            <a:extLst>
              <a:ext uri="{FF2B5EF4-FFF2-40B4-BE49-F238E27FC236}">
                <a16:creationId xmlns:a16="http://schemas.microsoft.com/office/drawing/2014/main" id="{F15366B4-3561-4539-A32B-F195E59966B4}"/>
              </a:ext>
            </a:extLst>
          </p:cNvPr>
          <p:cNvSpPr txBox="1"/>
          <p:nvPr/>
        </p:nvSpPr>
        <p:spPr>
          <a:xfrm>
            <a:off x="790575" y="270031"/>
            <a:ext cx="11401425" cy="5539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3600" b="1" i="0" u="none" strike="noStrike" cap="none" dirty="0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累乗根の計算</a:t>
            </a:r>
            <a:endParaRPr lang="ja-JP" altLang="en-US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130ECBC-120B-4AD7-9135-7431607BA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180" y="889930"/>
            <a:ext cx="9965640" cy="5968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4322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DDA00EDC-E4F5-1237-98E3-4F040633D4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9D207612-C60C-C227-64E6-2F94FF8DCEE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0F5A59EB-985C-3B33-7C04-3C2E526771FC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方程式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7296616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0E3DB2E-FCC8-4E01-8332-18825EC2F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A80A38DB-8B02-C4DD-F190-34827FE24F5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BD09DFC6-13F3-523F-3EF7-9AF7A4C73FA8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式の展開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895047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5219DA7C-4D32-7F8C-B832-2C3DFFAEB1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3EC4A4D0-5B5C-389A-109A-33BF28424587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066B3B93-2676-260F-4F75-F644D25E70CD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因数分解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7001864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>
          <a:extLst>
            <a:ext uri="{FF2B5EF4-FFF2-40B4-BE49-F238E27FC236}">
              <a16:creationId xmlns:a16="http://schemas.microsoft.com/office/drawing/2014/main" id="{CD0A2198-7CA9-B4FC-1FBB-F1F334B46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18" descr="image.png">
            <a:extLst>
              <a:ext uri="{FF2B5EF4-FFF2-40B4-BE49-F238E27FC236}">
                <a16:creationId xmlns:a16="http://schemas.microsoft.com/office/drawing/2014/main" id="{53D522F5-7AE6-99FB-D9CB-0B51BA0BAAE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>
            <a:extLst>
              <a:ext uri="{FF2B5EF4-FFF2-40B4-BE49-F238E27FC236}">
                <a16:creationId xmlns:a16="http://schemas.microsoft.com/office/drawing/2014/main" id="{05BFB5DF-B672-63EB-F2FC-3C596D43F834}"/>
              </a:ext>
            </a:extLst>
          </p:cNvPr>
          <p:cNvSpPr txBox="1"/>
          <p:nvPr/>
        </p:nvSpPr>
        <p:spPr>
          <a:xfrm>
            <a:off x="0" y="2343150"/>
            <a:ext cx="12192000" cy="8309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ja-JP" altLang="en-US" sz="54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文字と式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2275741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209</TotalTime>
  <Words>550</Words>
  <Application>Microsoft Office PowerPoint</Application>
  <PresentationFormat>ワイド画面</PresentationFormat>
  <Paragraphs>142</Paragraphs>
  <Slides>24</Slides>
  <Notes>23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24</vt:i4>
      </vt:variant>
    </vt:vector>
  </HeadingPairs>
  <TitlesOfParts>
    <vt:vector size="31" baseType="lpstr">
      <vt:lpstr>Calibri</vt:lpstr>
      <vt:lpstr>Arial</vt:lpstr>
      <vt:lpstr>Inter SemiBold</vt:lpstr>
      <vt:lpstr>Poppins</vt:lpstr>
      <vt:lpstr>Inter</vt:lpstr>
      <vt:lpstr>Cambria Math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内藤 真広</dc:creator>
  <cp:lastModifiedBy>内藤 真広</cp:lastModifiedBy>
  <cp:revision>132</cp:revision>
  <dcterms:modified xsi:type="dcterms:W3CDTF">2026-04-22T07:58:27Z</dcterms:modified>
</cp:coreProperties>
</file>