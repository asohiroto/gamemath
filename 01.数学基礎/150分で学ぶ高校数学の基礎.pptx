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6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95400" y="0"/>
            <a:ext cx="10896600" cy="1295400"/>
          </a:xfrm>
          <a:custGeom>
            <a:avLst/>
            <a:gdLst/>
            <a:ahLst/>
            <a:cxnLst/>
            <a:rect l="l" t="t" r="r" b="b"/>
            <a:pathLst>
              <a:path w="10896600" h="1295400">
                <a:moveTo>
                  <a:pt x="10896600" y="0"/>
                </a:moveTo>
                <a:lnTo>
                  <a:pt x="0" y="0"/>
                </a:lnTo>
                <a:lnTo>
                  <a:pt x="0" y="1295400"/>
                </a:lnTo>
                <a:lnTo>
                  <a:pt x="10896600" y="1295400"/>
                </a:lnTo>
                <a:lnTo>
                  <a:pt x="10896600" y="0"/>
                </a:lnTo>
                <a:close/>
              </a:path>
            </a:pathLst>
          </a:custGeom>
          <a:solidFill>
            <a:srgbClr val="AC1381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779252" y="216408"/>
            <a:ext cx="1161415" cy="862965"/>
          </a:xfrm>
          <a:custGeom>
            <a:avLst/>
            <a:gdLst/>
            <a:ahLst/>
            <a:cxnLst/>
            <a:rect l="l" t="t" r="r" b="b"/>
            <a:pathLst>
              <a:path w="1161415" h="862965">
                <a:moveTo>
                  <a:pt x="796036" y="0"/>
                </a:moveTo>
                <a:lnTo>
                  <a:pt x="365251" y="0"/>
                </a:lnTo>
                <a:lnTo>
                  <a:pt x="315699" y="3335"/>
                </a:lnTo>
                <a:lnTo>
                  <a:pt x="268169" y="13050"/>
                </a:lnTo>
                <a:lnTo>
                  <a:pt x="223099" y="28709"/>
                </a:lnTo>
                <a:lnTo>
                  <a:pt x="180923" y="49878"/>
                </a:lnTo>
                <a:lnTo>
                  <a:pt x="142077" y="76119"/>
                </a:lnTo>
                <a:lnTo>
                  <a:pt x="106997" y="106997"/>
                </a:lnTo>
                <a:lnTo>
                  <a:pt x="76119" y="142077"/>
                </a:lnTo>
                <a:lnTo>
                  <a:pt x="49878" y="180923"/>
                </a:lnTo>
                <a:lnTo>
                  <a:pt x="28709" y="223099"/>
                </a:lnTo>
                <a:lnTo>
                  <a:pt x="13050" y="268169"/>
                </a:lnTo>
                <a:lnTo>
                  <a:pt x="3335" y="315699"/>
                </a:lnTo>
                <a:lnTo>
                  <a:pt x="0" y="365252"/>
                </a:lnTo>
                <a:lnTo>
                  <a:pt x="0" y="497332"/>
                </a:lnTo>
                <a:lnTo>
                  <a:pt x="3335" y="546884"/>
                </a:lnTo>
                <a:lnTo>
                  <a:pt x="13050" y="594414"/>
                </a:lnTo>
                <a:lnTo>
                  <a:pt x="28709" y="639484"/>
                </a:lnTo>
                <a:lnTo>
                  <a:pt x="49878" y="681660"/>
                </a:lnTo>
                <a:lnTo>
                  <a:pt x="76119" y="720506"/>
                </a:lnTo>
                <a:lnTo>
                  <a:pt x="106997" y="755586"/>
                </a:lnTo>
                <a:lnTo>
                  <a:pt x="142077" y="786464"/>
                </a:lnTo>
                <a:lnTo>
                  <a:pt x="180923" y="812705"/>
                </a:lnTo>
                <a:lnTo>
                  <a:pt x="223099" y="833874"/>
                </a:lnTo>
                <a:lnTo>
                  <a:pt x="268169" y="849533"/>
                </a:lnTo>
                <a:lnTo>
                  <a:pt x="315699" y="859248"/>
                </a:lnTo>
                <a:lnTo>
                  <a:pt x="365251" y="862584"/>
                </a:lnTo>
                <a:lnTo>
                  <a:pt x="796036" y="862584"/>
                </a:lnTo>
                <a:lnTo>
                  <a:pt x="845588" y="859248"/>
                </a:lnTo>
                <a:lnTo>
                  <a:pt x="893118" y="849533"/>
                </a:lnTo>
                <a:lnTo>
                  <a:pt x="938188" y="833874"/>
                </a:lnTo>
                <a:lnTo>
                  <a:pt x="980364" y="812705"/>
                </a:lnTo>
                <a:lnTo>
                  <a:pt x="1019210" y="786464"/>
                </a:lnTo>
                <a:lnTo>
                  <a:pt x="1054290" y="755586"/>
                </a:lnTo>
                <a:lnTo>
                  <a:pt x="1085168" y="720506"/>
                </a:lnTo>
                <a:lnTo>
                  <a:pt x="1111409" y="681660"/>
                </a:lnTo>
                <a:lnTo>
                  <a:pt x="1132578" y="639484"/>
                </a:lnTo>
                <a:lnTo>
                  <a:pt x="1148237" y="594414"/>
                </a:lnTo>
                <a:lnTo>
                  <a:pt x="1157952" y="546884"/>
                </a:lnTo>
                <a:lnTo>
                  <a:pt x="1161288" y="497332"/>
                </a:lnTo>
                <a:lnTo>
                  <a:pt x="1161288" y="365252"/>
                </a:lnTo>
                <a:lnTo>
                  <a:pt x="1157952" y="315699"/>
                </a:lnTo>
                <a:lnTo>
                  <a:pt x="1148237" y="268169"/>
                </a:lnTo>
                <a:lnTo>
                  <a:pt x="1132578" y="223099"/>
                </a:lnTo>
                <a:lnTo>
                  <a:pt x="1111409" y="180923"/>
                </a:lnTo>
                <a:lnTo>
                  <a:pt x="1085168" y="142077"/>
                </a:lnTo>
                <a:lnTo>
                  <a:pt x="1054290" y="106997"/>
                </a:lnTo>
                <a:lnTo>
                  <a:pt x="1019210" y="76119"/>
                </a:lnTo>
                <a:lnTo>
                  <a:pt x="980364" y="49878"/>
                </a:lnTo>
                <a:lnTo>
                  <a:pt x="938188" y="28709"/>
                </a:lnTo>
                <a:lnTo>
                  <a:pt x="893118" y="13050"/>
                </a:lnTo>
                <a:lnTo>
                  <a:pt x="845588" y="3335"/>
                </a:lnTo>
                <a:lnTo>
                  <a:pt x="796036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029950" y="371093"/>
            <a:ext cx="649605" cy="554355"/>
          </a:xfrm>
          <a:custGeom>
            <a:avLst/>
            <a:gdLst/>
            <a:ahLst/>
            <a:cxnLst/>
            <a:rect l="l" t="t" r="r" b="b"/>
            <a:pathLst>
              <a:path w="649604" h="554355">
                <a:moveTo>
                  <a:pt x="0" y="554227"/>
                </a:moveTo>
                <a:lnTo>
                  <a:pt x="649477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300" y="205866"/>
            <a:ext cx="251460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621786" y="3486353"/>
            <a:ext cx="4948427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67510" cy="6858000"/>
          </a:xfrm>
          <a:custGeom>
            <a:avLst/>
            <a:gdLst/>
            <a:ahLst/>
            <a:cxnLst/>
            <a:rect l="l" t="t" r="r" b="b"/>
            <a:pathLst>
              <a:path w="1667510" h="6858000">
                <a:moveTo>
                  <a:pt x="0" y="6858000"/>
                </a:moveTo>
                <a:lnTo>
                  <a:pt x="1667256" y="6858000"/>
                </a:lnTo>
                <a:lnTo>
                  <a:pt x="16672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69948" y="0"/>
            <a:ext cx="10322560" cy="6858000"/>
          </a:xfrm>
          <a:custGeom>
            <a:avLst/>
            <a:gdLst/>
            <a:ahLst/>
            <a:cxnLst/>
            <a:rect l="l" t="t" r="r" b="b"/>
            <a:pathLst>
              <a:path w="10322560" h="6858000">
                <a:moveTo>
                  <a:pt x="0" y="6858000"/>
                </a:moveTo>
                <a:lnTo>
                  <a:pt x="10322052" y="6858000"/>
                </a:lnTo>
                <a:lnTo>
                  <a:pt x="103220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0504" y="205866"/>
            <a:ext cx="63500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025" y="1993519"/>
            <a:ext cx="10388600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E5496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7031" y="684276"/>
            <a:ext cx="384175" cy="2502535"/>
          </a:xfrm>
          <a:custGeom>
            <a:avLst/>
            <a:gdLst/>
            <a:ahLst/>
            <a:cxnLst/>
            <a:rect l="l" t="t" r="r" b="b"/>
            <a:pathLst>
              <a:path w="384175" h="2502535">
                <a:moveTo>
                  <a:pt x="384047" y="0"/>
                </a:moveTo>
                <a:lnTo>
                  <a:pt x="0" y="0"/>
                </a:lnTo>
                <a:lnTo>
                  <a:pt x="0" y="2502408"/>
                </a:lnTo>
                <a:lnTo>
                  <a:pt x="384047" y="2502408"/>
                </a:lnTo>
                <a:lnTo>
                  <a:pt x="3840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438" y="542332"/>
            <a:ext cx="7847330" cy="230568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4400" dirty="0"/>
              <a:t>150</a:t>
            </a:r>
            <a:r>
              <a:rPr sz="4400" spc="-15" dirty="0"/>
              <a:t> 分で学ぶ</a:t>
            </a:r>
            <a:endParaRPr sz="4400"/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8800" spc="-90" dirty="0"/>
              <a:t>高校数学の基礎</a:t>
            </a:r>
            <a:endParaRPr sz="8800"/>
          </a:p>
        </p:txBody>
      </p:sp>
      <p:sp>
        <p:nvSpPr>
          <p:cNvPr id="6" name="object 6"/>
          <p:cNvSpPr txBox="1"/>
          <p:nvPr/>
        </p:nvSpPr>
        <p:spPr>
          <a:xfrm>
            <a:off x="8133333" y="5183530"/>
            <a:ext cx="348805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00100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メイリオ"/>
                <a:cs typeface="メイリオ"/>
              </a:rPr>
              <a:t>2022</a:t>
            </a:r>
            <a:r>
              <a:rPr sz="2400" b="1" spc="-20" dirty="0">
                <a:solidFill>
                  <a:srgbClr val="FFFFFF"/>
                </a:solidFill>
                <a:latin typeface="メイリオ"/>
                <a:cs typeface="メイリオ"/>
              </a:rPr>
              <a:t> 年 </a:t>
            </a:r>
            <a:r>
              <a:rPr sz="2400" b="1" dirty="0">
                <a:solidFill>
                  <a:srgbClr val="FFFFFF"/>
                </a:solidFill>
                <a:latin typeface="メイリオ"/>
                <a:cs typeface="メイリオ"/>
              </a:rPr>
              <a:t>9</a:t>
            </a:r>
            <a:r>
              <a:rPr sz="2400" b="1" spc="-20" dirty="0">
                <a:solidFill>
                  <a:srgbClr val="FFFFFF"/>
                </a:solidFill>
                <a:latin typeface="メイリオ"/>
                <a:cs typeface="メイリオ"/>
              </a:rPr>
              <a:t> 月 </a:t>
            </a:r>
            <a:r>
              <a:rPr sz="2400" b="1" dirty="0">
                <a:solidFill>
                  <a:srgbClr val="FFFFFF"/>
                </a:solidFill>
                <a:latin typeface="メイリオ"/>
                <a:cs typeface="メイリオ"/>
              </a:rPr>
              <a:t>6</a:t>
            </a:r>
            <a:r>
              <a:rPr sz="2400" b="1" spc="-40" dirty="0">
                <a:solidFill>
                  <a:srgbClr val="FFFFFF"/>
                </a:solidFill>
                <a:latin typeface="メイリオ"/>
                <a:cs typeface="メイリオ"/>
              </a:rPr>
              <a:t> 日</a:t>
            </a:r>
            <a:r>
              <a:rPr sz="2400" b="1" spc="-5" dirty="0">
                <a:solidFill>
                  <a:srgbClr val="FFFFFF"/>
                </a:solidFill>
                <a:latin typeface="メイリオ"/>
                <a:cs typeface="メイリオ"/>
              </a:rPr>
              <a:t>米田 優峻 </a:t>
            </a:r>
            <a:r>
              <a:rPr sz="2400" b="1" spc="-10" dirty="0">
                <a:solidFill>
                  <a:srgbClr val="FFFFFF"/>
                </a:solidFill>
                <a:latin typeface="メイリオ"/>
                <a:cs typeface="メイリオ"/>
              </a:rPr>
              <a:t>[@E869120]</a:t>
            </a:r>
            <a:endParaRPr sz="24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序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21379E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213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2463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5" dirty="0">
                <a:solidFill>
                  <a:srgbClr val="FFFFFF"/>
                </a:solidFill>
                <a:latin typeface="メイリオ"/>
                <a:cs typeface="メイリオ"/>
              </a:rPr>
              <a:t>自己紹介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01781" y="287909"/>
            <a:ext cx="63373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1800">
              <a:latin typeface="メイリオ"/>
              <a:cs typeface="メイリオ"/>
            </a:endParaRPr>
          </a:p>
          <a:p>
            <a:pPr marL="153035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516" y="1927860"/>
            <a:ext cx="3599688" cy="442417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72990" y="1897837"/>
            <a:ext cx="6403975" cy="3933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メイリオ"/>
                <a:cs typeface="メイリオ"/>
              </a:rPr>
              <a:t>米田優峻（よねだ まさたか</a:t>
            </a:r>
            <a:r>
              <a:rPr sz="3200" b="1" spc="-50" dirty="0">
                <a:latin typeface="メイリオ"/>
                <a:cs typeface="メイリオ"/>
              </a:rPr>
              <a:t>）</a:t>
            </a:r>
            <a:endParaRPr sz="3200">
              <a:latin typeface="メイリオ"/>
              <a:cs typeface="メイリオ"/>
            </a:endParaRPr>
          </a:p>
          <a:p>
            <a:pPr marL="845185" indent="-343535">
              <a:lnSpc>
                <a:spcPct val="100000"/>
              </a:lnSpc>
              <a:spcBef>
                <a:spcPts val="1845"/>
              </a:spcBef>
              <a:buFont typeface="Arial"/>
              <a:buChar char="•"/>
              <a:tabLst>
                <a:tab pos="845185" algn="l"/>
              </a:tabLst>
            </a:pPr>
            <a:r>
              <a:rPr sz="2000" dirty="0">
                <a:latin typeface="メイリオ"/>
                <a:cs typeface="メイリオ"/>
              </a:rPr>
              <a:t>2002</a:t>
            </a:r>
            <a:r>
              <a:rPr sz="2000" spc="-25" dirty="0">
                <a:latin typeface="メイリオ"/>
                <a:cs typeface="メイリオ"/>
              </a:rPr>
              <a:t> 年生まれ</a:t>
            </a:r>
            <a:endParaRPr sz="2000">
              <a:latin typeface="メイリオ"/>
              <a:cs typeface="メイリオ"/>
            </a:endParaRPr>
          </a:p>
          <a:p>
            <a:pPr marL="845185" indent="-34353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845185" algn="l"/>
              </a:tabLst>
            </a:pPr>
            <a:r>
              <a:rPr sz="2000" dirty="0">
                <a:latin typeface="メイリオ"/>
                <a:cs typeface="メイリオ"/>
              </a:rPr>
              <a:t>2021</a:t>
            </a:r>
            <a:r>
              <a:rPr sz="2000" spc="-25" dirty="0">
                <a:latin typeface="メイリオ"/>
                <a:cs typeface="メイリオ"/>
              </a:rPr>
              <a:t> 年東京大学入学</a:t>
            </a:r>
            <a:endParaRPr sz="20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3790"/>
              </a:spcBef>
            </a:pPr>
            <a:r>
              <a:rPr sz="3200" b="1" spc="-15" dirty="0">
                <a:latin typeface="メイリオ"/>
                <a:cs typeface="メイリオ"/>
              </a:rPr>
              <a:t>主な実績</a:t>
            </a:r>
            <a:endParaRPr sz="3200">
              <a:latin typeface="メイリオ"/>
              <a:cs typeface="メイリオ"/>
            </a:endParaRPr>
          </a:p>
          <a:p>
            <a:pPr marL="845185" indent="-343535">
              <a:lnSpc>
                <a:spcPct val="100000"/>
              </a:lnSpc>
              <a:spcBef>
                <a:spcPts val="1850"/>
              </a:spcBef>
              <a:buFont typeface="Arial"/>
              <a:buChar char="•"/>
              <a:tabLst>
                <a:tab pos="845185" algn="l"/>
              </a:tabLst>
            </a:pPr>
            <a:r>
              <a:rPr sz="2000" dirty="0">
                <a:latin typeface="メイリオ"/>
                <a:cs typeface="メイリオ"/>
              </a:rPr>
              <a:t>国際情報オリンピック</a:t>
            </a:r>
            <a:r>
              <a:rPr sz="2000" spc="-20" dirty="0">
                <a:latin typeface="メイリオ"/>
                <a:cs typeface="メイリオ"/>
              </a:rPr>
              <a:t>（IOI）</a:t>
            </a:r>
            <a:r>
              <a:rPr sz="2000" spc="-15" dirty="0">
                <a:latin typeface="メイリオ"/>
                <a:cs typeface="メイリオ"/>
              </a:rPr>
              <a:t>金メダル</a:t>
            </a:r>
            <a:endParaRPr sz="2000">
              <a:latin typeface="メイリオ"/>
              <a:cs typeface="メイリオ"/>
            </a:endParaRPr>
          </a:p>
          <a:p>
            <a:pPr marL="845185" indent="-34353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845185" algn="l"/>
              </a:tabLst>
            </a:pPr>
            <a:r>
              <a:rPr sz="2000" spc="-30" dirty="0">
                <a:latin typeface="メイリオ"/>
                <a:cs typeface="メイリオ"/>
              </a:rPr>
              <a:t>著書『「アルゴリズム×数学」が基礎からしっか</a:t>
            </a:r>
            <a:endParaRPr sz="2000">
              <a:latin typeface="メイリオ"/>
              <a:cs typeface="メイリオ"/>
            </a:endParaRPr>
          </a:p>
          <a:p>
            <a:pPr marL="84518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メイリオ"/>
                <a:cs typeface="メイリオ"/>
              </a:rPr>
              <a:t>り身につく本』2</a:t>
            </a:r>
            <a:r>
              <a:rPr sz="2000" spc="-25" dirty="0">
                <a:latin typeface="メイリオ"/>
                <a:cs typeface="メイリオ"/>
              </a:rPr>
              <a:t> 万部突破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序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21379E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213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25525" y="1710690"/>
            <a:ext cx="10902950" cy="179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marR="5080" indent="-361315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73380" algn="l"/>
              </a:tabLst>
            </a:pPr>
            <a:r>
              <a:rPr sz="1800" dirty="0">
                <a:latin typeface="メイリオ"/>
                <a:cs typeface="メイリオ"/>
              </a:rPr>
              <a:t>本スライドでは、</a:t>
            </a:r>
            <a:r>
              <a:rPr sz="1800" b="1" dirty="0">
                <a:solidFill>
                  <a:srgbClr val="F43864"/>
                </a:solidFill>
                <a:latin typeface="メイリオ"/>
                <a:cs typeface="メイリオ"/>
              </a:rPr>
              <a:t>高校数学の基礎的事項</a:t>
            </a:r>
            <a:r>
              <a:rPr sz="1800" spc="-5" dirty="0">
                <a:latin typeface="メイリオ"/>
                <a:cs typeface="メイリオ"/>
              </a:rPr>
              <a:t>について概観します。中学数学の一部を理解していない方も、</a:t>
            </a:r>
            <a:r>
              <a:rPr sz="1800" dirty="0">
                <a:latin typeface="メイリオ"/>
                <a:cs typeface="メイリオ"/>
              </a:rPr>
              <a:t>第 1</a:t>
            </a:r>
            <a:r>
              <a:rPr sz="1800" spc="-10" dirty="0">
                <a:latin typeface="メイリオ"/>
                <a:cs typeface="メイリオ"/>
              </a:rPr>
              <a:t> 章で前提知識を説明するのでご安心ください。</a:t>
            </a:r>
            <a:endParaRPr sz="1800">
              <a:latin typeface="メイリオ"/>
              <a:cs typeface="メイリオ"/>
            </a:endParaRPr>
          </a:p>
          <a:p>
            <a:pPr marL="373380" indent="-360680">
              <a:lnSpc>
                <a:spcPct val="100000"/>
              </a:lnSpc>
              <a:spcBef>
                <a:spcPts val="2075"/>
              </a:spcBef>
              <a:buFont typeface="Arial"/>
              <a:buChar char="•"/>
              <a:tabLst>
                <a:tab pos="373380" algn="l"/>
              </a:tabLst>
            </a:pPr>
            <a:r>
              <a:rPr sz="1800" spc="-5" dirty="0">
                <a:latin typeface="メイリオ"/>
                <a:cs typeface="メイリオ"/>
              </a:rPr>
              <a:t>全部で </a:t>
            </a:r>
            <a:r>
              <a:rPr sz="1800" dirty="0">
                <a:latin typeface="メイリオ"/>
                <a:cs typeface="メイリオ"/>
              </a:rPr>
              <a:t>10</a:t>
            </a:r>
            <a:r>
              <a:rPr sz="1800" spc="-10" dirty="0">
                <a:latin typeface="メイリオ"/>
                <a:cs typeface="メイリオ"/>
              </a:rPr>
              <a:t> 個の章からなります。</a:t>
            </a:r>
            <a:r>
              <a:rPr sz="1800" dirty="0">
                <a:latin typeface="メイリオ"/>
                <a:cs typeface="メイリオ"/>
              </a:rPr>
              <a:t>1</a:t>
            </a:r>
            <a:r>
              <a:rPr sz="1800" spc="-5" dirty="0">
                <a:latin typeface="メイリオ"/>
                <a:cs typeface="メイリオ"/>
              </a:rPr>
              <a:t> 章当たり </a:t>
            </a:r>
            <a:r>
              <a:rPr sz="1800" dirty="0">
                <a:latin typeface="メイリオ"/>
                <a:cs typeface="メイリオ"/>
              </a:rPr>
              <a:t>15</a:t>
            </a:r>
            <a:r>
              <a:rPr sz="1800" spc="-10" dirty="0">
                <a:latin typeface="メイリオ"/>
                <a:cs typeface="メイリオ"/>
              </a:rPr>
              <a:t> 分で読む場合、</a:t>
            </a:r>
            <a:r>
              <a:rPr sz="1800" dirty="0">
                <a:latin typeface="メイリオ"/>
                <a:cs typeface="メイリオ"/>
              </a:rPr>
              <a:t>150</a:t>
            </a:r>
            <a:r>
              <a:rPr sz="1800" spc="-15" dirty="0">
                <a:latin typeface="メイリオ"/>
                <a:cs typeface="メイリオ"/>
              </a:rPr>
              <a:t> 分で読破することができます</a:t>
            </a:r>
            <a:endParaRPr sz="1800">
              <a:latin typeface="メイリオ"/>
              <a:cs typeface="メイリオ"/>
            </a:endParaRPr>
          </a:p>
          <a:p>
            <a:pPr marL="37338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メイリオ"/>
                <a:cs typeface="メイリオ"/>
              </a:rPr>
              <a:t>（ただし、章によってページ数は異なります）</a:t>
            </a:r>
            <a:r>
              <a:rPr sz="1800" spc="-50" dirty="0">
                <a:latin typeface="メイリオ"/>
                <a:cs typeface="メイリオ"/>
              </a:rPr>
              <a:t>。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2122" y="198501"/>
            <a:ext cx="6731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スライドの概要／諸注意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01781" y="287909"/>
            <a:ext cx="63373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1800">
              <a:latin typeface="メイリオ"/>
              <a:cs typeface="メイリオ"/>
            </a:endParaRPr>
          </a:p>
          <a:p>
            <a:pPr marL="153035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080" y="4008120"/>
            <a:ext cx="10911840" cy="2078989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8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</a:pPr>
            <a:r>
              <a:rPr sz="1800" b="1" spc="-20" dirty="0">
                <a:latin typeface="メイリオ"/>
                <a:cs typeface="メイリオ"/>
              </a:rPr>
              <a:t>注意：</a:t>
            </a:r>
            <a:endParaRPr sz="1800">
              <a:latin typeface="メイリオ"/>
              <a:cs typeface="メイリオ"/>
            </a:endParaRPr>
          </a:p>
          <a:p>
            <a:pPr marL="568960" marR="504825" algn="just">
              <a:lnSpc>
                <a:spcPts val="3240"/>
              </a:lnSpc>
              <a:spcBef>
                <a:spcPts val="285"/>
              </a:spcBef>
            </a:pPr>
            <a:r>
              <a:rPr sz="1800" spc="-15" dirty="0">
                <a:latin typeface="メイリオ"/>
                <a:cs typeface="メイリオ"/>
              </a:rPr>
              <a:t>本スライドでは基礎的事項のみを扱っており、高校数学のすべてを網羅しているわけではありま</a:t>
            </a:r>
            <a:r>
              <a:rPr sz="1800" spc="-5" dirty="0">
                <a:latin typeface="メイリオ"/>
                <a:cs typeface="メイリオ"/>
              </a:rPr>
              <a:t>せん。そのため、大学受験対策には向かないことに注意してください。逆に、数学にはどんな内容があるのか概観したり、学び直したりする目的では活用できます。</a:t>
            </a:r>
            <a:endParaRPr sz="18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0504" y="2058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0" dirty="0">
                <a:solidFill>
                  <a:srgbClr val="FFFFFF"/>
                </a:solidFill>
                <a:latin typeface="メイリオ"/>
                <a:cs typeface="メイリオ"/>
              </a:rPr>
              <a:t>序</a:t>
            </a:r>
            <a:endParaRPr sz="4800">
              <a:latin typeface="メイリオ"/>
              <a:cs typeface="メイリオ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21379E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213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1244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目次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01781" y="287909"/>
            <a:ext cx="63373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1800">
              <a:latin typeface="メイリオ"/>
              <a:cs typeface="メイリオ"/>
            </a:endParaRPr>
          </a:p>
          <a:p>
            <a:pPr marL="153035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6761" y="1312925"/>
            <a:ext cx="0" cy="5546725"/>
          </a:xfrm>
          <a:custGeom>
            <a:avLst/>
            <a:gdLst/>
            <a:ahLst/>
            <a:cxnLst/>
            <a:rect l="l" t="t" r="r" b="b"/>
            <a:pathLst>
              <a:path h="5546725">
                <a:moveTo>
                  <a:pt x="0" y="0"/>
                </a:moveTo>
                <a:lnTo>
                  <a:pt x="0" y="5546435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17397" y="2238710"/>
          <a:ext cx="4451349" cy="3364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0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7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1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2031364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数学の基礎知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識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5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2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1269365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場合の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数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・・・・・・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31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3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1778635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確率と期待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値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56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4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1778635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統計的な解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析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69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5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2031364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いろいろな関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数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103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6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2286000" algn="l"/>
                        </a:tabLst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三角比と三角関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数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spc="-1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141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7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1778635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証明のやり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方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160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780276" y="2238710"/>
          <a:ext cx="4622798" cy="18529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2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8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1269365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ベクト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ル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・・・・・・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187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9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2031364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微分法と積分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法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205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latin typeface="メイリオ"/>
                          <a:cs typeface="メイリオ"/>
                        </a:rPr>
                        <a:t>10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章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2286000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その他のトピッ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ク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240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2286000" algn="l"/>
                        </a:tabLst>
                      </a:pPr>
                      <a:r>
                        <a:rPr sz="2000" b="1" dirty="0">
                          <a:latin typeface="メイリオ"/>
                          <a:cs typeface="メイリオ"/>
                        </a:rPr>
                        <a:t>スライドのまと</a:t>
                      </a:r>
                      <a:r>
                        <a:rPr sz="2000" b="1" spc="-50" dirty="0">
                          <a:latin typeface="メイリオ"/>
                          <a:cs typeface="メイリオ"/>
                        </a:rPr>
                        <a:t>め</a:t>
                      </a:r>
                      <a:r>
                        <a:rPr sz="2000" b="1" dirty="0">
                          <a:latin typeface="メイリオ"/>
                          <a:cs typeface="メイリオ"/>
                        </a:rPr>
                        <a:t>	</a:t>
                      </a:r>
                      <a:r>
                        <a:rPr sz="2000" b="1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・・</a:t>
                      </a:r>
                      <a:r>
                        <a:rPr sz="2000" b="1" spc="-50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・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25" dirty="0">
                          <a:solidFill>
                            <a:srgbClr val="AC1381"/>
                          </a:solidFill>
                          <a:latin typeface="メイリオ"/>
                          <a:cs typeface="メイリオ"/>
                        </a:rPr>
                        <a:t>254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E0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4087" y="335693"/>
            <a:ext cx="5051425" cy="2065655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6600" dirty="0"/>
              <a:t>CHAPTER</a:t>
            </a:r>
            <a:r>
              <a:rPr sz="6600" spc="-20" dirty="0"/>
              <a:t> </a:t>
            </a:r>
            <a:r>
              <a:rPr sz="6600" spc="-50" dirty="0"/>
              <a:t>1</a:t>
            </a:r>
            <a:endParaRPr sz="6600"/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4400" spc="-10" dirty="0"/>
              <a:t>数学の基礎知識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545591" y="647700"/>
            <a:ext cx="387350" cy="1877695"/>
          </a:xfrm>
          <a:custGeom>
            <a:avLst/>
            <a:gdLst/>
            <a:ahLst/>
            <a:cxnLst/>
            <a:rect l="l" t="t" r="r" b="b"/>
            <a:pathLst>
              <a:path w="387350" h="1877695">
                <a:moveTo>
                  <a:pt x="387095" y="0"/>
                </a:moveTo>
                <a:lnTo>
                  <a:pt x="0" y="0"/>
                </a:lnTo>
                <a:lnTo>
                  <a:pt x="0" y="1877567"/>
                </a:lnTo>
                <a:lnTo>
                  <a:pt x="387095" y="1877567"/>
                </a:lnTo>
                <a:lnTo>
                  <a:pt x="3870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87768" y="2020823"/>
            <a:ext cx="4535805" cy="4398645"/>
          </a:xfrm>
          <a:custGeom>
            <a:avLst/>
            <a:gdLst/>
            <a:ahLst/>
            <a:cxnLst/>
            <a:rect l="l" t="t" r="r" b="b"/>
            <a:pathLst>
              <a:path w="4535805" h="4398645">
                <a:moveTo>
                  <a:pt x="4535424" y="1325753"/>
                </a:moveTo>
                <a:lnTo>
                  <a:pt x="4532084" y="1280287"/>
                </a:lnTo>
                <a:lnTo>
                  <a:pt x="4522381" y="1236891"/>
                </a:lnTo>
                <a:lnTo>
                  <a:pt x="4506811" y="1196047"/>
                </a:lnTo>
                <a:lnTo>
                  <a:pt x="4485830" y="1158214"/>
                </a:lnTo>
                <a:lnTo>
                  <a:pt x="4459935" y="1123886"/>
                </a:lnTo>
                <a:lnTo>
                  <a:pt x="4429569" y="1093520"/>
                </a:lnTo>
                <a:lnTo>
                  <a:pt x="4395241" y="1067625"/>
                </a:lnTo>
                <a:lnTo>
                  <a:pt x="4357408" y="1046645"/>
                </a:lnTo>
                <a:lnTo>
                  <a:pt x="4316565" y="1031074"/>
                </a:lnTo>
                <a:lnTo>
                  <a:pt x="4273169" y="1021372"/>
                </a:lnTo>
                <a:lnTo>
                  <a:pt x="4227703" y="1018032"/>
                </a:lnTo>
                <a:lnTo>
                  <a:pt x="3864864" y="1018032"/>
                </a:lnTo>
                <a:lnTo>
                  <a:pt x="3864864" y="335114"/>
                </a:lnTo>
                <a:lnTo>
                  <a:pt x="3865372" y="335153"/>
                </a:lnTo>
                <a:lnTo>
                  <a:pt x="3865981" y="325348"/>
                </a:lnTo>
                <a:lnTo>
                  <a:pt x="3866299" y="315556"/>
                </a:lnTo>
                <a:lnTo>
                  <a:pt x="3866311" y="305777"/>
                </a:lnTo>
                <a:lnTo>
                  <a:pt x="3866007" y="296037"/>
                </a:lnTo>
                <a:lnTo>
                  <a:pt x="3860571" y="250393"/>
                </a:lnTo>
                <a:lnTo>
                  <a:pt x="3848862" y="207124"/>
                </a:lnTo>
                <a:lnTo>
                  <a:pt x="3831361" y="166700"/>
                </a:lnTo>
                <a:lnTo>
                  <a:pt x="3808565" y="129578"/>
                </a:lnTo>
                <a:lnTo>
                  <a:pt x="3780993" y="96202"/>
                </a:lnTo>
                <a:lnTo>
                  <a:pt x="3749116" y="67043"/>
                </a:lnTo>
                <a:lnTo>
                  <a:pt x="3713454" y="42545"/>
                </a:lnTo>
                <a:lnTo>
                  <a:pt x="3674503" y="23177"/>
                </a:lnTo>
                <a:lnTo>
                  <a:pt x="3632771" y="9385"/>
                </a:lnTo>
                <a:lnTo>
                  <a:pt x="3588740" y="1638"/>
                </a:lnTo>
                <a:lnTo>
                  <a:pt x="3557016" y="774"/>
                </a:lnTo>
                <a:lnTo>
                  <a:pt x="3557016" y="310134"/>
                </a:lnTo>
                <a:lnTo>
                  <a:pt x="3557016" y="1018032"/>
                </a:lnTo>
                <a:lnTo>
                  <a:pt x="978408" y="1018032"/>
                </a:lnTo>
                <a:lnTo>
                  <a:pt x="978408" y="310134"/>
                </a:lnTo>
                <a:lnTo>
                  <a:pt x="978420" y="309372"/>
                </a:lnTo>
                <a:lnTo>
                  <a:pt x="3556978" y="309372"/>
                </a:lnTo>
                <a:lnTo>
                  <a:pt x="3557016" y="310134"/>
                </a:lnTo>
                <a:lnTo>
                  <a:pt x="3557016" y="774"/>
                </a:lnTo>
                <a:lnTo>
                  <a:pt x="3557016" y="0"/>
                </a:lnTo>
                <a:lnTo>
                  <a:pt x="978408" y="0"/>
                </a:lnTo>
                <a:lnTo>
                  <a:pt x="973201" y="50"/>
                </a:lnTo>
                <a:lnTo>
                  <a:pt x="913041" y="6959"/>
                </a:lnTo>
                <a:lnTo>
                  <a:pt x="870115" y="19532"/>
                </a:lnTo>
                <a:lnTo>
                  <a:pt x="830135" y="37846"/>
                </a:lnTo>
                <a:lnTo>
                  <a:pt x="793534" y="61404"/>
                </a:lnTo>
                <a:lnTo>
                  <a:pt x="760768" y="89687"/>
                </a:lnTo>
                <a:lnTo>
                  <a:pt x="732282" y="122199"/>
                </a:lnTo>
                <a:lnTo>
                  <a:pt x="708520" y="158407"/>
                </a:lnTo>
                <a:lnTo>
                  <a:pt x="689927" y="197802"/>
                </a:lnTo>
                <a:lnTo>
                  <a:pt x="676960" y="239890"/>
                </a:lnTo>
                <a:lnTo>
                  <a:pt x="670052" y="284149"/>
                </a:lnTo>
                <a:lnTo>
                  <a:pt x="669671" y="330073"/>
                </a:lnTo>
                <a:lnTo>
                  <a:pt x="670560" y="330022"/>
                </a:lnTo>
                <a:lnTo>
                  <a:pt x="670560" y="1018032"/>
                </a:lnTo>
                <a:lnTo>
                  <a:pt x="307721" y="1018032"/>
                </a:lnTo>
                <a:lnTo>
                  <a:pt x="262242" y="1021372"/>
                </a:lnTo>
                <a:lnTo>
                  <a:pt x="218846" y="1031074"/>
                </a:lnTo>
                <a:lnTo>
                  <a:pt x="178003" y="1046645"/>
                </a:lnTo>
                <a:lnTo>
                  <a:pt x="140169" y="1067625"/>
                </a:lnTo>
                <a:lnTo>
                  <a:pt x="105841" y="1093520"/>
                </a:lnTo>
                <a:lnTo>
                  <a:pt x="75476" y="1123886"/>
                </a:lnTo>
                <a:lnTo>
                  <a:pt x="49580" y="1158214"/>
                </a:lnTo>
                <a:lnTo>
                  <a:pt x="28600" y="1196047"/>
                </a:lnTo>
                <a:lnTo>
                  <a:pt x="13030" y="1236891"/>
                </a:lnTo>
                <a:lnTo>
                  <a:pt x="3327" y="1280287"/>
                </a:lnTo>
                <a:lnTo>
                  <a:pt x="0" y="1325753"/>
                </a:lnTo>
                <a:lnTo>
                  <a:pt x="0" y="4090492"/>
                </a:lnTo>
                <a:lnTo>
                  <a:pt x="3327" y="4135983"/>
                </a:lnTo>
                <a:lnTo>
                  <a:pt x="13030" y="4179392"/>
                </a:lnTo>
                <a:lnTo>
                  <a:pt x="28600" y="4220248"/>
                </a:lnTo>
                <a:lnTo>
                  <a:pt x="49580" y="4258081"/>
                </a:lnTo>
                <a:lnTo>
                  <a:pt x="75476" y="4292422"/>
                </a:lnTo>
                <a:lnTo>
                  <a:pt x="105841" y="4322775"/>
                </a:lnTo>
                <a:lnTo>
                  <a:pt x="140169" y="4348683"/>
                </a:lnTo>
                <a:lnTo>
                  <a:pt x="178003" y="4369663"/>
                </a:lnTo>
                <a:lnTo>
                  <a:pt x="218846" y="4385234"/>
                </a:lnTo>
                <a:lnTo>
                  <a:pt x="262242" y="4394936"/>
                </a:lnTo>
                <a:lnTo>
                  <a:pt x="307721" y="4398264"/>
                </a:lnTo>
                <a:lnTo>
                  <a:pt x="4227703" y="4398264"/>
                </a:lnTo>
                <a:lnTo>
                  <a:pt x="4273169" y="4394936"/>
                </a:lnTo>
                <a:lnTo>
                  <a:pt x="4316565" y="4385234"/>
                </a:lnTo>
                <a:lnTo>
                  <a:pt x="4357408" y="4369663"/>
                </a:lnTo>
                <a:lnTo>
                  <a:pt x="4395241" y="4348683"/>
                </a:lnTo>
                <a:lnTo>
                  <a:pt x="4429569" y="4322775"/>
                </a:lnTo>
                <a:lnTo>
                  <a:pt x="4459935" y="4292422"/>
                </a:lnTo>
                <a:lnTo>
                  <a:pt x="4485830" y="4258081"/>
                </a:lnTo>
                <a:lnTo>
                  <a:pt x="4506811" y="4220248"/>
                </a:lnTo>
                <a:lnTo>
                  <a:pt x="4522381" y="4179392"/>
                </a:lnTo>
                <a:lnTo>
                  <a:pt x="4532084" y="4135983"/>
                </a:lnTo>
                <a:lnTo>
                  <a:pt x="4535424" y="4090492"/>
                </a:lnTo>
                <a:lnTo>
                  <a:pt x="4535424" y="13257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29650" y="2475991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メイリオ"/>
                <a:cs typeface="メイリオ"/>
              </a:rPr>
              <a:t>本章のゴール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04506" y="3189249"/>
            <a:ext cx="4028440" cy="300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5890">
              <a:lnSpc>
                <a:spcPct val="15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AC1381"/>
                </a:solidFill>
                <a:latin typeface="メイリオ"/>
                <a:cs typeface="メイリオ"/>
              </a:rPr>
              <a:t>太郎君はタクシーに乗車し、</a:t>
            </a:r>
            <a:r>
              <a:rPr sz="1600" b="1" dirty="0">
                <a:solidFill>
                  <a:srgbClr val="AC1381"/>
                </a:solidFill>
                <a:latin typeface="メイリオ"/>
                <a:cs typeface="メイリオ"/>
              </a:rPr>
              <a:t>1400</a:t>
            </a:r>
            <a:r>
              <a:rPr sz="1600" b="1" spc="-30" dirty="0">
                <a:solidFill>
                  <a:srgbClr val="AC1381"/>
                </a:solidFill>
                <a:latin typeface="メイリオ"/>
                <a:cs typeface="メイリオ"/>
              </a:rPr>
              <a:t> 円を支払いました。</a:t>
            </a:r>
            <a:endParaRPr sz="1600">
              <a:latin typeface="メイリオ"/>
              <a:cs typeface="メイリオ"/>
            </a:endParaRPr>
          </a:p>
          <a:p>
            <a:pPr marL="12700" marR="5080">
              <a:lnSpc>
                <a:spcPct val="150100"/>
              </a:lnSpc>
              <a:spcBef>
                <a:spcPts val="1435"/>
              </a:spcBef>
            </a:pPr>
            <a:r>
              <a:rPr sz="1600" b="1" spc="-30" dirty="0">
                <a:solidFill>
                  <a:srgbClr val="AC1381"/>
                </a:solidFill>
                <a:latin typeface="メイリオ"/>
                <a:cs typeface="メイリオ"/>
              </a:rPr>
              <a:t>このタクシーの初乗運賃が </a:t>
            </a:r>
            <a:r>
              <a:rPr sz="1600" b="1" dirty="0">
                <a:solidFill>
                  <a:srgbClr val="AC1381"/>
                </a:solidFill>
                <a:latin typeface="メイリオ"/>
                <a:cs typeface="メイリオ"/>
              </a:rPr>
              <a:t>500</a:t>
            </a:r>
            <a:r>
              <a:rPr sz="1600" b="1" spc="-35" dirty="0">
                <a:solidFill>
                  <a:srgbClr val="AC1381"/>
                </a:solidFill>
                <a:latin typeface="メイリオ"/>
                <a:cs typeface="メイリオ"/>
              </a:rPr>
              <a:t> 円であり、</a:t>
            </a:r>
            <a:r>
              <a:rPr sz="1600" b="1" spc="-15" dirty="0">
                <a:solidFill>
                  <a:srgbClr val="AC1381"/>
                </a:solidFill>
                <a:latin typeface="メイリオ"/>
                <a:cs typeface="メイリオ"/>
              </a:rPr>
              <a:t>以降 </a:t>
            </a:r>
            <a:r>
              <a:rPr sz="1600" b="1" dirty="0">
                <a:solidFill>
                  <a:srgbClr val="AC1381"/>
                </a:solidFill>
                <a:latin typeface="メイリオ"/>
                <a:cs typeface="メイリオ"/>
              </a:rPr>
              <a:t>1km</a:t>
            </a:r>
            <a:r>
              <a:rPr sz="1600" b="1" spc="-15" dirty="0">
                <a:solidFill>
                  <a:srgbClr val="AC1381"/>
                </a:solidFill>
                <a:latin typeface="メイリオ"/>
                <a:cs typeface="メイリオ"/>
              </a:rPr>
              <a:t> ごとに </a:t>
            </a:r>
            <a:r>
              <a:rPr sz="1600" b="1" dirty="0">
                <a:solidFill>
                  <a:srgbClr val="AC1381"/>
                </a:solidFill>
                <a:latin typeface="メイリオ"/>
                <a:cs typeface="メイリオ"/>
              </a:rPr>
              <a:t>100</a:t>
            </a:r>
            <a:r>
              <a:rPr sz="1600" b="1" spc="-30" dirty="0">
                <a:solidFill>
                  <a:srgbClr val="AC1381"/>
                </a:solidFill>
                <a:latin typeface="メイリオ"/>
                <a:cs typeface="メイリオ"/>
              </a:rPr>
              <a:t> 円が加算されると</a:t>
            </a:r>
            <a:r>
              <a:rPr sz="1600" b="1" spc="-50" dirty="0">
                <a:solidFill>
                  <a:srgbClr val="AC1381"/>
                </a:solidFill>
                <a:latin typeface="メイリオ"/>
                <a:cs typeface="メイリオ"/>
              </a:rPr>
              <a:t> </a:t>
            </a:r>
            <a:r>
              <a:rPr sz="1600" b="1" spc="-10" dirty="0">
                <a:solidFill>
                  <a:srgbClr val="AC1381"/>
                </a:solidFill>
                <a:latin typeface="メイリオ"/>
                <a:cs typeface="メイリオ"/>
              </a:rPr>
              <a:t>き、彼は何 </a:t>
            </a:r>
            <a:r>
              <a:rPr sz="1600" b="1" dirty="0">
                <a:solidFill>
                  <a:srgbClr val="AC1381"/>
                </a:solidFill>
                <a:latin typeface="メイリオ"/>
                <a:cs typeface="メイリオ"/>
              </a:rPr>
              <a:t>km</a:t>
            </a:r>
            <a:r>
              <a:rPr sz="1600" b="1" spc="-30" dirty="0">
                <a:solidFill>
                  <a:srgbClr val="AC1381"/>
                </a:solidFill>
                <a:latin typeface="メイリオ"/>
                <a:cs typeface="メイリオ"/>
              </a:rPr>
              <a:t> 乗車しましたか。</a:t>
            </a:r>
            <a:endParaRPr sz="16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600">
              <a:latin typeface="メイリオ"/>
              <a:cs typeface="メイリオ"/>
            </a:endParaRPr>
          </a:p>
          <a:p>
            <a:pPr marR="6350" algn="r">
              <a:lnSpc>
                <a:spcPct val="100000"/>
              </a:lnSpc>
            </a:pPr>
            <a:r>
              <a:rPr sz="1200" b="1" spc="-5" dirty="0">
                <a:solidFill>
                  <a:srgbClr val="AC1381"/>
                </a:solidFill>
                <a:latin typeface="メイリオ"/>
                <a:cs typeface="メイリオ"/>
              </a:rPr>
              <a:t>※たとえば </a:t>
            </a:r>
            <a:r>
              <a:rPr sz="1200" b="1" dirty="0">
                <a:solidFill>
                  <a:srgbClr val="AC1381"/>
                </a:solidFill>
                <a:latin typeface="メイリオ"/>
                <a:cs typeface="メイリオ"/>
              </a:rPr>
              <a:t>12km</a:t>
            </a:r>
            <a:r>
              <a:rPr sz="1200" b="1" spc="-10" dirty="0">
                <a:solidFill>
                  <a:srgbClr val="AC1381"/>
                </a:solidFill>
                <a:latin typeface="メイリオ"/>
                <a:cs typeface="メイリオ"/>
              </a:rPr>
              <a:t> 乗車したときの運賃は</a:t>
            </a:r>
            <a:endParaRPr sz="1200">
              <a:latin typeface="メイリオ"/>
              <a:cs typeface="メイリオ"/>
            </a:endParaRPr>
          </a:p>
          <a:p>
            <a:pPr marR="8255" algn="r">
              <a:lnSpc>
                <a:spcPct val="100000"/>
              </a:lnSpc>
              <a:spcBef>
                <a:spcPts val="720"/>
              </a:spcBef>
            </a:pPr>
            <a:r>
              <a:rPr sz="1200" b="1" spc="-10" dirty="0">
                <a:solidFill>
                  <a:srgbClr val="AC1381"/>
                </a:solidFill>
                <a:latin typeface="メイリオ"/>
                <a:cs typeface="メイリオ"/>
              </a:rPr>
              <a:t>500+100×12=1700</a:t>
            </a:r>
            <a:r>
              <a:rPr sz="1200" b="1" spc="-15" dirty="0">
                <a:solidFill>
                  <a:srgbClr val="AC1381"/>
                </a:solidFill>
                <a:latin typeface="メイリオ"/>
                <a:cs typeface="メイリオ"/>
              </a:rPr>
              <a:t> 円となります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429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この章について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01781" y="287909"/>
            <a:ext cx="63373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6</a:t>
            </a:r>
            <a:endParaRPr sz="1800">
              <a:latin typeface="メイリオ"/>
              <a:cs typeface="メイリオ"/>
            </a:endParaRPr>
          </a:p>
          <a:p>
            <a:pPr marL="153035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第 </a:t>
            </a:r>
            <a:r>
              <a:rPr sz="2400" dirty="0"/>
              <a:t>1</a:t>
            </a:r>
            <a:r>
              <a:rPr sz="2400" spc="-10" dirty="0"/>
              <a:t> 章では、主に以下の </a:t>
            </a:r>
            <a:r>
              <a:rPr sz="2400" dirty="0"/>
              <a:t>3</a:t>
            </a:r>
            <a:r>
              <a:rPr sz="2400" spc="-5" dirty="0"/>
              <a:t> つの内容を扱います。</a:t>
            </a:r>
            <a:endParaRPr sz="2400"/>
          </a:p>
          <a:p>
            <a:pPr marL="733425" indent="-342900">
              <a:lnSpc>
                <a:spcPct val="100000"/>
              </a:lnSpc>
              <a:spcBef>
                <a:spcPts val="3600"/>
              </a:spcBef>
              <a:buFont typeface="Arial"/>
              <a:buChar char="•"/>
              <a:tabLst>
                <a:tab pos="733425" algn="l"/>
              </a:tabLst>
            </a:pPr>
            <a:r>
              <a:rPr sz="2400" dirty="0">
                <a:solidFill>
                  <a:srgbClr val="4471C4"/>
                </a:solidFill>
              </a:rPr>
              <a:t>基本的な数と計算（累乗・ルートなど</a:t>
            </a:r>
            <a:r>
              <a:rPr sz="2400" spc="-50" dirty="0">
                <a:solidFill>
                  <a:srgbClr val="4471C4"/>
                </a:solidFill>
              </a:rPr>
              <a:t>）</a:t>
            </a:r>
            <a:endParaRPr sz="2400"/>
          </a:p>
          <a:p>
            <a:pPr marL="733425" indent="-34290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733425" algn="l"/>
              </a:tabLst>
            </a:pPr>
            <a:r>
              <a:rPr sz="2400" spc="-10" dirty="0">
                <a:solidFill>
                  <a:srgbClr val="4471C4"/>
                </a:solidFill>
              </a:rPr>
              <a:t>文字式とは</a:t>
            </a:r>
            <a:endParaRPr sz="2400"/>
          </a:p>
          <a:p>
            <a:pPr marL="733425" indent="-34290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733425" algn="l"/>
              </a:tabLst>
            </a:pPr>
            <a:r>
              <a:rPr sz="2400" spc="-10" dirty="0">
                <a:solidFill>
                  <a:srgbClr val="4471C4"/>
                </a:solidFill>
              </a:rPr>
              <a:t>方程式とは</a:t>
            </a:r>
            <a:endParaRPr sz="2400"/>
          </a:p>
          <a:p>
            <a:pPr marL="12700" marR="5080">
              <a:lnSpc>
                <a:spcPct val="150000"/>
              </a:lnSpc>
              <a:spcBef>
                <a:spcPts val="2165"/>
              </a:spcBef>
            </a:pPr>
            <a:r>
              <a:rPr sz="2400" spc="-5" dirty="0"/>
              <a:t>すべて中学数学の範囲であり、高校数学を学ぶための前提知識となるため、数学に自信のない方はぜひお読みください。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0244" y="0"/>
            <a:ext cx="11002010" cy="6858000"/>
            <a:chOff x="1190244" y="0"/>
            <a:chExt cx="11002010" cy="6858000"/>
          </a:xfrm>
        </p:grpSpPr>
        <p:sp>
          <p:nvSpPr>
            <p:cNvPr id="3" name="object 3"/>
            <p:cNvSpPr/>
            <p:nvPr/>
          </p:nvSpPr>
          <p:spPr>
            <a:xfrm>
              <a:off x="1667256" y="0"/>
              <a:ext cx="203200" cy="6858000"/>
            </a:xfrm>
            <a:custGeom>
              <a:avLst/>
              <a:gdLst/>
              <a:ahLst/>
              <a:cxnLst/>
              <a:rect l="l" t="t" r="r" b="b"/>
              <a:pathLst>
                <a:path w="203200" h="6858000">
                  <a:moveTo>
                    <a:pt x="20269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2692" y="6858000"/>
                  </a:lnTo>
                  <a:lnTo>
                    <a:pt x="202692" y="0"/>
                  </a:lnTo>
                  <a:close/>
                </a:path>
              </a:pathLst>
            </a:custGeom>
            <a:solidFill>
              <a:srgbClr val="8E0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28344" y="711708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540257" y="0"/>
                  </a:moveTo>
                  <a:lnTo>
                    <a:pt x="491091" y="2204"/>
                  </a:lnTo>
                  <a:lnTo>
                    <a:pt x="443159" y="8692"/>
                  </a:lnTo>
                  <a:lnTo>
                    <a:pt x="396654" y="19272"/>
                  </a:lnTo>
                  <a:lnTo>
                    <a:pt x="351765" y="33753"/>
                  </a:lnTo>
                  <a:lnTo>
                    <a:pt x="308685" y="51946"/>
                  </a:lnTo>
                  <a:lnTo>
                    <a:pt x="267603" y="73660"/>
                  </a:lnTo>
                  <a:lnTo>
                    <a:pt x="228710" y="98703"/>
                  </a:lnTo>
                  <a:lnTo>
                    <a:pt x="192198" y="126887"/>
                  </a:lnTo>
                  <a:lnTo>
                    <a:pt x="158257" y="158019"/>
                  </a:lnTo>
                  <a:lnTo>
                    <a:pt x="127079" y="191911"/>
                  </a:lnTo>
                  <a:lnTo>
                    <a:pt x="98854" y="228370"/>
                  </a:lnTo>
                  <a:lnTo>
                    <a:pt x="73772" y="267208"/>
                  </a:lnTo>
                  <a:lnTo>
                    <a:pt x="52026" y="308232"/>
                  </a:lnTo>
                  <a:lnTo>
                    <a:pt x="33806" y="351253"/>
                  </a:lnTo>
                  <a:lnTo>
                    <a:pt x="19302" y="396081"/>
                  </a:lnTo>
                  <a:lnTo>
                    <a:pt x="8706" y="442524"/>
                  </a:lnTo>
                  <a:lnTo>
                    <a:pt x="2208" y="490392"/>
                  </a:lnTo>
                  <a:lnTo>
                    <a:pt x="0" y="539495"/>
                  </a:lnTo>
                  <a:lnTo>
                    <a:pt x="2208" y="588599"/>
                  </a:lnTo>
                  <a:lnTo>
                    <a:pt x="8706" y="636467"/>
                  </a:lnTo>
                  <a:lnTo>
                    <a:pt x="19302" y="682910"/>
                  </a:lnTo>
                  <a:lnTo>
                    <a:pt x="33806" y="727738"/>
                  </a:lnTo>
                  <a:lnTo>
                    <a:pt x="52026" y="770759"/>
                  </a:lnTo>
                  <a:lnTo>
                    <a:pt x="73772" y="811783"/>
                  </a:lnTo>
                  <a:lnTo>
                    <a:pt x="98854" y="850621"/>
                  </a:lnTo>
                  <a:lnTo>
                    <a:pt x="127079" y="887080"/>
                  </a:lnTo>
                  <a:lnTo>
                    <a:pt x="158257" y="920972"/>
                  </a:lnTo>
                  <a:lnTo>
                    <a:pt x="192198" y="952104"/>
                  </a:lnTo>
                  <a:lnTo>
                    <a:pt x="228710" y="980288"/>
                  </a:lnTo>
                  <a:lnTo>
                    <a:pt x="267603" y="1005331"/>
                  </a:lnTo>
                  <a:lnTo>
                    <a:pt x="308685" y="1027045"/>
                  </a:lnTo>
                  <a:lnTo>
                    <a:pt x="351765" y="1045238"/>
                  </a:lnTo>
                  <a:lnTo>
                    <a:pt x="396654" y="1059719"/>
                  </a:lnTo>
                  <a:lnTo>
                    <a:pt x="443159" y="1070299"/>
                  </a:lnTo>
                  <a:lnTo>
                    <a:pt x="491091" y="1076787"/>
                  </a:lnTo>
                  <a:lnTo>
                    <a:pt x="540257" y="1078991"/>
                  </a:lnTo>
                  <a:lnTo>
                    <a:pt x="589424" y="1076787"/>
                  </a:lnTo>
                  <a:lnTo>
                    <a:pt x="637356" y="1070299"/>
                  </a:lnTo>
                  <a:lnTo>
                    <a:pt x="683861" y="1059719"/>
                  </a:lnTo>
                  <a:lnTo>
                    <a:pt x="728750" y="1045238"/>
                  </a:lnTo>
                  <a:lnTo>
                    <a:pt x="771830" y="1027045"/>
                  </a:lnTo>
                  <a:lnTo>
                    <a:pt x="812912" y="1005331"/>
                  </a:lnTo>
                  <a:lnTo>
                    <a:pt x="851805" y="980288"/>
                  </a:lnTo>
                  <a:lnTo>
                    <a:pt x="888317" y="952104"/>
                  </a:lnTo>
                  <a:lnTo>
                    <a:pt x="922258" y="920972"/>
                  </a:lnTo>
                  <a:lnTo>
                    <a:pt x="953436" y="887080"/>
                  </a:lnTo>
                  <a:lnTo>
                    <a:pt x="981661" y="850621"/>
                  </a:lnTo>
                  <a:lnTo>
                    <a:pt x="1006743" y="811783"/>
                  </a:lnTo>
                  <a:lnTo>
                    <a:pt x="1028489" y="770759"/>
                  </a:lnTo>
                  <a:lnTo>
                    <a:pt x="1046709" y="727738"/>
                  </a:lnTo>
                  <a:lnTo>
                    <a:pt x="1061213" y="682910"/>
                  </a:lnTo>
                  <a:lnTo>
                    <a:pt x="1071809" y="636467"/>
                  </a:lnTo>
                  <a:lnTo>
                    <a:pt x="1078307" y="588599"/>
                  </a:lnTo>
                  <a:lnTo>
                    <a:pt x="1080516" y="539495"/>
                  </a:lnTo>
                  <a:lnTo>
                    <a:pt x="1078307" y="490392"/>
                  </a:lnTo>
                  <a:lnTo>
                    <a:pt x="1071809" y="442524"/>
                  </a:lnTo>
                  <a:lnTo>
                    <a:pt x="1061213" y="396081"/>
                  </a:lnTo>
                  <a:lnTo>
                    <a:pt x="1046709" y="351253"/>
                  </a:lnTo>
                  <a:lnTo>
                    <a:pt x="1028489" y="308232"/>
                  </a:lnTo>
                  <a:lnTo>
                    <a:pt x="1006743" y="267207"/>
                  </a:lnTo>
                  <a:lnTo>
                    <a:pt x="981661" y="228370"/>
                  </a:lnTo>
                  <a:lnTo>
                    <a:pt x="953436" y="191911"/>
                  </a:lnTo>
                  <a:lnTo>
                    <a:pt x="922258" y="158019"/>
                  </a:lnTo>
                  <a:lnTo>
                    <a:pt x="888317" y="126887"/>
                  </a:lnTo>
                  <a:lnTo>
                    <a:pt x="851805" y="98703"/>
                  </a:lnTo>
                  <a:lnTo>
                    <a:pt x="812912" y="73660"/>
                  </a:lnTo>
                  <a:lnTo>
                    <a:pt x="771830" y="51946"/>
                  </a:lnTo>
                  <a:lnTo>
                    <a:pt x="728750" y="33753"/>
                  </a:lnTo>
                  <a:lnTo>
                    <a:pt x="683861" y="19272"/>
                  </a:lnTo>
                  <a:lnTo>
                    <a:pt x="637356" y="8692"/>
                  </a:lnTo>
                  <a:lnTo>
                    <a:pt x="589424" y="2204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8344" y="711708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0" y="539495"/>
                  </a:moveTo>
                  <a:lnTo>
                    <a:pt x="2208" y="490392"/>
                  </a:lnTo>
                  <a:lnTo>
                    <a:pt x="8706" y="442524"/>
                  </a:lnTo>
                  <a:lnTo>
                    <a:pt x="19302" y="396081"/>
                  </a:lnTo>
                  <a:lnTo>
                    <a:pt x="33806" y="351253"/>
                  </a:lnTo>
                  <a:lnTo>
                    <a:pt x="52026" y="308232"/>
                  </a:lnTo>
                  <a:lnTo>
                    <a:pt x="73772" y="267208"/>
                  </a:lnTo>
                  <a:lnTo>
                    <a:pt x="98854" y="228370"/>
                  </a:lnTo>
                  <a:lnTo>
                    <a:pt x="127079" y="191911"/>
                  </a:lnTo>
                  <a:lnTo>
                    <a:pt x="158257" y="158019"/>
                  </a:lnTo>
                  <a:lnTo>
                    <a:pt x="192198" y="126887"/>
                  </a:lnTo>
                  <a:lnTo>
                    <a:pt x="228710" y="98703"/>
                  </a:lnTo>
                  <a:lnTo>
                    <a:pt x="267603" y="73660"/>
                  </a:lnTo>
                  <a:lnTo>
                    <a:pt x="308685" y="51946"/>
                  </a:lnTo>
                  <a:lnTo>
                    <a:pt x="351765" y="33753"/>
                  </a:lnTo>
                  <a:lnTo>
                    <a:pt x="396654" y="19272"/>
                  </a:lnTo>
                  <a:lnTo>
                    <a:pt x="443159" y="8692"/>
                  </a:lnTo>
                  <a:lnTo>
                    <a:pt x="491091" y="2204"/>
                  </a:lnTo>
                  <a:lnTo>
                    <a:pt x="540257" y="0"/>
                  </a:lnTo>
                  <a:lnTo>
                    <a:pt x="589424" y="2204"/>
                  </a:lnTo>
                  <a:lnTo>
                    <a:pt x="637356" y="8692"/>
                  </a:lnTo>
                  <a:lnTo>
                    <a:pt x="683861" y="19272"/>
                  </a:lnTo>
                  <a:lnTo>
                    <a:pt x="728750" y="33753"/>
                  </a:lnTo>
                  <a:lnTo>
                    <a:pt x="771830" y="51946"/>
                  </a:lnTo>
                  <a:lnTo>
                    <a:pt x="812912" y="73660"/>
                  </a:lnTo>
                  <a:lnTo>
                    <a:pt x="851805" y="98703"/>
                  </a:lnTo>
                  <a:lnTo>
                    <a:pt x="888317" y="126887"/>
                  </a:lnTo>
                  <a:lnTo>
                    <a:pt x="922258" y="158019"/>
                  </a:lnTo>
                  <a:lnTo>
                    <a:pt x="953436" y="191911"/>
                  </a:lnTo>
                  <a:lnTo>
                    <a:pt x="981661" y="228370"/>
                  </a:lnTo>
                  <a:lnTo>
                    <a:pt x="1006743" y="267207"/>
                  </a:lnTo>
                  <a:lnTo>
                    <a:pt x="1028489" y="308232"/>
                  </a:lnTo>
                  <a:lnTo>
                    <a:pt x="1046709" y="351253"/>
                  </a:lnTo>
                  <a:lnTo>
                    <a:pt x="1061213" y="396081"/>
                  </a:lnTo>
                  <a:lnTo>
                    <a:pt x="1071809" y="442524"/>
                  </a:lnTo>
                  <a:lnTo>
                    <a:pt x="1078307" y="490392"/>
                  </a:lnTo>
                  <a:lnTo>
                    <a:pt x="1080516" y="539495"/>
                  </a:lnTo>
                  <a:lnTo>
                    <a:pt x="1078307" y="588599"/>
                  </a:lnTo>
                  <a:lnTo>
                    <a:pt x="1071809" y="636467"/>
                  </a:lnTo>
                  <a:lnTo>
                    <a:pt x="1061213" y="682910"/>
                  </a:lnTo>
                  <a:lnTo>
                    <a:pt x="1046709" y="727738"/>
                  </a:lnTo>
                  <a:lnTo>
                    <a:pt x="1028489" y="770759"/>
                  </a:lnTo>
                  <a:lnTo>
                    <a:pt x="1006743" y="811783"/>
                  </a:lnTo>
                  <a:lnTo>
                    <a:pt x="981661" y="850621"/>
                  </a:lnTo>
                  <a:lnTo>
                    <a:pt x="953436" y="887080"/>
                  </a:lnTo>
                  <a:lnTo>
                    <a:pt x="922258" y="920972"/>
                  </a:lnTo>
                  <a:lnTo>
                    <a:pt x="888317" y="952104"/>
                  </a:lnTo>
                  <a:lnTo>
                    <a:pt x="851805" y="980288"/>
                  </a:lnTo>
                  <a:lnTo>
                    <a:pt x="812912" y="1005331"/>
                  </a:lnTo>
                  <a:lnTo>
                    <a:pt x="771830" y="1027045"/>
                  </a:lnTo>
                  <a:lnTo>
                    <a:pt x="728750" y="1045238"/>
                  </a:lnTo>
                  <a:lnTo>
                    <a:pt x="683861" y="1059719"/>
                  </a:lnTo>
                  <a:lnTo>
                    <a:pt x="637356" y="1070299"/>
                  </a:lnTo>
                  <a:lnTo>
                    <a:pt x="589424" y="1076787"/>
                  </a:lnTo>
                  <a:lnTo>
                    <a:pt x="540257" y="1078991"/>
                  </a:lnTo>
                  <a:lnTo>
                    <a:pt x="491091" y="1076787"/>
                  </a:lnTo>
                  <a:lnTo>
                    <a:pt x="443159" y="1070299"/>
                  </a:lnTo>
                  <a:lnTo>
                    <a:pt x="396654" y="1059719"/>
                  </a:lnTo>
                  <a:lnTo>
                    <a:pt x="351765" y="1045238"/>
                  </a:lnTo>
                  <a:lnTo>
                    <a:pt x="308685" y="1027045"/>
                  </a:lnTo>
                  <a:lnTo>
                    <a:pt x="267603" y="1005331"/>
                  </a:lnTo>
                  <a:lnTo>
                    <a:pt x="228710" y="980288"/>
                  </a:lnTo>
                  <a:lnTo>
                    <a:pt x="192198" y="952104"/>
                  </a:lnTo>
                  <a:lnTo>
                    <a:pt x="158257" y="920972"/>
                  </a:lnTo>
                  <a:lnTo>
                    <a:pt x="127079" y="887080"/>
                  </a:lnTo>
                  <a:lnTo>
                    <a:pt x="98854" y="850621"/>
                  </a:lnTo>
                  <a:lnTo>
                    <a:pt x="73772" y="811783"/>
                  </a:lnTo>
                  <a:lnTo>
                    <a:pt x="52026" y="770759"/>
                  </a:lnTo>
                  <a:lnTo>
                    <a:pt x="33806" y="727738"/>
                  </a:lnTo>
                  <a:lnTo>
                    <a:pt x="19302" y="682910"/>
                  </a:lnTo>
                  <a:lnTo>
                    <a:pt x="8706" y="636467"/>
                  </a:lnTo>
                  <a:lnTo>
                    <a:pt x="2208" y="588599"/>
                  </a:lnTo>
                  <a:lnTo>
                    <a:pt x="0" y="539495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28344" y="2249423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540257" y="0"/>
                  </a:moveTo>
                  <a:lnTo>
                    <a:pt x="491091" y="2204"/>
                  </a:lnTo>
                  <a:lnTo>
                    <a:pt x="443159" y="8692"/>
                  </a:lnTo>
                  <a:lnTo>
                    <a:pt x="396654" y="19272"/>
                  </a:lnTo>
                  <a:lnTo>
                    <a:pt x="351765" y="33753"/>
                  </a:lnTo>
                  <a:lnTo>
                    <a:pt x="308685" y="51946"/>
                  </a:lnTo>
                  <a:lnTo>
                    <a:pt x="267603" y="73660"/>
                  </a:lnTo>
                  <a:lnTo>
                    <a:pt x="228710" y="98703"/>
                  </a:lnTo>
                  <a:lnTo>
                    <a:pt x="192198" y="126887"/>
                  </a:lnTo>
                  <a:lnTo>
                    <a:pt x="158257" y="158019"/>
                  </a:lnTo>
                  <a:lnTo>
                    <a:pt x="127079" y="191911"/>
                  </a:lnTo>
                  <a:lnTo>
                    <a:pt x="98854" y="228370"/>
                  </a:lnTo>
                  <a:lnTo>
                    <a:pt x="73772" y="267208"/>
                  </a:lnTo>
                  <a:lnTo>
                    <a:pt x="52026" y="308232"/>
                  </a:lnTo>
                  <a:lnTo>
                    <a:pt x="33806" y="351253"/>
                  </a:lnTo>
                  <a:lnTo>
                    <a:pt x="19302" y="396081"/>
                  </a:lnTo>
                  <a:lnTo>
                    <a:pt x="8706" y="442524"/>
                  </a:lnTo>
                  <a:lnTo>
                    <a:pt x="2208" y="490392"/>
                  </a:lnTo>
                  <a:lnTo>
                    <a:pt x="0" y="539496"/>
                  </a:lnTo>
                  <a:lnTo>
                    <a:pt x="2208" y="588599"/>
                  </a:lnTo>
                  <a:lnTo>
                    <a:pt x="8706" y="636467"/>
                  </a:lnTo>
                  <a:lnTo>
                    <a:pt x="19302" y="682910"/>
                  </a:lnTo>
                  <a:lnTo>
                    <a:pt x="33806" y="727738"/>
                  </a:lnTo>
                  <a:lnTo>
                    <a:pt x="52026" y="770759"/>
                  </a:lnTo>
                  <a:lnTo>
                    <a:pt x="73772" y="811784"/>
                  </a:lnTo>
                  <a:lnTo>
                    <a:pt x="98854" y="850621"/>
                  </a:lnTo>
                  <a:lnTo>
                    <a:pt x="127079" y="887080"/>
                  </a:lnTo>
                  <a:lnTo>
                    <a:pt x="158257" y="920972"/>
                  </a:lnTo>
                  <a:lnTo>
                    <a:pt x="192198" y="952104"/>
                  </a:lnTo>
                  <a:lnTo>
                    <a:pt x="228710" y="980288"/>
                  </a:lnTo>
                  <a:lnTo>
                    <a:pt x="267603" y="1005331"/>
                  </a:lnTo>
                  <a:lnTo>
                    <a:pt x="308685" y="1027045"/>
                  </a:lnTo>
                  <a:lnTo>
                    <a:pt x="351765" y="1045238"/>
                  </a:lnTo>
                  <a:lnTo>
                    <a:pt x="396654" y="1059719"/>
                  </a:lnTo>
                  <a:lnTo>
                    <a:pt x="443159" y="1070299"/>
                  </a:lnTo>
                  <a:lnTo>
                    <a:pt x="491091" y="1076787"/>
                  </a:lnTo>
                  <a:lnTo>
                    <a:pt x="540257" y="1078991"/>
                  </a:lnTo>
                  <a:lnTo>
                    <a:pt x="589424" y="1076787"/>
                  </a:lnTo>
                  <a:lnTo>
                    <a:pt x="637356" y="1070299"/>
                  </a:lnTo>
                  <a:lnTo>
                    <a:pt x="683861" y="1059719"/>
                  </a:lnTo>
                  <a:lnTo>
                    <a:pt x="728750" y="1045238"/>
                  </a:lnTo>
                  <a:lnTo>
                    <a:pt x="771830" y="1027045"/>
                  </a:lnTo>
                  <a:lnTo>
                    <a:pt x="812912" y="1005331"/>
                  </a:lnTo>
                  <a:lnTo>
                    <a:pt x="851805" y="980288"/>
                  </a:lnTo>
                  <a:lnTo>
                    <a:pt x="888317" y="952104"/>
                  </a:lnTo>
                  <a:lnTo>
                    <a:pt x="922258" y="920972"/>
                  </a:lnTo>
                  <a:lnTo>
                    <a:pt x="953436" y="887080"/>
                  </a:lnTo>
                  <a:lnTo>
                    <a:pt x="981661" y="850621"/>
                  </a:lnTo>
                  <a:lnTo>
                    <a:pt x="1006743" y="811783"/>
                  </a:lnTo>
                  <a:lnTo>
                    <a:pt x="1028489" y="770759"/>
                  </a:lnTo>
                  <a:lnTo>
                    <a:pt x="1046709" y="727738"/>
                  </a:lnTo>
                  <a:lnTo>
                    <a:pt x="1061213" y="682910"/>
                  </a:lnTo>
                  <a:lnTo>
                    <a:pt x="1071809" y="636467"/>
                  </a:lnTo>
                  <a:lnTo>
                    <a:pt x="1078307" y="588599"/>
                  </a:lnTo>
                  <a:lnTo>
                    <a:pt x="1080516" y="539496"/>
                  </a:lnTo>
                  <a:lnTo>
                    <a:pt x="1078307" y="490392"/>
                  </a:lnTo>
                  <a:lnTo>
                    <a:pt x="1071809" y="442524"/>
                  </a:lnTo>
                  <a:lnTo>
                    <a:pt x="1061213" y="396081"/>
                  </a:lnTo>
                  <a:lnTo>
                    <a:pt x="1046709" y="351253"/>
                  </a:lnTo>
                  <a:lnTo>
                    <a:pt x="1028489" y="308232"/>
                  </a:lnTo>
                  <a:lnTo>
                    <a:pt x="1006743" y="267208"/>
                  </a:lnTo>
                  <a:lnTo>
                    <a:pt x="981661" y="228370"/>
                  </a:lnTo>
                  <a:lnTo>
                    <a:pt x="953436" y="191911"/>
                  </a:lnTo>
                  <a:lnTo>
                    <a:pt x="922258" y="158019"/>
                  </a:lnTo>
                  <a:lnTo>
                    <a:pt x="888317" y="126887"/>
                  </a:lnTo>
                  <a:lnTo>
                    <a:pt x="851805" y="98703"/>
                  </a:lnTo>
                  <a:lnTo>
                    <a:pt x="812912" y="73660"/>
                  </a:lnTo>
                  <a:lnTo>
                    <a:pt x="771830" y="51946"/>
                  </a:lnTo>
                  <a:lnTo>
                    <a:pt x="728750" y="33753"/>
                  </a:lnTo>
                  <a:lnTo>
                    <a:pt x="683861" y="19272"/>
                  </a:lnTo>
                  <a:lnTo>
                    <a:pt x="637356" y="8692"/>
                  </a:lnTo>
                  <a:lnTo>
                    <a:pt x="589424" y="2204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8E0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28344" y="2249423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0" y="539496"/>
                  </a:moveTo>
                  <a:lnTo>
                    <a:pt x="2208" y="490392"/>
                  </a:lnTo>
                  <a:lnTo>
                    <a:pt x="8706" y="442524"/>
                  </a:lnTo>
                  <a:lnTo>
                    <a:pt x="19302" y="396081"/>
                  </a:lnTo>
                  <a:lnTo>
                    <a:pt x="33806" y="351253"/>
                  </a:lnTo>
                  <a:lnTo>
                    <a:pt x="52026" y="308232"/>
                  </a:lnTo>
                  <a:lnTo>
                    <a:pt x="73772" y="267208"/>
                  </a:lnTo>
                  <a:lnTo>
                    <a:pt x="98854" y="228370"/>
                  </a:lnTo>
                  <a:lnTo>
                    <a:pt x="127079" y="191911"/>
                  </a:lnTo>
                  <a:lnTo>
                    <a:pt x="158257" y="158019"/>
                  </a:lnTo>
                  <a:lnTo>
                    <a:pt x="192198" y="126887"/>
                  </a:lnTo>
                  <a:lnTo>
                    <a:pt x="228710" y="98703"/>
                  </a:lnTo>
                  <a:lnTo>
                    <a:pt x="267603" y="73660"/>
                  </a:lnTo>
                  <a:lnTo>
                    <a:pt x="308685" y="51946"/>
                  </a:lnTo>
                  <a:lnTo>
                    <a:pt x="351765" y="33753"/>
                  </a:lnTo>
                  <a:lnTo>
                    <a:pt x="396654" y="19272"/>
                  </a:lnTo>
                  <a:lnTo>
                    <a:pt x="443159" y="8692"/>
                  </a:lnTo>
                  <a:lnTo>
                    <a:pt x="491091" y="2204"/>
                  </a:lnTo>
                  <a:lnTo>
                    <a:pt x="540257" y="0"/>
                  </a:lnTo>
                  <a:lnTo>
                    <a:pt x="589424" y="2204"/>
                  </a:lnTo>
                  <a:lnTo>
                    <a:pt x="637356" y="8692"/>
                  </a:lnTo>
                  <a:lnTo>
                    <a:pt x="683861" y="19272"/>
                  </a:lnTo>
                  <a:lnTo>
                    <a:pt x="728750" y="33753"/>
                  </a:lnTo>
                  <a:lnTo>
                    <a:pt x="771830" y="51946"/>
                  </a:lnTo>
                  <a:lnTo>
                    <a:pt x="812912" y="73660"/>
                  </a:lnTo>
                  <a:lnTo>
                    <a:pt x="851805" y="98703"/>
                  </a:lnTo>
                  <a:lnTo>
                    <a:pt x="888317" y="126887"/>
                  </a:lnTo>
                  <a:lnTo>
                    <a:pt x="922258" y="158019"/>
                  </a:lnTo>
                  <a:lnTo>
                    <a:pt x="953436" y="191911"/>
                  </a:lnTo>
                  <a:lnTo>
                    <a:pt x="981661" y="228370"/>
                  </a:lnTo>
                  <a:lnTo>
                    <a:pt x="1006743" y="267208"/>
                  </a:lnTo>
                  <a:lnTo>
                    <a:pt x="1028489" y="308232"/>
                  </a:lnTo>
                  <a:lnTo>
                    <a:pt x="1046709" y="351253"/>
                  </a:lnTo>
                  <a:lnTo>
                    <a:pt x="1061213" y="396081"/>
                  </a:lnTo>
                  <a:lnTo>
                    <a:pt x="1071809" y="442524"/>
                  </a:lnTo>
                  <a:lnTo>
                    <a:pt x="1078307" y="490392"/>
                  </a:lnTo>
                  <a:lnTo>
                    <a:pt x="1080516" y="539496"/>
                  </a:lnTo>
                  <a:lnTo>
                    <a:pt x="1078307" y="588599"/>
                  </a:lnTo>
                  <a:lnTo>
                    <a:pt x="1071809" y="636467"/>
                  </a:lnTo>
                  <a:lnTo>
                    <a:pt x="1061213" y="682910"/>
                  </a:lnTo>
                  <a:lnTo>
                    <a:pt x="1046709" y="727738"/>
                  </a:lnTo>
                  <a:lnTo>
                    <a:pt x="1028489" y="770759"/>
                  </a:lnTo>
                  <a:lnTo>
                    <a:pt x="1006743" y="811783"/>
                  </a:lnTo>
                  <a:lnTo>
                    <a:pt x="981661" y="850621"/>
                  </a:lnTo>
                  <a:lnTo>
                    <a:pt x="953436" y="887080"/>
                  </a:lnTo>
                  <a:lnTo>
                    <a:pt x="922258" y="920972"/>
                  </a:lnTo>
                  <a:lnTo>
                    <a:pt x="888317" y="952104"/>
                  </a:lnTo>
                  <a:lnTo>
                    <a:pt x="851805" y="980288"/>
                  </a:lnTo>
                  <a:lnTo>
                    <a:pt x="812912" y="1005331"/>
                  </a:lnTo>
                  <a:lnTo>
                    <a:pt x="771830" y="1027045"/>
                  </a:lnTo>
                  <a:lnTo>
                    <a:pt x="728750" y="1045238"/>
                  </a:lnTo>
                  <a:lnTo>
                    <a:pt x="683861" y="1059719"/>
                  </a:lnTo>
                  <a:lnTo>
                    <a:pt x="637356" y="1070299"/>
                  </a:lnTo>
                  <a:lnTo>
                    <a:pt x="589424" y="1076787"/>
                  </a:lnTo>
                  <a:lnTo>
                    <a:pt x="540257" y="1078991"/>
                  </a:lnTo>
                  <a:lnTo>
                    <a:pt x="491091" y="1076787"/>
                  </a:lnTo>
                  <a:lnTo>
                    <a:pt x="443159" y="1070299"/>
                  </a:lnTo>
                  <a:lnTo>
                    <a:pt x="396654" y="1059719"/>
                  </a:lnTo>
                  <a:lnTo>
                    <a:pt x="351765" y="1045238"/>
                  </a:lnTo>
                  <a:lnTo>
                    <a:pt x="308685" y="1027045"/>
                  </a:lnTo>
                  <a:lnTo>
                    <a:pt x="267603" y="1005331"/>
                  </a:lnTo>
                  <a:lnTo>
                    <a:pt x="228710" y="980288"/>
                  </a:lnTo>
                  <a:lnTo>
                    <a:pt x="192198" y="952104"/>
                  </a:lnTo>
                  <a:lnTo>
                    <a:pt x="158257" y="920972"/>
                  </a:lnTo>
                  <a:lnTo>
                    <a:pt x="127079" y="887080"/>
                  </a:lnTo>
                  <a:lnTo>
                    <a:pt x="98854" y="850621"/>
                  </a:lnTo>
                  <a:lnTo>
                    <a:pt x="73772" y="811784"/>
                  </a:lnTo>
                  <a:lnTo>
                    <a:pt x="52026" y="770759"/>
                  </a:lnTo>
                  <a:lnTo>
                    <a:pt x="33806" y="727738"/>
                  </a:lnTo>
                  <a:lnTo>
                    <a:pt x="19302" y="682910"/>
                  </a:lnTo>
                  <a:lnTo>
                    <a:pt x="8706" y="636467"/>
                  </a:lnTo>
                  <a:lnTo>
                    <a:pt x="2208" y="588599"/>
                  </a:lnTo>
                  <a:lnTo>
                    <a:pt x="0" y="539496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75561" y="2437257"/>
            <a:ext cx="386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5" dirty="0">
                <a:solidFill>
                  <a:srgbClr val="AC1381"/>
                </a:solidFill>
                <a:latin typeface="Lucida Sans"/>
                <a:cs typeface="Lucida Sans"/>
              </a:rPr>
              <a:t>B</a:t>
            </a:r>
            <a:endParaRPr sz="44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4038" y="898906"/>
            <a:ext cx="5683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5705" algn="l"/>
              </a:tabLst>
            </a:pPr>
            <a:r>
              <a:rPr sz="4400" b="1" spc="-440" dirty="0">
                <a:solidFill>
                  <a:srgbClr val="8E0F6A"/>
                </a:solidFill>
                <a:latin typeface="Lucida Sans"/>
                <a:cs typeface="Lucida Sans"/>
              </a:rPr>
              <a:t>A</a:t>
            </a:r>
            <a:r>
              <a:rPr sz="4400" b="1" dirty="0">
                <a:solidFill>
                  <a:srgbClr val="8E0F6A"/>
                </a:solidFill>
                <a:latin typeface="Lucida Sans"/>
                <a:cs typeface="Lucida Sans"/>
              </a:rPr>
              <a:t>	</a:t>
            </a:r>
            <a:r>
              <a:rPr sz="4400" b="1" spc="-10" dirty="0">
                <a:solidFill>
                  <a:srgbClr val="FFFFFF"/>
                </a:solidFill>
                <a:latin typeface="メイリオ"/>
                <a:cs typeface="メイリオ"/>
              </a:rPr>
              <a:t>基本的な数と計算</a:t>
            </a:r>
            <a:endParaRPr sz="44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7677" y="2352243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0" dirty="0">
                <a:solidFill>
                  <a:srgbClr val="8E0F6A"/>
                </a:solidFill>
                <a:latin typeface="メイリオ"/>
                <a:cs typeface="メイリオ"/>
              </a:rPr>
              <a:t>文字式とは</a:t>
            </a:r>
            <a:endParaRPr sz="4400">
              <a:latin typeface="メイリオ"/>
              <a:cs typeface="メイリオ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0244" y="3745991"/>
            <a:ext cx="1156970" cy="1156970"/>
            <a:chOff x="1190244" y="3745991"/>
            <a:chExt cx="1156970" cy="1156970"/>
          </a:xfrm>
        </p:grpSpPr>
        <p:sp>
          <p:nvSpPr>
            <p:cNvPr id="12" name="object 12"/>
            <p:cNvSpPr/>
            <p:nvPr/>
          </p:nvSpPr>
          <p:spPr>
            <a:xfrm>
              <a:off x="1228344" y="3784091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540257" y="0"/>
                  </a:moveTo>
                  <a:lnTo>
                    <a:pt x="491091" y="2208"/>
                  </a:lnTo>
                  <a:lnTo>
                    <a:pt x="443159" y="8706"/>
                  </a:lnTo>
                  <a:lnTo>
                    <a:pt x="396654" y="19302"/>
                  </a:lnTo>
                  <a:lnTo>
                    <a:pt x="351765" y="33806"/>
                  </a:lnTo>
                  <a:lnTo>
                    <a:pt x="308685" y="52026"/>
                  </a:lnTo>
                  <a:lnTo>
                    <a:pt x="267603" y="73772"/>
                  </a:lnTo>
                  <a:lnTo>
                    <a:pt x="228710" y="98854"/>
                  </a:lnTo>
                  <a:lnTo>
                    <a:pt x="192198" y="127079"/>
                  </a:lnTo>
                  <a:lnTo>
                    <a:pt x="158257" y="158257"/>
                  </a:lnTo>
                  <a:lnTo>
                    <a:pt x="127079" y="192198"/>
                  </a:lnTo>
                  <a:lnTo>
                    <a:pt x="98854" y="228710"/>
                  </a:lnTo>
                  <a:lnTo>
                    <a:pt x="73772" y="267603"/>
                  </a:lnTo>
                  <a:lnTo>
                    <a:pt x="52026" y="308685"/>
                  </a:lnTo>
                  <a:lnTo>
                    <a:pt x="33806" y="351765"/>
                  </a:lnTo>
                  <a:lnTo>
                    <a:pt x="19302" y="396654"/>
                  </a:lnTo>
                  <a:lnTo>
                    <a:pt x="8706" y="443159"/>
                  </a:lnTo>
                  <a:lnTo>
                    <a:pt x="2208" y="491091"/>
                  </a:lnTo>
                  <a:lnTo>
                    <a:pt x="0" y="540257"/>
                  </a:lnTo>
                  <a:lnTo>
                    <a:pt x="2208" y="589424"/>
                  </a:lnTo>
                  <a:lnTo>
                    <a:pt x="8706" y="637356"/>
                  </a:lnTo>
                  <a:lnTo>
                    <a:pt x="19302" y="683861"/>
                  </a:lnTo>
                  <a:lnTo>
                    <a:pt x="33806" y="728750"/>
                  </a:lnTo>
                  <a:lnTo>
                    <a:pt x="52026" y="771830"/>
                  </a:lnTo>
                  <a:lnTo>
                    <a:pt x="73772" y="812912"/>
                  </a:lnTo>
                  <a:lnTo>
                    <a:pt x="98854" y="851805"/>
                  </a:lnTo>
                  <a:lnTo>
                    <a:pt x="127079" y="888317"/>
                  </a:lnTo>
                  <a:lnTo>
                    <a:pt x="158257" y="922258"/>
                  </a:lnTo>
                  <a:lnTo>
                    <a:pt x="192198" y="953436"/>
                  </a:lnTo>
                  <a:lnTo>
                    <a:pt x="228710" y="981661"/>
                  </a:lnTo>
                  <a:lnTo>
                    <a:pt x="267603" y="1006743"/>
                  </a:lnTo>
                  <a:lnTo>
                    <a:pt x="308685" y="1028489"/>
                  </a:lnTo>
                  <a:lnTo>
                    <a:pt x="351765" y="1046709"/>
                  </a:lnTo>
                  <a:lnTo>
                    <a:pt x="396654" y="1061213"/>
                  </a:lnTo>
                  <a:lnTo>
                    <a:pt x="443159" y="1071809"/>
                  </a:lnTo>
                  <a:lnTo>
                    <a:pt x="491091" y="1078307"/>
                  </a:lnTo>
                  <a:lnTo>
                    <a:pt x="540257" y="1080515"/>
                  </a:lnTo>
                  <a:lnTo>
                    <a:pt x="589424" y="1078307"/>
                  </a:lnTo>
                  <a:lnTo>
                    <a:pt x="637356" y="1071809"/>
                  </a:lnTo>
                  <a:lnTo>
                    <a:pt x="683861" y="1061213"/>
                  </a:lnTo>
                  <a:lnTo>
                    <a:pt x="728750" y="1046709"/>
                  </a:lnTo>
                  <a:lnTo>
                    <a:pt x="771830" y="1028489"/>
                  </a:lnTo>
                  <a:lnTo>
                    <a:pt x="812912" y="1006743"/>
                  </a:lnTo>
                  <a:lnTo>
                    <a:pt x="851805" y="981661"/>
                  </a:lnTo>
                  <a:lnTo>
                    <a:pt x="888317" y="953436"/>
                  </a:lnTo>
                  <a:lnTo>
                    <a:pt x="922258" y="922258"/>
                  </a:lnTo>
                  <a:lnTo>
                    <a:pt x="953436" y="888317"/>
                  </a:lnTo>
                  <a:lnTo>
                    <a:pt x="981661" y="851805"/>
                  </a:lnTo>
                  <a:lnTo>
                    <a:pt x="1006743" y="812912"/>
                  </a:lnTo>
                  <a:lnTo>
                    <a:pt x="1028489" y="771830"/>
                  </a:lnTo>
                  <a:lnTo>
                    <a:pt x="1046709" y="728750"/>
                  </a:lnTo>
                  <a:lnTo>
                    <a:pt x="1061213" y="683861"/>
                  </a:lnTo>
                  <a:lnTo>
                    <a:pt x="1071809" y="637356"/>
                  </a:lnTo>
                  <a:lnTo>
                    <a:pt x="1078307" y="589424"/>
                  </a:lnTo>
                  <a:lnTo>
                    <a:pt x="1080516" y="540257"/>
                  </a:lnTo>
                  <a:lnTo>
                    <a:pt x="1078307" y="491091"/>
                  </a:lnTo>
                  <a:lnTo>
                    <a:pt x="1071809" y="443159"/>
                  </a:lnTo>
                  <a:lnTo>
                    <a:pt x="1061213" y="396654"/>
                  </a:lnTo>
                  <a:lnTo>
                    <a:pt x="1046709" y="351765"/>
                  </a:lnTo>
                  <a:lnTo>
                    <a:pt x="1028489" y="308685"/>
                  </a:lnTo>
                  <a:lnTo>
                    <a:pt x="1006743" y="267603"/>
                  </a:lnTo>
                  <a:lnTo>
                    <a:pt x="981661" y="228710"/>
                  </a:lnTo>
                  <a:lnTo>
                    <a:pt x="953436" y="192198"/>
                  </a:lnTo>
                  <a:lnTo>
                    <a:pt x="922258" y="158257"/>
                  </a:lnTo>
                  <a:lnTo>
                    <a:pt x="888317" y="127079"/>
                  </a:lnTo>
                  <a:lnTo>
                    <a:pt x="851805" y="98854"/>
                  </a:lnTo>
                  <a:lnTo>
                    <a:pt x="812912" y="73772"/>
                  </a:lnTo>
                  <a:lnTo>
                    <a:pt x="771830" y="52026"/>
                  </a:lnTo>
                  <a:lnTo>
                    <a:pt x="728750" y="33806"/>
                  </a:lnTo>
                  <a:lnTo>
                    <a:pt x="683861" y="19302"/>
                  </a:lnTo>
                  <a:lnTo>
                    <a:pt x="637356" y="8706"/>
                  </a:lnTo>
                  <a:lnTo>
                    <a:pt x="589424" y="2208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8E0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28344" y="3784091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0" y="540257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7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6" y="540257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7" y="1080515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7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83182" y="3973195"/>
            <a:ext cx="371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490" dirty="0">
                <a:solidFill>
                  <a:srgbClr val="AC1381"/>
                </a:solidFill>
                <a:latin typeface="Lucida Sans"/>
                <a:cs typeface="Lucida Sans"/>
              </a:rPr>
              <a:t>C</a:t>
            </a:r>
            <a:endParaRPr sz="440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57677" y="3888181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0" dirty="0">
                <a:solidFill>
                  <a:srgbClr val="8E0F6A"/>
                </a:solidFill>
                <a:latin typeface="メイリオ"/>
                <a:cs typeface="メイリオ"/>
              </a:rPr>
              <a:t>方程式とは</a:t>
            </a:r>
            <a:endParaRPr sz="44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86000" y="2346960"/>
            <a:ext cx="612775" cy="3020695"/>
            <a:chOff x="2286000" y="2346960"/>
            <a:chExt cx="612775" cy="3020695"/>
          </a:xfrm>
        </p:grpSpPr>
        <p:sp>
          <p:nvSpPr>
            <p:cNvPr id="9" name="object 9"/>
            <p:cNvSpPr/>
            <p:nvPr/>
          </p:nvSpPr>
          <p:spPr>
            <a:xfrm>
              <a:off x="2516124" y="2651760"/>
              <a:ext cx="152400" cy="2715895"/>
            </a:xfrm>
            <a:custGeom>
              <a:avLst/>
              <a:gdLst/>
              <a:ahLst/>
              <a:cxnLst/>
              <a:rect l="l" t="t" r="r" b="b"/>
              <a:pathLst>
                <a:path w="152400" h="2715895">
                  <a:moveTo>
                    <a:pt x="152400" y="0"/>
                  </a:moveTo>
                  <a:lnTo>
                    <a:pt x="0" y="0"/>
                  </a:lnTo>
                  <a:lnTo>
                    <a:pt x="0" y="2715767"/>
                  </a:lnTo>
                  <a:lnTo>
                    <a:pt x="152400" y="271576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0" y="2346960"/>
              <a:ext cx="612775" cy="612775"/>
            </a:xfrm>
            <a:custGeom>
              <a:avLst/>
              <a:gdLst/>
              <a:ahLst/>
              <a:cxnLst/>
              <a:rect l="l" t="t" r="r" b="b"/>
              <a:pathLst>
                <a:path w="612775" h="612775">
                  <a:moveTo>
                    <a:pt x="306324" y="0"/>
                  </a:moveTo>
                  <a:lnTo>
                    <a:pt x="256640" y="4009"/>
                  </a:lnTo>
                  <a:lnTo>
                    <a:pt x="209507" y="15617"/>
                  </a:lnTo>
                  <a:lnTo>
                    <a:pt x="165556" y="34193"/>
                  </a:lnTo>
                  <a:lnTo>
                    <a:pt x="125419" y="59106"/>
                  </a:lnTo>
                  <a:lnTo>
                    <a:pt x="89725" y="89725"/>
                  </a:lnTo>
                  <a:lnTo>
                    <a:pt x="59106" y="125419"/>
                  </a:lnTo>
                  <a:lnTo>
                    <a:pt x="34193" y="165556"/>
                  </a:lnTo>
                  <a:lnTo>
                    <a:pt x="15617" y="209507"/>
                  </a:lnTo>
                  <a:lnTo>
                    <a:pt x="4009" y="256640"/>
                  </a:lnTo>
                  <a:lnTo>
                    <a:pt x="0" y="306324"/>
                  </a:lnTo>
                  <a:lnTo>
                    <a:pt x="4009" y="356007"/>
                  </a:lnTo>
                  <a:lnTo>
                    <a:pt x="15617" y="403140"/>
                  </a:lnTo>
                  <a:lnTo>
                    <a:pt x="34193" y="447091"/>
                  </a:lnTo>
                  <a:lnTo>
                    <a:pt x="59106" y="487228"/>
                  </a:lnTo>
                  <a:lnTo>
                    <a:pt x="89725" y="522922"/>
                  </a:lnTo>
                  <a:lnTo>
                    <a:pt x="125419" y="553541"/>
                  </a:lnTo>
                  <a:lnTo>
                    <a:pt x="165556" y="578454"/>
                  </a:lnTo>
                  <a:lnTo>
                    <a:pt x="209507" y="597030"/>
                  </a:lnTo>
                  <a:lnTo>
                    <a:pt x="256640" y="608638"/>
                  </a:lnTo>
                  <a:lnTo>
                    <a:pt x="306324" y="612648"/>
                  </a:lnTo>
                  <a:lnTo>
                    <a:pt x="356007" y="608638"/>
                  </a:lnTo>
                  <a:lnTo>
                    <a:pt x="403140" y="597030"/>
                  </a:lnTo>
                  <a:lnTo>
                    <a:pt x="447091" y="578454"/>
                  </a:lnTo>
                  <a:lnTo>
                    <a:pt x="487228" y="553541"/>
                  </a:lnTo>
                  <a:lnTo>
                    <a:pt x="522922" y="522922"/>
                  </a:lnTo>
                  <a:lnTo>
                    <a:pt x="553541" y="487228"/>
                  </a:lnTo>
                  <a:lnTo>
                    <a:pt x="578454" y="447091"/>
                  </a:lnTo>
                  <a:lnTo>
                    <a:pt x="597030" y="403140"/>
                  </a:lnTo>
                  <a:lnTo>
                    <a:pt x="608638" y="356007"/>
                  </a:lnTo>
                  <a:lnTo>
                    <a:pt x="612648" y="306324"/>
                  </a:lnTo>
                  <a:lnTo>
                    <a:pt x="608638" y="256640"/>
                  </a:lnTo>
                  <a:lnTo>
                    <a:pt x="597030" y="209507"/>
                  </a:lnTo>
                  <a:lnTo>
                    <a:pt x="578454" y="165556"/>
                  </a:lnTo>
                  <a:lnTo>
                    <a:pt x="553541" y="125419"/>
                  </a:lnTo>
                  <a:lnTo>
                    <a:pt x="522922" y="89725"/>
                  </a:lnTo>
                  <a:lnTo>
                    <a:pt x="487228" y="59106"/>
                  </a:lnTo>
                  <a:lnTo>
                    <a:pt x="447091" y="34193"/>
                  </a:lnTo>
                  <a:lnTo>
                    <a:pt x="403140" y="15617"/>
                  </a:lnTo>
                  <a:lnTo>
                    <a:pt x="356007" y="4009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86000" y="3703320"/>
              <a:ext cx="612775" cy="612775"/>
            </a:xfrm>
            <a:custGeom>
              <a:avLst/>
              <a:gdLst/>
              <a:ahLst/>
              <a:cxnLst/>
              <a:rect l="l" t="t" r="r" b="b"/>
              <a:pathLst>
                <a:path w="612775" h="612775">
                  <a:moveTo>
                    <a:pt x="306324" y="0"/>
                  </a:moveTo>
                  <a:lnTo>
                    <a:pt x="256640" y="4009"/>
                  </a:lnTo>
                  <a:lnTo>
                    <a:pt x="209507" y="15617"/>
                  </a:lnTo>
                  <a:lnTo>
                    <a:pt x="165556" y="34193"/>
                  </a:lnTo>
                  <a:lnTo>
                    <a:pt x="125419" y="59106"/>
                  </a:lnTo>
                  <a:lnTo>
                    <a:pt x="89725" y="89725"/>
                  </a:lnTo>
                  <a:lnTo>
                    <a:pt x="59106" y="125419"/>
                  </a:lnTo>
                  <a:lnTo>
                    <a:pt x="34193" y="165556"/>
                  </a:lnTo>
                  <a:lnTo>
                    <a:pt x="15617" y="209507"/>
                  </a:lnTo>
                  <a:lnTo>
                    <a:pt x="4009" y="256640"/>
                  </a:lnTo>
                  <a:lnTo>
                    <a:pt x="0" y="306323"/>
                  </a:lnTo>
                  <a:lnTo>
                    <a:pt x="4009" y="356007"/>
                  </a:lnTo>
                  <a:lnTo>
                    <a:pt x="15617" y="403140"/>
                  </a:lnTo>
                  <a:lnTo>
                    <a:pt x="34193" y="447091"/>
                  </a:lnTo>
                  <a:lnTo>
                    <a:pt x="59106" y="487228"/>
                  </a:lnTo>
                  <a:lnTo>
                    <a:pt x="89725" y="522922"/>
                  </a:lnTo>
                  <a:lnTo>
                    <a:pt x="125419" y="553541"/>
                  </a:lnTo>
                  <a:lnTo>
                    <a:pt x="165556" y="578454"/>
                  </a:lnTo>
                  <a:lnTo>
                    <a:pt x="209507" y="597030"/>
                  </a:lnTo>
                  <a:lnTo>
                    <a:pt x="256640" y="608638"/>
                  </a:lnTo>
                  <a:lnTo>
                    <a:pt x="306324" y="612647"/>
                  </a:lnTo>
                  <a:lnTo>
                    <a:pt x="356007" y="608638"/>
                  </a:lnTo>
                  <a:lnTo>
                    <a:pt x="403140" y="597030"/>
                  </a:lnTo>
                  <a:lnTo>
                    <a:pt x="447091" y="578454"/>
                  </a:lnTo>
                  <a:lnTo>
                    <a:pt x="487228" y="553541"/>
                  </a:lnTo>
                  <a:lnTo>
                    <a:pt x="522922" y="522922"/>
                  </a:lnTo>
                  <a:lnTo>
                    <a:pt x="553541" y="487228"/>
                  </a:lnTo>
                  <a:lnTo>
                    <a:pt x="578454" y="447091"/>
                  </a:lnTo>
                  <a:lnTo>
                    <a:pt x="597030" y="403140"/>
                  </a:lnTo>
                  <a:lnTo>
                    <a:pt x="608638" y="356007"/>
                  </a:lnTo>
                  <a:lnTo>
                    <a:pt x="612648" y="306323"/>
                  </a:lnTo>
                  <a:lnTo>
                    <a:pt x="608638" y="256640"/>
                  </a:lnTo>
                  <a:lnTo>
                    <a:pt x="597030" y="209507"/>
                  </a:lnTo>
                  <a:lnTo>
                    <a:pt x="578454" y="165556"/>
                  </a:lnTo>
                  <a:lnTo>
                    <a:pt x="553541" y="125419"/>
                  </a:lnTo>
                  <a:lnTo>
                    <a:pt x="522922" y="89725"/>
                  </a:lnTo>
                  <a:lnTo>
                    <a:pt x="487228" y="59106"/>
                  </a:lnTo>
                  <a:lnTo>
                    <a:pt x="447091" y="34193"/>
                  </a:lnTo>
                  <a:lnTo>
                    <a:pt x="403140" y="15617"/>
                  </a:lnTo>
                  <a:lnTo>
                    <a:pt x="356007" y="4009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92122" y="198501"/>
            <a:ext cx="6731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準備：基本的な数と計算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01781" y="287909"/>
            <a:ext cx="63373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8</a:t>
            </a:r>
            <a:endParaRPr sz="1800">
              <a:latin typeface="メイリオ"/>
              <a:cs typeface="メイリオ"/>
            </a:endParaRPr>
          </a:p>
          <a:p>
            <a:pPr marL="153035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76245" y="3768979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86000" y="5059679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306324" y="0"/>
                </a:moveTo>
                <a:lnTo>
                  <a:pt x="256640" y="4009"/>
                </a:lnTo>
                <a:lnTo>
                  <a:pt x="209507" y="15617"/>
                </a:lnTo>
                <a:lnTo>
                  <a:pt x="165556" y="34193"/>
                </a:lnTo>
                <a:lnTo>
                  <a:pt x="125419" y="59106"/>
                </a:lnTo>
                <a:lnTo>
                  <a:pt x="89725" y="89725"/>
                </a:lnTo>
                <a:lnTo>
                  <a:pt x="59106" y="125419"/>
                </a:lnTo>
                <a:lnTo>
                  <a:pt x="34193" y="165556"/>
                </a:lnTo>
                <a:lnTo>
                  <a:pt x="15617" y="209507"/>
                </a:lnTo>
                <a:lnTo>
                  <a:pt x="4009" y="256640"/>
                </a:lnTo>
                <a:lnTo>
                  <a:pt x="0" y="306324"/>
                </a:lnTo>
                <a:lnTo>
                  <a:pt x="4009" y="356007"/>
                </a:lnTo>
                <a:lnTo>
                  <a:pt x="15617" y="403140"/>
                </a:lnTo>
                <a:lnTo>
                  <a:pt x="34193" y="447091"/>
                </a:lnTo>
                <a:lnTo>
                  <a:pt x="59106" y="487228"/>
                </a:lnTo>
                <a:lnTo>
                  <a:pt x="89725" y="522922"/>
                </a:lnTo>
                <a:lnTo>
                  <a:pt x="125419" y="553541"/>
                </a:lnTo>
                <a:lnTo>
                  <a:pt x="165556" y="578454"/>
                </a:lnTo>
                <a:lnTo>
                  <a:pt x="209507" y="597030"/>
                </a:lnTo>
                <a:lnTo>
                  <a:pt x="256640" y="608638"/>
                </a:lnTo>
                <a:lnTo>
                  <a:pt x="306324" y="612648"/>
                </a:lnTo>
                <a:lnTo>
                  <a:pt x="356007" y="608638"/>
                </a:lnTo>
                <a:lnTo>
                  <a:pt x="403140" y="597030"/>
                </a:lnTo>
                <a:lnTo>
                  <a:pt x="447091" y="578454"/>
                </a:lnTo>
                <a:lnTo>
                  <a:pt x="487228" y="553541"/>
                </a:lnTo>
                <a:lnTo>
                  <a:pt x="522922" y="522922"/>
                </a:lnTo>
                <a:lnTo>
                  <a:pt x="553541" y="487228"/>
                </a:lnTo>
                <a:lnTo>
                  <a:pt x="578454" y="447091"/>
                </a:lnTo>
                <a:lnTo>
                  <a:pt x="597030" y="403140"/>
                </a:lnTo>
                <a:lnTo>
                  <a:pt x="608638" y="356007"/>
                </a:lnTo>
                <a:lnTo>
                  <a:pt x="612648" y="306324"/>
                </a:lnTo>
                <a:lnTo>
                  <a:pt x="608638" y="256640"/>
                </a:lnTo>
                <a:lnTo>
                  <a:pt x="597030" y="209507"/>
                </a:lnTo>
                <a:lnTo>
                  <a:pt x="578454" y="165556"/>
                </a:lnTo>
                <a:lnTo>
                  <a:pt x="553541" y="125419"/>
                </a:lnTo>
                <a:lnTo>
                  <a:pt x="522922" y="89725"/>
                </a:lnTo>
                <a:lnTo>
                  <a:pt x="487228" y="59106"/>
                </a:lnTo>
                <a:lnTo>
                  <a:pt x="447091" y="34193"/>
                </a:lnTo>
                <a:lnTo>
                  <a:pt x="403140" y="15617"/>
                </a:lnTo>
                <a:lnTo>
                  <a:pt x="356007" y="4009"/>
                </a:lnTo>
                <a:lnTo>
                  <a:pt x="30632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476245" y="5125592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 dirty="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8672" y="2412619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AC1381"/>
                </a:solidFill>
                <a:latin typeface="メイリオ"/>
                <a:cs typeface="メイリオ"/>
              </a:rPr>
              <a:t>正負の</a:t>
            </a:r>
            <a:r>
              <a:rPr sz="2000" b="1" spc="-50" dirty="0">
                <a:solidFill>
                  <a:srgbClr val="AC1381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AC1381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2005" y="3803091"/>
            <a:ext cx="534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BEBEBE"/>
                </a:solidFill>
                <a:latin typeface="メイリオ"/>
                <a:cs typeface="メイリオ"/>
              </a:rPr>
              <a:t>累乗</a:t>
            </a:r>
            <a:endParaRPr sz="2000" dirty="0">
              <a:latin typeface="メイリオ"/>
              <a:cs typeface="メイリオ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3433" y="5213984"/>
            <a:ext cx="789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BEBEBE"/>
                </a:solidFill>
                <a:latin typeface="メイリオ"/>
                <a:cs typeface="メイリオ"/>
              </a:rPr>
              <a:t>ルート</a:t>
            </a:r>
            <a:endParaRPr sz="2000" dirty="0">
              <a:latin typeface="メイリオ"/>
              <a:cs typeface="メイリオ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38094" y="2045970"/>
            <a:ext cx="8303259" cy="2005964"/>
          </a:xfrm>
          <a:custGeom>
            <a:avLst/>
            <a:gdLst/>
            <a:ahLst/>
            <a:cxnLst/>
            <a:rect l="l" t="t" r="r" b="b"/>
            <a:pathLst>
              <a:path w="8303259" h="2005964">
                <a:moveTo>
                  <a:pt x="341376" y="0"/>
                </a:moveTo>
                <a:lnTo>
                  <a:pt x="1668271" y="0"/>
                </a:lnTo>
                <a:lnTo>
                  <a:pt x="3658615" y="0"/>
                </a:lnTo>
                <a:lnTo>
                  <a:pt x="8302752" y="0"/>
                </a:lnTo>
                <a:lnTo>
                  <a:pt x="8302752" y="334263"/>
                </a:lnTo>
                <a:lnTo>
                  <a:pt x="8302752" y="835659"/>
                </a:lnTo>
                <a:lnTo>
                  <a:pt x="8302752" y="2005583"/>
                </a:lnTo>
                <a:lnTo>
                  <a:pt x="3658615" y="2005583"/>
                </a:lnTo>
                <a:lnTo>
                  <a:pt x="1668271" y="2005583"/>
                </a:lnTo>
                <a:lnTo>
                  <a:pt x="341376" y="2005583"/>
                </a:lnTo>
                <a:lnTo>
                  <a:pt x="341376" y="835659"/>
                </a:lnTo>
                <a:lnTo>
                  <a:pt x="0" y="568705"/>
                </a:lnTo>
                <a:lnTo>
                  <a:pt x="341376" y="334263"/>
                </a:lnTo>
                <a:lnTo>
                  <a:pt x="341376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687571" y="2264790"/>
            <a:ext cx="723328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メイリオ"/>
                <a:cs typeface="メイリオ"/>
              </a:rPr>
              <a:t>0</a:t>
            </a:r>
            <a:r>
              <a:rPr sz="2100" b="1" spc="-5" dirty="0">
                <a:latin typeface="メイリオ"/>
                <a:cs typeface="メイリオ"/>
              </a:rPr>
              <a:t> を超える数を</a:t>
            </a:r>
            <a:r>
              <a:rPr sz="2100" b="1" dirty="0">
                <a:solidFill>
                  <a:srgbClr val="F43864"/>
                </a:solidFill>
                <a:latin typeface="メイリオ"/>
                <a:cs typeface="メイリオ"/>
              </a:rPr>
              <a:t>「正の数」</a:t>
            </a:r>
            <a:r>
              <a:rPr sz="2100" b="1" dirty="0">
                <a:latin typeface="メイリオ"/>
                <a:cs typeface="メイリオ"/>
              </a:rPr>
              <a:t>、0</a:t>
            </a:r>
            <a:r>
              <a:rPr sz="2100" b="1" spc="-5" dirty="0">
                <a:latin typeface="メイリオ"/>
                <a:cs typeface="メイリオ"/>
              </a:rPr>
              <a:t> 未満の数を</a:t>
            </a:r>
            <a:r>
              <a:rPr sz="2100" b="1" dirty="0">
                <a:solidFill>
                  <a:srgbClr val="21379E"/>
                </a:solidFill>
                <a:latin typeface="メイリオ"/>
                <a:cs typeface="メイリオ"/>
              </a:rPr>
              <a:t>「負の数」</a:t>
            </a:r>
            <a:r>
              <a:rPr sz="2100" b="1" spc="-20" dirty="0">
                <a:latin typeface="メイリオ"/>
                <a:cs typeface="メイリオ"/>
              </a:rPr>
              <a:t>という</a:t>
            </a:r>
            <a:endParaRPr sz="2100">
              <a:latin typeface="メイリオ"/>
              <a:cs typeface="メイリオ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59708" y="2862072"/>
            <a:ext cx="467995" cy="467995"/>
          </a:xfrm>
          <a:custGeom>
            <a:avLst/>
            <a:gdLst/>
            <a:ahLst/>
            <a:cxnLst/>
            <a:rect l="l" t="t" r="r" b="b"/>
            <a:pathLst>
              <a:path w="467995" h="467995">
                <a:moveTo>
                  <a:pt x="233933" y="0"/>
                </a:moveTo>
                <a:lnTo>
                  <a:pt x="186799" y="4754"/>
                </a:lnTo>
                <a:lnTo>
                  <a:pt x="142892" y="18389"/>
                </a:lnTo>
                <a:lnTo>
                  <a:pt x="103156" y="39962"/>
                </a:lnTo>
                <a:lnTo>
                  <a:pt x="68532" y="68532"/>
                </a:lnTo>
                <a:lnTo>
                  <a:pt x="39962" y="103156"/>
                </a:lnTo>
                <a:lnTo>
                  <a:pt x="18389" y="142892"/>
                </a:lnTo>
                <a:lnTo>
                  <a:pt x="4754" y="186799"/>
                </a:lnTo>
                <a:lnTo>
                  <a:pt x="0" y="233933"/>
                </a:lnTo>
                <a:lnTo>
                  <a:pt x="4754" y="281068"/>
                </a:lnTo>
                <a:lnTo>
                  <a:pt x="18389" y="324975"/>
                </a:lnTo>
                <a:lnTo>
                  <a:pt x="39962" y="364711"/>
                </a:lnTo>
                <a:lnTo>
                  <a:pt x="68532" y="399335"/>
                </a:lnTo>
                <a:lnTo>
                  <a:pt x="103156" y="427905"/>
                </a:lnTo>
                <a:lnTo>
                  <a:pt x="142892" y="449478"/>
                </a:lnTo>
                <a:lnTo>
                  <a:pt x="186799" y="463113"/>
                </a:lnTo>
                <a:lnTo>
                  <a:pt x="233933" y="467867"/>
                </a:lnTo>
                <a:lnTo>
                  <a:pt x="281068" y="463113"/>
                </a:lnTo>
                <a:lnTo>
                  <a:pt x="324975" y="449478"/>
                </a:lnTo>
                <a:lnTo>
                  <a:pt x="364711" y="427905"/>
                </a:lnTo>
                <a:lnTo>
                  <a:pt x="399335" y="399335"/>
                </a:lnTo>
                <a:lnTo>
                  <a:pt x="427905" y="364711"/>
                </a:lnTo>
                <a:lnTo>
                  <a:pt x="449478" y="324975"/>
                </a:lnTo>
                <a:lnTo>
                  <a:pt x="463113" y="281068"/>
                </a:lnTo>
                <a:lnTo>
                  <a:pt x="467867" y="233933"/>
                </a:lnTo>
                <a:lnTo>
                  <a:pt x="463113" y="186799"/>
                </a:lnTo>
                <a:lnTo>
                  <a:pt x="449478" y="142892"/>
                </a:lnTo>
                <a:lnTo>
                  <a:pt x="427905" y="103156"/>
                </a:lnTo>
                <a:lnTo>
                  <a:pt x="399335" y="68532"/>
                </a:lnTo>
                <a:lnTo>
                  <a:pt x="364711" y="39962"/>
                </a:lnTo>
                <a:lnTo>
                  <a:pt x="324975" y="18389"/>
                </a:lnTo>
                <a:lnTo>
                  <a:pt x="281068" y="4754"/>
                </a:lnTo>
                <a:lnTo>
                  <a:pt x="233933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866769" y="291210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例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70908" y="2740480"/>
            <a:ext cx="3098165" cy="99885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100" b="1" dirty="0">
                <a:solidFill>
                  <a:srgbClr val="F43864"/>
                </a:solidFill>
                <a:latin typeface="メイリオ"/>
                <a:cs typeface="メイリオ"/>
              </a:rPr>
              <a:t>17</a:t>
            </a:r>
            <a:r>
              <a:rPr sz="2100" b="1" spc="-15" dirty="0">
                <a:solidFill>
                  <a:srgbClr val="F43864"/>
                </a:solidFill>
                <a:latin typeface="メイリオ"/>
                <a:cs typeface="メイリオ"/>
              </a:rPr>
              <a:t>, </a:t>
            </a:r>
            <a:r>
              <a:rPr sz="2100" b="1" dirty="0">
                <a:solidFill>
                  <a:srgbClr val="F43864"/>
                </a:solidFill>
                <a:latin typeface="メイリオ"/>
                <a:cs typeface="メイリオ"/>
              </a:rPr>
              <a:t>23</a:t>
            </a:r>
            <a:r>
              <a:rPr sz="2100" b="1" spc="-15" dirty="0">
                <a:solidFill>
                  <a:srgbClr val="F43864"/>
                </a:solidFill>
                <a:latin typeface="メイリオ"/>
                <a:cs typeface="メイリオ"/>
              </a:rPr>
              <a:t>, </a:t>
            </a:r>
            <a:r>
              <a:rPr sz="2100" b="1" dirty="0">
                <a:solidFill>
                  <a:srgbClr val="F43864"/>
                </a:solidFill>
                <a:latin typeface="メイリオ"/>
                <a:cs typeface="メイリオ"/>
              </a:rPr>
              <a:t>3.75</a:t>
            </a:r>
            <a:r>
              <a:rPr sz="2100" b="1" spc="-25" dirty="0">
                <a:solidFill>
                  <a:srgbClr val="F43864"/>
                </a:solidFill>
                <a:latin typeface="メイリオ"/>
                <a:cs typeface="メイリオ"/>
              </a:rPr>
              <a:t> は正の数</a:t>
            </a:r>
            <a:endParaRPr sz="21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100" b="1" spc="-10" dirty="0">
                <a:solidFill>
                  <a:srgbClr val="21379E"/>
                </a:solidFill>
                <a:latin typeface="メイリオ"/>
                <a:cs typeface="メイリオ"/>
              </a:rPr>
              <a:t>-</a:t>
            </a:r>
            <a:r>
              <a:rPr sz="2100" b="1" dirty="0">
                <a:solidFill>
                  <a:srgbClr val="21379E"/>
                </a:solidFill>
                <a:latin typeface="メイリオ"/>
                <a:cs typeface="メイリオ"/>
              </a:rPr>
              <a:t>2</a:t>
            </a:r>
            <a:r>
              <a:rPr sz="2100" b="1" spc="-15" dirty="0">
                <a:solidFill>
                  <a:srgbClr val="21379E"/>
                </a:solidFill>
                <a:latin typeface="メイリオ"/>
                <a:cs typeface="メイリオ"/>
              </a:rPr>
              <a:t>, -</a:t>
            </a:r>
            <a:r>
              <a:rPr sz="2100" b="1" dirty="0">
                <a:solidFill>
                  <a:srgbClr val="21379E"/>
                </a:solidFill>
                <a:latin typeface="メイリオ"/>
                <a:cs typeface="メイリオ"/>
              </a:rPr>
              <a:t>6</a:t>
            </a:r>
            <a:r>
              <a:rPr sz="2100" b="1" spc="-10" dirty="0">
                <a:solidFill>
                  <a:srgbClr val="21379E"/>
                </a:solidFill>
                <a:latin typeface="メイリオ"/>
                <a:cs typeface="メイリオ"/>
              </a:rPr>
              <a:t>, -</a:t>
            </a:r>
            <a:r>
              <a:rPr sz="2100" b="1" dirty="0">
                <a:solidFill>
                  <a:srgbClr val="21379E"/>
                </a:solidFill>
                <a:latin typeface="メイリオ"/>
                <a:cs typeface="メイリオ"/>
              </a:rPr>
              <a:t>11.87</a:t>
            </a:r>
            <a:r>
              <a:rPr sz="2100" b="1" spc="-10" dirty="0">
                <a:solidFill>
                  <a:srgbClr val="21379E"/>
                </a:solidFill>
                <a:latin typeface="メイリオ"/>
                <a:cs typeface="メイリオ"/>
              </a:rPr>
              <a:t> は負の数</a:t>
            </a:r>
            <a:endParaRPr sz="21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86000" y="2346960"/>
            <a:ext cx="612775" cy="3020695"/>
            <a:chOff x="2286000" y="2346960"/>
            <a:chExt cx="612775" cy="3020695"/>
          </a:xfrm>
        </p:grpSpPr>
        <p:sp>
          <p:nvSpPr>
            <p:cNvPr id="9" name="object 9"/>
            <p:cNvSpPr/>
            <p:nvPr/>
          </p:nvSpPr>
          <p:spPr>
            <a:xfrm>
              <a:off x="2286000" y="2346959"/>
              <a:ext cx="612775" cy="3020695"/>
            </a:xfrm>
            <a:custGeom>
              <a:avLst/>
              <a:gdLst/>
              <a:ahLst/>
              <a:cxnLst/>
              <a:rect l="l" t="t" r="r" b="b"/>
              <a:pathLst>
                <a:path w="612775" h="3020695">
                  <a:moveTo>
                    <a:pt x="612648" y="306324"/>
                  </a:moveTo>
                  <a:lnTo>
                    <a:pt x="608634" y="256641"/>
                  </a:lnTo>
                  <a:lnTo>
                    <a:pt x="597027" y="209511"/>
                  </a:lnTo>
                  <a:lnTo>
                    <a:pt x="578446" y="165557"/>
                  </a:lnTo>
                  <a:lnTo>
                    <a:pt x="553529" y="125425"/>
                  </a:lnTo>
                  <a:lnTo>
                    <a:pt x="522909" y="89725"/>
                  </a:lnTo>
                  <a:lnTo>
                    <a:pt x="487222" y="59118"/>
                  </a:lnTo>
                  <a:lnTo>
                    <a:pt x="447090" y="34201"/>
                  </a:lnTo>
                  <a:lnTo>
                    <a:pt x="403136" y="15621"/>
                  </a:lnTo>
                  <a:lnTo>
                    <a:pt x="356006" y="4013"/>
                  </a:lnTo>
                  <a:lnTo>
                    <a:pt x="306324" y="0"/>
                  </a:lnTo>
                  <a:lnTo>
                    <a:pt x="256628" y="4013"/>
                  </a:lnTo>
                  <a:lnTo>
                    <a:pt x="209499" y="15621"/>
                  </a:lnTo>
                  <a:lnTo>
                    <a:pt x="165544" y="34201"/>
                  </a:lnTo>
                  <a:lnTo>
                    <a:pt x="125412" y="59118"/>
                  </a:lnTo>
                  <a:lnTo>
                    <a:pt x="89725" y="89725"/>
                  </a:lnTo>
                  <a:lnTo>
                    <a:pt x="59105" y="125425"/>
                  </a:lnTo>
                  <a:lnTo>
                    <a:pt x="34188" y="165557"/>
                  </a:lnTo>
                  <a:lnTo>
                    <a:pt x="15608" y="209511"/>
                  </a:lnTo>
                  <a:lnTo>
                    <a:pt x="4000" y="256641"/>
                  </a:lnTo>
                  <a:lnTo>
                    <a:pt x="0" y="306324"/>
                  </a:lnTo>
                  <a:lnTo>
                    <a:pt x="4000" y="356019"/>
                  </a:lnTo>
                  <a:lnTo>
                    <a:pt x="15608" y="403148"/>
                  </a:lnTo>
                  <a:lnTo>
                    <a:pt x="34188" y="447103"/>
                  </a:lnTo>
                  <a:lnTo>
                    <a:pt x="59105" y="487235"/>
                  </a:lnTo>
                  <a:lnTo>
                    <a:pt x="89725" y="522935"/>
                  </a:lnTo>
                  <a:lnTo>
                    <a:pt x="125412" y="553542"/>
                  </a:lnTo>
                  <a:lnTo>
                    <a:pt x="165544" y="578459"/>
                  </a:lnTo>
                  <a:lnTo>
                    <a:pt x="209499" y="597039"/>
                  </a:lnTo>
                  <a:lnTo>
                    <a:pt x="230124" y="602119"/>
                  </a:lnTo>
                  <a:lnTo>
                    <a:pt x="230124" y="3020568"/>
                  </a:lnTo>
                  <a:lnTo>
                    <a:pt x="382524" y="3020568"/>
                  </a:lnTo>
                  <a:lnTo>
                    <a:pt x="382524" y="602119"/>
                  </a:lnTo>
                  <a:lnTo>
                    <a:pt x="403136" y="597039"/>
                  </a:lnTo>
                  <a:lnTo>
                    <a:pt x="447090" y="578459"/>
                  </a:lnTo>
                  <a:lnTo>
                    <a:pt x="487222" y="553542"/>
                  </a:lnTo>
                  <a:lnTo>
                    <a:pt x="522922" y="522922"/>
                  </a:lnTo>
                  <a:lnTo>
                    <a:pt x="553529" y="487235"/>
                  </a:lnTo>
                  <a:lnTo>
                    <a:pt x="578446" y="447103"/>
                  </a:lnTo>
                  <a:lnTo>
                    <a:pt x="597027" y="403148"/>
                  </a:lnTo>
                  <a:lnTo>
                    <a:pt x="608634" y="356019"/>
                  </a:lnTo>
                  <a:lnTo>
                    <a:pt x="612648" y="306324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0" y="3703320"/>
              <a:ext cx="612775" cy="612775"/>
            </a:xfrm>
            <a:custGeom>
              <a:avLst/>
              <a:gdLst/>
              <a:ahLst/>
              <a:cxnLst/>
              <a:rect l="l" t="t" r="r" b="b"/>
              <a:pathLst>
                <a:path w="612775" h="612775">
                  <a:moveTo>
                    <a:pt x="306324" y="0"/>
                  </a:moveTo>
                  <a:lnTo>
                    <a:pt x="256640" y="4009"/>
                  </a:lnTo>
                  <a:lnTo>
                    <a:pt x="209507" y="15617"/>
                  </a:lnTo>
                  <a:lnTo>
                    <a:pt x="165556" y="34193"/>
                  </a:lnTo>
                  <a:lnTo>
                    <a:pt x="125419" y="59106"/>
                  </a:lnTo>
                  <a:lnTo>
                    <a:pt x="89725" y="89725"/>
                  </a:lnTo>
                  <a:lnTo>
                    <a:pt x="59106" y="125419"/>
                  </a:lnTo>
                  <a:lnTo>
                    <a:pt x="34193" y="165556"/>
                  </a:lnTo>
                  <a:lnTo>
                    <a:pt x="15617" y="209507"/>
                  </a:lnTo>
                  <a:lnTo>
                    <a:pt x="4009" y="256640"/>
                  </a:lnTo>
                  <a:lnTo>
                    <a:pt x="0" y="306323"/>
                  </a:lnTo>
                  <a:lnTo>
                    <a:pt x="4009" y="356007"/>
                  </a:lnTo>
                  <a:lnTo>
                    <a:pt x="15617" y="403140"/>
                  </a:lnTo>
                  <a:lnTo>
                    <a:pt x="34193" y="447091"/>
                  </a:lnTo>
                  <a:lnTo>
                    <a:pt x="59106" y="487228"/>
                  </a:lnTo>
                  <a:lnTo>
                    <a:pt x="89725" y="522922"/>
                  </a:lnTo>
                  <a:lnTo>
                    <a:pt x="125419" y="553541"/>
                  </a:lnTo>
                  <a:lnTo>
                    <a:pt x="165556" y="578454"/>
                  </a:lnTo>
                  <a:lnTo>
                    <a:pt x="209507" y="597030"/>
                  </a:lnTo>
                  <a:lnTo>
                    <a:pt x="256640" y="608638"/>
                  </a:lnTo>
                  <a:lnTo>
                    <a:pt x="306324" y="612647"/>
                  </a:lnTo>
                  <a:lnTo>
                    <a:pt x="356007" y="608638"/>
                  </a:lnTo>
                  <a:lnTo>
                    <a:pt x="403140" y="597030"/>
                  </a:lnTo>
                  <a:lnTo>
                    <a:pt x="447091" y="578454"/>
                  </a:lnTo>
                  <a:lnTo>
                    <a:pt x="487228" y="553541"/>
                  </a:lnTo>
                  <a:lnTo>
                    <a:pt x="522922" y="522922"/>
                  </a:lnTo>
                  <a:lnTo>
                    <a:pt x="553541" y="487228"/>
                  </a:lnTo>
                  <a:lnTo>
                    <a:pt x="578454" y="447091"/>
                  </a:lnTo>
                  <a:lnTo>
                    <a:pt x="597030" y="403140"/>
                  </a:lnTo>
                  <a:lnTo>
                    <a:pt x="608638" y="356007"/>
                  </a:lnTo>
                  <a:lnTo>
                    <a:pt x="612648" y="306323"/>
                  </a:lnTo>
                  <a:lnTo>
                    <a:pt x="608638" y="256640"/>
                  </a:lnTo>
                  <a:lnTo>
                    <a:pt x="597030" y="209507"/>
                  </a:lnTo>
                  <a:lnTo>
                    <a:pt x="578454" y="165556"/>
                  </a:lnTo>
                  <a:lnTo>
                    <a:pt x="553541" y="125419"/>
                  </a:lnTo>
                  <a:lnTo>
                    <a:pt x="522922" y="89725"/>
                  </a:lnTo>
                  <a:lnTo>
                    <a:pt x="487228" y="59106"/>
                  </a:lnTo>
                  <a:lnTo>
                    <a:pt x="447091" y="34193"/>
                  </a:lnTo>
                  <a:lnTo>
                    <a:pt x="403140" y="15617"/>
                  </a:lnTo>
                  <a:lnTo>
                    <a:pt x="356007" y="4009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2122" y="198501"/>
            <a:ext cx="6731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準備：基本的な数と計算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01781" y="287909"/>
            <a:ext cx="63373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9</a:t>
            </a:r>
            <a:endParaRPr sz="1800">
              <a:latin typeface="メイリオ"/>
              <a:cs typeface="メイリオ"/>
            </a:endParaRPr>
          </a:p>
          <a:p>
            <a:pPr marL="153035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76245" y="3768979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86000" y="5059679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306324" y="0"/>
                </a:moveTo>
                <a:lnTo>
                  <a:pt x="256640" y="4009"/>
                </a:lnTo>
                <a:lnTo>
                  <a:pt x="209507" y="15617"/>
                </a:lnTo>
                <a:lnTo>
                  <a:pt x="165556" y="34193"/>
                </a:lnTo>
                <a:lnTo>
                  <a:pt x="125419" y="59106"/>
                </a:lnTo>
                <a:lnTo>
                  <a:pt x="89725" y="89725"/>
                </a:lnTo>
                <a:lnTo>
                  <a:pt x="59106" y="125419"/>
                </a:lnTo>
                <a:lnTo>
                  <a:pt x="34193" y="165556"/>
                </a:lnTo>
                <a:lnTo>
                  <a:pt x="15617" y="209507"/>
                </a:lnTo>
                <a:lnTo>
                  <a:pt x="4009" y="256640"/>
                </a:lnTo>
                <a:lnTo>
                  <a:pt x="0" y="306324"/>
                </a:lnTo>
                <a:lnTo>
                  <a:pt x="4009" y="356007"/>
                </a:lnTo>
                <a:lnTo>
                  <a:pt x="15617" y="403140"/>
                </a:lnTo>
                <a:lnTo>
                  <a:pt x="34193" y="447091"/>
                </a:lnTo>
                <a:lnTo>
                  <a:pt x="59106" y="487228"/>
                </a:lnTo>
                <a:lnTo>
                  <a:pt x="89725" y="522922"/>
                </a:lnTo>
                <a:lnTo>
                  <a:pt x="125419" y="553541"/>
                </a:lnTo>
                <a:lnTo>
                  <a:pt x="165556" y="578454"/>
                </a:lnTo>
                <a:lnTo>
                  <a:pt x="209507" y="597030"/>
                </a:lnTo>
                <a:lnTo>
                  <a:pt x="256640" y="608638"/>
                </a:lnTo>
                <a:lnTo>
                  <a:pt x="306324" y="612648"/>
                </a:lnTo>
                <a:lnTo>
                  <a:pt x="356007" y="608638"/>
                </a:lnTo>
                <a:lnTo>
                  <a:pt x="403140" y="597030"/>
                </a:lnTo>
                <a:lnTo>
                  <a:pt x="447091" y="578454"/>
                </a:lnTo>
                <a:lnTo>
                  <a:pt x="487228" y="553541"/>
                </a:lnTo>
                <a:lnTo>
                  <a:pt x="522922" y="522922"/>
                </a:lnTo>
                <a:lnTo>
                  <a:pt x="553541" y="487228"/>
                </a:lnTo>
                <a:lnTo>
                  <a:pt x="578454" y="447091"/>
                </a:lnTo>
                <a:lnTo>
                  <a:pt x="597030" y="403140"/>
                </a:lnTo>
                <a:lnTo>
                  <a:pt x="608638" y="356007"/>
                </a:lnTo>
                <a:lnTo>
                  <a:pt x="612648" y="306324"/>
                </a:lnTo>
                <a:lnTo>
                  <a:pt x="608638" y="256640"/>
                </a:lnTo>
                <a:lnTo>
                  <a:pt x="597030" y="209507"/>
                </a:lnTo>
                <a:lnTo>
                  <a:pt x="578454" y="165556"/>
                </a:lnTo>
                <a:lnTo>
                  <a:pt x="553541" y="125419"/>
                </a:lnTo>
                <a:lnTo>
                  <a:pt x="522922" y="89725"/>
                </a:lnTo>
                <a:lnTo>
                  <a:pt x="487228" y="59106"/>
                </a:lnTo>
                <a:lnTo>
                  <a:pt x="447091" y="34193"/>
                </a:lnTo>
                <a:lnTo>
                  <a:pt x="403140" y="15617"/>
                </a:lnTo>
                <a:lnTo>
                  <a:pt x="356007" y="4009"/>
                </a:lnTo>
                <a:lnTo>
                  <a:pt x="30632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476245" y="5125592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2005" y="3803091"/>
            <a:ext cx="534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AC1381"/>
                </a:solidFill>
                <a:latin typeface="メイリオ"/>
                <a:cs typeface="メイリオ"/>
              </a:rPr>
              <a:t>累乗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3433" y="5213984"/>
            <a:ext cx="789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BEBEBE"/>
                </a:solidFill>
                <a:latin typeface="メイリオ"/>
                <a:cs typeface="メイリオ"/>
              </a:rPr>
              <a:t>ルート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57398" y="2875026"/>
            <a:ext cx="8350884" cy="1574800"/>
          </a:xfrm>
          <a:custGeom>
            <a:avLst/>
            <a:gdLst/>
            <a:ahLst/>
            <a:cxnLst/>
            <a:rect l="l" t="t" r="r" b="b"/>
            <a:pathLst>
              <a:path w="8350884" h="1574800">
                <a:moveTo>
                  <a:pt x="387603" y="0"/>
                </a:moveTo>
                <a:lnTo>
                  <a:pt x="1714753" y="0"/>
                </a:lnTo>
                <a:lnTo>
                  <a:pt x="3705479" y="0"/>
                </a:lnTo>
                <a:lnTo>
                  <a:pt x="8350504" y="0"/>
                </a:lnTo>
                <a:lnTo>
                  <a:pt x="8350504" y="918337"/>
                </a:lnTo>
                <a:lnTo>
                  <a:pt x="8350504" y="1311910"/>
                </a:lnTo>
                <a:lnTo>
                  <a:pt x="8350504" y="1574292"/>
                </a:lnTo>
                <a:lnTo>
                  <a:pt x="3705479" y="1574292"/>
                </a:lnTo>
                <a:lnTo>
                  <a:pt x="1714753" y="1574292"/>
                </a:lnTo>
                <a:lnTo>
                  <a:pt x="387603" y="1574292"/>
                </a:lnTo>
                <a:lnTo>
                  <a:pt x="387603" y="1311910"/>
                </a:lnTo>
                <a:lnTo>
                  <a:pt x="0" y="1129919"/>
                </a:lnTo>
                <a:lnTo>
                  <a:pt x="387603" y="918337"/>
                </a:lnTo>
                <a:lnTo>
                  <a:pt x="3876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45972" y="2412619"/>
            <a:ext cx="9164955" cy="1005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4427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正負の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  <a:p>
            <a:pPr marL="2654300">
              <a:lnSpc>
                <a:spcPct val="100000"/>
              </a:lnSpc>
              <a:spcBef>
                <a:spcPts val="2310"/>
              </a:spcBef>
            </a:pPr>
            <a:r>
              <a:rPr sz="2100" dirty="0">
                <a:latin typeface="Cambria Math"/>
                <a:cs typeface="Cambria Math"/>
              </a:rPr>
              <a:t>𝒂</a:t>
            </a:r>
            <a:r>
              <a:rPr sz="2100" spc="229" dirty="0">
                <a:latin typeface="Cambria Math"/>
                <a:cs typeface="Cambria Math"/>
              </a:rPr>
              <a:t> </a:t>
            </a:r>
            <a:r>
              <a:rPr sz="2100" b="1" spc="5" dirty="0">
                <a:latin typeface="メイリオ"/>
                <a:cs typeface="メイリオ"/>
              </a:rPr>
              <a:t>を </a:t>
            </a:r>
            <a:r>
              <a:rPr sz="2100" dirty="0">
                <a:latin typeface="Cambria Math"/>
                <a:cs typeface="Cambria Math"/>
              </a:rPr>
              <a:t>𝒃</a:t>
            </a:r>
            <a:r>
              <a:rPr sz="2100" spc="235" dirty="0">
                <a:latin typeface="Cambria Math"/>
                <a:cs typeface="Cambria Math"/>
              </a:rPr>
              <a:t> </a:t>
            </a:r>
            <a:r>
              <a:rPr sz="2100" b="1" spc="-10" dirty="0">
                <a:latin typeface="メイリオ"/>
                <a:cs typeface="メイリオ"/>
              </a:rPr>
              <a:t>回掛けた数を </a:t>
            </a:r>
            <a:r>
              <a:rPr sz="2100" dirty="0">
                <a:latin typeface="Cambria Math"/>
                <a:cs typeface="Cambria Math"/>
              </a:rPr>
              <a:t>𝒂</a:t>
            </a:r>
            <a:r>
              <a:rPr sz="2250" baseline="27777" dirty="0">
                <a:latin typeface="Cambria Math"/>
                <a:cs typeface="Cambria Math"/>
              </a:rPr>
              <a:t>𝒃</a:t>
            </a:r>
            <a:r>
              <a:rPr sz="2250" spc="682" baseline="27777" dirty="0">
                <a:latin typeface="Cambria Math"/>
                <a:cs typeface="Cambria Math"/>
              </a:rPr>
              <a:t> </a:t>
            </a:r>
            <a:r>
              <a:rPr sz="2100" b="1" spc="-10" dirty="0">
                <a:latin typeface="メイリオ"/>
                <a:cs typeface="メイリオ"/>
              </a:rPr>
              <a:t>と書き、「</a:t>
            </a:r>
            <a:r>
              <a:rPr sz="2100" dirty="0">
                <a:latin typeface="Cambria Math"/>
                <a:cs typeface="Cambria Math"/>
              </a:rPr>
              <a:t>𝒂</a:t>
            </a:r>
            <a:r>
              <a:rPr sz="2100" spc="229" dirty="0">
                <a:latin typeface="Cambria Math"/>
                <a:cs typeface="Cambria Math"/>
              </a:rPr>
              <a:t> </a:t>
            </a:r>
            <a:r>
              <a:rPr sz="2100" b="1" dirty="0">
                <a:latin typeface="メイリオ"/>
                <a:cs typeface="メイリオ"/>
              </a:rPr>
              <a:t>の </a:t>
            </a:r>
            <a:r>
              <a:rPr sz="2100" dirty="0">
                <a:latin typeface="Cambria Math"/>
                <a:cs typeface="Cambria Math"/>
              </a:rPr>
              <a:t>𝒃</a:t>
            </a:r>
            <a:r>
              <a:rPr sz="2100" spc="245" dirty="0">
                <a:latin typeface="Cambria Math"/>
                <a:cs typeface="Cambria Math"/>
              </a:rPr>
              <a:t> </a:t>
            </a:r>
            <a:r>
              <a:rPr sz="2100" b="1" spc="-20" dirty="0">
                <a:latin typeface="メイリオ"/>
                <a:cs typeface="メイリオ"/>
              </a:rPr>
              <a:t>乗」という</a:t>
            </a:r>
            <a:endParaRPr sz="2100">
              <a:latin typeface="メイリオ"/>
              <a:cs typeface="メイリオ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59708" y="3727703"/>
            <a:ext cx="467995" cy="467995"/>
          </a:xfrm>
          <a:custGeom>
            <a:avLst/>
            <a:gdLst/>
            <a:ahLst/>
            <a:cxnLst/>
            <a:rect l="l" t="t" r="r" b="b"/>
            <a:pathLst>
              <a:path w="467995" h="467995">
                <a:moveTo>
                  <a:pt x="233933" y="0"/>
                </a:moveTo>
                <a:lnTo>
                  <a:pt x="186799" y="4754"/>
                </a:lnTo>
                <a:lnTo>
                  <a:pt x="142892" y="18389"/>
                </a:lnTo>
                <a:lnTo>
                  <a:pt x="103156" y="39962"/>
                </a:lnTo>
                <a:lnTo>
                  <a:pt x="68532" y="68532"/>
                </a:lnTo>
                <a:lnTo>
                  <a:pt x="39962" y="103156"/>
                </a:lnTo>
                <a:lnTo>
                  <a:pt x="18389" y="142892"/>
                </a:lnTo>
                <a:lnTo>
                  <a:pt x="4754" y="186799"/>
                </a:lnTo>
                <a:lnTo>
                  <a:pt x="0" y="233934"/>
                </a:lnTo>
                <a:lnTo>
                  <a:pt x="4754" y="281068"/>
                </a:lnTo>
                <a:lnTo>
                  <a:pt x="18389" y="324975"/>
                </a:lnTo>
                <a:lnTo>
                  <a:pt x="39962" y="364711"/>
                </a:lnTo>
                <a:lnTo>
                  <a:pt x="68532" y="399335"/>
                </a:lnTo>
                <a:lnTo>
                  <a:pt x="103156" y="427905"/>
                </a:lnTo>
                <a:lnTo>
                  <a:pt x="142892" y="449478"/>
                </a:lnTo>
                <a:lnTo>
                  <a:pt x="186799" y="463113"/>
                </a:lnTo>
                <a:lnTo>
                  <a:pt x="233933" y="467868"/>
                </a:lnTo>
                <a:lnTo>
                  <a:pt x="281068" y="463113"/>
                </a:lnTo>
                <a:lnTo>
                  <a:pt x="324975" y="449478"/>
                </a:lnTo>
                <a:lnTo>
                  <a:pt x="364711" y="427905"/>
                </a:lnTo>
                <a:lnTo>
                  <a:pt x="399335" y="399335"/>
                </a:lnTo>
                <a:lnTo>
                  <a:pt x="427905" y="364711"/>
                </a:lnTo>
                <a:lnTo>
                  <a:pt x="449478" y="324975"/>
                </a:lnTo>
                <a:lnTo>
                  <a:pt x="463113" y="281068"/>
                </a:lnTo>
                <a:lnTo>
                  <a:pt x="467867" y="233934"/>
                </a:lnTo>
                <a:lnTo>
                  <a:pt x="463113" y="186799"/>
                </a:lnTo>
                <a:lnTo>
                  <a:pt x="449478" y="142892"/>
                </a:lnTo>
                <a:lnTo>
                  <a:pt x="427905" y="103156"/>
                </a:lnTo>
                <a:lnTo>
                  <a:pt x="399335" y="68532"/>
                </a:lnTo>
                <a:lnTo>
                  <a:pt x="364711" y="39962"/>
                </a:lnTo>
                <a:lnTo>
                  <a:pt x="324975" y="18389"/>
                </a:lnTo>
                <a:lnTo>
                  <a:pt x="281068" y="4754"/>
                </a:lnTo>
                <a:lnTo>
                  <a:pt x="233933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66769" y="377774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例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45000" y="3781755"/>
            <a:ext cx="37452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179830" algn="l"/>
              </a:tabLst>
            </a:pP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𝟐</a:t>
            </a:r>
            <a:r>
              <a:rPr sz="2250" baseline="27777" dirty="0">
                <a:solidFill>
                  <a:srgbClr val="F43864"/>
                </a:solidFill>
                <a:latin typeface="Cambria Math"/>
                <a:cs typeface="Cambria Math"/>
              </a:rPr>
              <a:t>𝟓</a:t>
            </a:r>
            <a:r>
              <a:rPr sz="2250" spc="472" baseline="27777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=</a:t>
            </a:r>
            <a:r>
              <a:rPr sz="2100" spc="12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spc="-35" dirty="0">
                <a:solidFill>
                  <a:srgbClr val="F43864"/>
                </a:solidFill>
                <a:latin typeface="Cambria Math"/>
                <a:cs typeface="Cambria Math"/>
              </a:rPr>
              <a:t>𝟑𝟐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	(=</a:t>
            </a:r>
            <a:r>
              <a:rPr sz="2100" spc="120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𝟐</a:t>
            </a:r>
            <a:r>
              <a:rPr sz="2100" spc="-10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× 𝟐</a:t>
            </a:r>
            <a:r>
              <a:rPr sz="2100" spc="-10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× 𝟐</a:t>
            </a:r>
            <a:r>
              <a:rPr sz="2100" spc="-10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× 𝟐</a:t>
            </a:r>
            <a:r>
              <a:rPr sz="2100" spc="-10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×</a:t>
            </a:r>
            <a:r>
              <a:rPr sz="2100" spc="-10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F43864"/>
                </a:solidFill>
                <a:latin typeface="Cambria Math"/>
                <a:cs typeface="Cambria Math"/>
              </a:rPr>
              <a:t>𝟐)</a:t>
            </a:r>
            <a:endParaRPr sz="21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286000" y="2346959"/>
            <a:ext cx="612775" cy="3020695"/>
          </a:xfrm>
          <a:custGeom>
            <a:avLst/>
            <a:gdLst/>
            <a:ahLst/>
            <a:cxnLst/>
            <a:rect l="l" t="t" r="r" b="b"/>
            <a:pathLst>
              <a:path w="612775" h="3020695">
                <a:moveTo>
                  <a:pt x="612648" y="306324"/>
                </a:moveTo>
                <a:lnTo>
                  <a:pt x="608634" y="256641"/>
                </a:lnTo>
                <a:lnTo>
                  <a:pt x="597027" y="209511"/>
                </a:lnTo>
                <a:lnTo>
                  <a:pt x="578446" y="165557"/>
                </a:lnTo>
                <a:lnTo>
                  <a:pt x="553529" y="125425"/>
                </a:lnTo>
                <a:lnTo>
                  <a:pt x="522909" y="89725"/>
                </a:lnTo>
                <a:lnTo>
                  <a:pt x="487222" y="59118"/>
                </a:lnTo>
                <a:lnTo>
                  <a:pt x="447090" y="34201"/>
                </a:lnTo>
                <a:lnTo>
                  <a:pt x="403136" y="15621"/>
                </a:lnTo>
                <a:lnTo>
                  <a:pt x="356006" y="4013"/>
                </a:lnTo>
                <a:lnTo>
                  <a:pt x="306324" y="0"/>
                </a:lnTo>
                <a:lnTo>
                  <a:pt x="256628" y="4013"/>
                </a:lnTo>
                <a:lnTo>
                  <a:pt x="209499" y="15621"/>
                </a:lnTo>
                <a:lnTo>
                  <a:pt x="165544" y="34201"/>
                </a:lnTo>
                <a:lnTo>
                  <a:pt x="125412" y="59118"/>
                </a:lnTo>
                <a:lnTo>
                  <a:pt x="89725" y="89725"/>
                </a:lnTo>
                <a:lnTo>
                  <a:pt x="59105" y="125425"/>
                </a:lnTo>
                <a:lnTo>
                  <a:pt x="34188" y="165557"/>
                </a:lnTo>
                <a:lnTo>
                  <a:pt x="15608" y="209511"/>
                </a:lnTo>
                <a:lnTo>
                  <a:pt x="4000" y="256641"/>
                </a:lnTo>
                <a:lnTo>
                  <a:pt x="0" y="306324"/>
                </a:lnTo>
                <a:lnTo>
                  <a:pt x="4000" y="356019"/>
                </a:lnTo>
                <a:lnTo>
                  <a:pt x="15608" y="403148"/>
                </a:lnTo>
                <a:lnTo>
                  <a:pt x="34188" y="447103"/>
                </a:lnTo>
                <a:lnTo>
                  <a:pt x="59105" y="487235"/>
                </a:lnTo>
                <a:lnTo>
                  <a:pt x="89725" y="522935"/>
                </a:lnTo>
                <a:lnTo>
                  <a:pt x="125412" y="553542"/>
                </a:lnTo>
                <a:lnTo>
                  <a:pt x="165544" y="578459"/>
                </a:lnTo>
                <a:lnTo>
                  <a:pt x="209499" y="597039"/>
                </a:lnTo>
                <a:lnTo>
                  <a:pt x="230124" y="602119"/>
                </a:lnTo>
                <a:lnTo>
                  <a:pt x="230124" y="1366913"/>
                </a:lnTo>
                <a:lnTo>
                  <a:pt x="165544" y="1390561"/>
                </a:lnTo>
                <a:lnTo>
                  <a:pt x="125412" y="1415478"/>
                </a:lnTo>
                <a:lnTo>
                  <a:pt x="89725" y="1446098"/>
                </a:lnTo>
                <a:lnTo>
                  <a:pt x="59105" y="1481785"/>
                </a:lnTo>
                <a:lnTo>
                  <a:pt x="34188" y="1521917"/>
                </a:lnTo>
                <a:lnTo>
                  <a:pt x="15608" y="1565871"/>
                </a:lnTo>
                <a:lnTo>
                  <a:pt x="4000" y="1613001"/>
                </a:lnTo>
                <a:lnTo>
                  <a:pt x="0" y="1662684"/>
                </a:lnTo>
                <a:lnTo>
                  <a:pt x="4000" y="1712379"/>
                </a:lnTo>
                <a:lnTo>
                  <a:pt x="15608" y="1759508"/>
                </a:lnTo>
                <a:lnTo>
                  <a:pt x="34188" y="1803463"/>
                </a:lnTo>
                <a:lnTo>
                  <a:pt x="59105" y="1843595"/>
                </a:lnTo>
                <a:lnTo>
                  <a:pt x="89725" y="1879282"/>
                </a:lnTo>
                <a:lnTo>
                  <a:pt x="125412" y="1909902"/>
                </a:lnTo>
                <a:lnTo>
                  <a:pt x="165544" y="1934819"/>
                </a:lnTo>
                <a:lnTo>
                  <a:pt x="209499" y="1953399"/>
                </a:lnTo>
                <a:lnTo>
                  <a:pt x="230124" y="1958479"/>
                </a:lnTo>
                <a:lnTo>
                  <a:pt x="230124" y="3020568"/>
                </a:lnTo>
                <a:lnTo>
                  <a:pt x="382524" y="3020568"/>
                </a:lnTo>
                <a:lnTo>
                  <a:pt x="382524" y="1958479"/>
                </a:lnTo>
                <a:lnTo>
                  <a:pt x="403136" y="1953399"/>
                </a:lnTo>
                <a:lnTo>
                  <a:pt x="447090" y="1934819"/>
                </a:lnTo>
                <a:lnTo>
                  <a:pt x="487222" y="1909902"/>
                </a:lnTo>
                <a:lnTo>
                  <a:pt x="522922" y="1879282"/>
                </a:lnTo>
                <a:lnTo>
                  <a:pt x="553529" y="1843595"/>
                </a:lnTo>
                <a:lnTo>
                  <a:pt x="578446" y="1803463"/>
                </a:lnTo>
                <a:lnTo>
                  <a:pt x="597027" y="1759508"/>
                </a:lnTo>
                <a:lnTo>
                  <a:pt x="608634" y="1712379"/>
                </a:lnTo>
                <a:lnTo>
                  <a:pt x="612648" y="1662684"/>
                </a:lnTo>
                <a:lnTo>
                  <a:pt x="608634" y="1613001"/>
                </a:lnTo>
                <a:lnTo>
                  <a:pt x="597027" y="1565871"/>
                </a:lnTo>
                <a:lnTo>
                  <a:pt x="578446" y="1521917"/>
                </a:lnTo>
                <a:lnTo>
                  <a:pt x="553529" y="1481785"/>
                </a:lnTo>
                <a:lnTo>
                  <a:pt x="522909" y="1446085"/>
                </a:lnTo>
                <a:lnTo>
                  <a:pt x="487222" y="1415478"/>
                </a:lnTo>
                <a:lnTo>
                  <a:pt x="447090" y="1390561"/>
                </a:lnTo>
                <a:lnTo>
                  <a:pt x="403136" y="1371981"/>
                </a:lnTo>
                <a:lnTo>
                  <a:pt x="382524" y="1366913"/>
                </a:lnTo>
                <a:lnTo>
                  <a:pt x="382524" y="602119"/>
                </a:lnTo>
                <a:lnTo>
                  <a:pt x="447090" y="578459"/>
                </a:lnTo>
                <a:lnTo>
                  <a:pt x="487222" y="553542"/>
                </a:lnTo>
                <a:lnTo>
                  <a:pt x="522922" y="522922"/>
                </a:lnTo>
                <a:lnTo>
                  <a:pt x="553529" y="487235"/>
                </a:lnTo>
                <a:lnTo>
                  <a:pt x="578446" y="447103"/>
                </a:lnTo>
                <a:lnTo>
                  <a:pt x="597027" y="403148"/>
                </a:lnTo>
                <a:lnTo>
                  <a:pt x="608634" y="356019"/>
                </a:lnTo>
                <a:lnTo>
                  <a:pt x="612648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92122" y="198501"/>
            <a:ext cx="6731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準備：基本的な数と計算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76245" y="3768979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86000" y="5059679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306324" y="0"/>
                </a:moveTo>
                <a:lnTo>
                  <a:pt x="256640" y="4009"/>
                </a:lnTo>
                <a:lnTo>
                  <a:pt x="209507" y="15617"/>
                </a:lnTo>
                <a:lnTo>
                  <a:pt x="165556" y="34193"/>
                </a:lnTo>
                <a:lnTo>
                  <a:pt x="125419" y="59106"/>
                </a:lnTo>
                <a:lnTo>
                  <a:pt x="89725" y="89725"/>
                </a:lnTo>
                <a:lnTo>
                  <a:pt x="59106" y="125419"/>
                </a:lnTo>
                <a:lnTo>
                  <a:pt x="34193" y="165556"/>
                </a:lnTo>
                <a:lnTo>
                  <a:pt x="15617" y="209507"/>
                </a:lnTo>
                <a:lnTo>
                  <a:pt x="4009" y="256640"/>
                </a:lnTo>
                <a:lnTo>
                  <a:pt x="0" y="306324"/>
                </a:lnTo>
                <a:lnTo>
                  <a:pt x="4009" y="356007"/>
                </a:lnTo>
                <a:lnTo>
                  <a:pt x="15617" y="403140"/>
                </a:lnTo>
                <a:lnTo>
                  <a:pt x="34193" y="447091"/>
                </a:lnTo>
                <a:lnTo>
                  <a:pt x="59106" y="487228"/>
                </a:lnTo>
                <a:lnTo>
                  <a:pt x="89725" y="522922"/>
                </a:lnTo>
                <a:lnTo>
                  <a:pt x="125419" y="553541"/>
                </a:lnTo>
                <a:lnTo>
                  <a:pt x="165556" y="578454"/>
                </a:lnTo>
                <a:lnTo>
                  <a:pt x="209507" y="597030"/>
                </a:lnTo>
                <a:lnTo>
                  <a:pt x="256640" y="608638"/>
                </a:lnTo>
                <a:lnTo>
                  <a:pt x="306324" y="612648"/>
                </a:lnTo>
                <a:lnTo>
                  <a:pt x="356007" y="608638"/>
                </a:lnTo>
                <a:lnTo>
                  <a:pt x="403140" y="597030"/>
                </a:lnTo>
                <a:lnTo>
                  <a:pt x="447091" y="578454"/>
                </a:lnTo>
                <a:lnTo>
                  <a:pt x="487228" y="553541"/>
                </a:lnTo>
                <a:lnTo>
                  <a:pt x="522922" y="522922"/>
                </a:lnTo>
                <a:lnTo>
                  <a:pt x="553541" y="487228"/>
                </a:lnTo>
                <a:lnTo>
                  <a:pt x="578454" y="447091"/>
                </a:lnTo>
                <a:lnTo>
                  <a:pt x="597030" y="403140"/>
                </a:lnTo>
                <a:lnTo>
                  <a:pt x="608638" y="356007"/>
                </a:lnTo>
                <a:lnTo>
                  <a:pt x="612648" y="306324"/>
                </a:lnTo>
                <a:lnTo>
                  <a:pt x="608638" y="256640"/>
                </a:lnTo>
                <a:lnTo>
                  <a:pt x="597030" y="209507"/>
                </a:lnTo>
                <a:lnTo>
                  <a:pt x="578454" y="165556"/>
                </a:lnTo>
                <a:lnTo>
                  <a:pt x="553541" y="125419"/>
                </a:lnTo>
                <a:lnTo>
                  <a:pt x="522922" y="89725"/>
                </a:lnTo>
                <a:lnTo>
                  <a:pt x="487228" y="59106"/>
                </a:lnTo>
                <a:lnTo>
                  <a:pt x="447091" y="34193"/>
                </a:lnTo>
                <a:lnTo>
                  <a:pt x="403140" y="15617"/>
                </a:lnTo>
                <a:lnTo>
                  <a:pt x="356007" y="4009"/>
                </a:lnTo>
                <a:lnTo>
                  <a:pt x="306324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76245" y="5125592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8672" y="2412619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正負の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2005" y="3803091"/>
            <a:ext cx="534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BEBEBE"/>
                </a:solidFill>
                <a:latin typeface="メイリオ"/>
                <a:cs typeface="メイリオ"/>
              </a:rPr>
              <a:t>累乗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3433" y="5213984"/>
            <a:ext cx="789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BEBEBE"/>
                </a:solidFill>
                <a:latin typeface="メイリオ"/>
                <a:cs typeface="メイリオ"/>
              </a:rPr>
              <a:t>ルート</a:t>
            </a:r>
            <a:endParaRPr sz="2000">
              <a:latin typeface="メイリオ"/>
              <a:cs typeface="メイリオ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43110" y="3910774"/>
            <a:ext cx="8379459" cy="1997710"/>
            <a:chOff x="3043110" y="3910774"/>
            <a:chExt cx="8379459" cy="1997710"/>
          </a:xfrm>
        </p:grpSpPr>
        <p:sp>
          <p:nvSpPr>
            <p:cNvPr id="18" name="object 18"/>
            <p:cNvSpPr/>
            <p:nvPr/>
          </p:nvSpPr>
          <p:spPr>
            <a:xfrm>
              <a:off x="3057398" y="3925061"/>
              <a:ext cx="8350884" cy="1969135"/>
            </a:xfrm>
            <a:custGeom>
              <a:avLst/>
              <a:gdLst/>
              <a:ahLst/>
              <a:cxnLst/>
              <a:rect l="l" t="t" r="r" b="b"/>
              <a:pathLst>
                <a:path w="8350884" h="1969135">
                  <a:moveTo>
                    <a:pt x="387603" y="0"/>
                  </a:moveTo>
                  <a:lnTo>
                    <a:pt x="1714753" y="0"/>
                  </a:lnTo>
                  <a:lnTo>
                    <a:pt x="3705479" y="0"/>
                  </a:lnTo>
                  <a:lnTo>
                    <a:pt x="8350504" y="0"/>
                  </a:lnTo>
                  <a:lnTo>
                    <a:pt x="8350504" y="1148588"/>
                  </a:lnTo>
                  <a:lnTo>
                    <a:pt x="8350504" y="1640839"/>
                  </a:lnTo>
                  <a:lnTo>
                    <a:pt x="8350504" y="1969008"/>
                  </a:lnTo>
                  <a:lnTo>
                    <a:pt x="3705479" y="1969008"/>
                  </a:lnTo>
                  <a:lnTo>
                    <a:pt x="1714753" y="1969008"/>
                  </a:lnTo>
                  <a:lnTo>
                    <a:pt x="387603" y="1969008"/>
                  </a:lnTo>
                  <a:lnTo>
                    <a:pt x="387603" y="1640839"/>
                  </a:lnTo>
                  <a:lnTo>
                    <a:pt x="0" y="1413256"/>
                  </a:lnTo>
                  <a:lnTo>
                    <a:pt x="387603" y="1148588"/>
                  </a:lnTo>
                  <a:lnTo>
                    <a:pt x="387603" y="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95007" y="4285741"/>
              <a:ext cx="325120" cy="257175"/>
            </a:xfrm>
            <a:custGeom>
              <a:avLst/>
              <a:gdLst/>
              <a:ahLst/>
              <a:cxnLst/>
              <a:rect l="l" t="t" r="r" b="b"/>
              <a:pathLst>
                <a:path w="325120" h="257175">
                  <a:moveTo>
                    <a:pt x="186309" y="0"/>
                  </a:moveTo>
                  <a:lnTo>
                    <a:pt x="153035" y="0"/>
                  </a:lnTo>
                  <a:lnTo>
                    <a:pt x="88773" y="222376"/>
                  </a:lnTo>
                  <a:lnTo>
                    <a:pt x="42799" y="121284"/>
                  </a:lnTo>
                  <a:lnTo>
                    <a:pt x="0" y="140842"/>
                  </a:lnTo>
                  <a:lnTo>
                    <a:pt x="4064" y="150621"/>
                  </a:lnTo>
                  <a:lnTo>
                    <a:pt x="26035" y="140842"/>
                  </a:lnTo>
                  <a:lnTo>
                    <a:pt x="80010" y="256666"/>
                  </a:lnTo>
                  <a:lnTo>
                    <a:pt x="92583" y="256666"/>
                  </a:lnTo>
                  <a:lnTo>
                    <a:pt x="162687" y="17398"/>
                  </a:lnTo>
                  <a:lnTo>
                    <a:pt x="186309" y="17398"/>
                  </a:lnTo>
                  <a:lnTo>
                    <a:pt x="186309" y="17017"/>
                  </a:lnTo>
                  <a:lnTo>
                    <a:pt x="324612" y="17017"/>
                  </a:lnTo>
                  <a:lnTo>
                    <a:pt x="324612" y="253"/>
                  </a:lnTo>
                  <a:lnTo>
                    <a:pt x="186309" y="253"/>
                  </a:lnTo>
                  <a:lnTo>
                    <a:pt x="1863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87571" y="4216400"/>
            <a:ext cx="69786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8504" algn="l"/>
              </a:tabLst>
            </a:pPr>
            <a:r>
              <a:rPr sz="2100" b="1" dirty="0">
                <a:latin typeface="メイリオ"/>
                <a:cs typeface="メイリオ"/>
              </a:rPr>
              <a:t>2</a:t>
            </a:r>
            <a:r>
              <a:rPr sz="2100" b="1" spc="-5" dirty="0">
                <a:latin typeface="メイリオ"/>
                <a:cs typeface="メイリオ"/>
              </a:rPr>
              <a:t> </a:t>
            </a:r>
            <a:r>
              <a:rPr sz="2100" b="1" dirty="0">
                <a:latin typeface="メイリオ"/>
                <a:cs typeface="メイリオ"/>
              </a:rPr>
              <a:t>回掛けて</a:t>
            </a:r>
            <a:r>
              <a:rPr sz="2100" b="1" spc="-15" dirty="0">
                <a:latin typeface="メイリオ"/>
                <a:cs typeface="メイリオ"/>
              </a:rPr>
              <a:t> </a:t>
            </a:r>
            <a:r>
              <a:rPr sz="2100" dirty="0">
                <a:latin typeface="Cambria Math"/>
                <a:cs typeface="Cambria Math"/>
              </a:rPr>
              <a:t>𝒙</a:t>
            </a:r>
            <a:r>
              <a:rPr sz="2100" spc="235" dirty="0">
                <a:latin typeface="Cambria Math"/>
                <a:cs typeface="Cambria Math"/>
              </a:rPr>
              <a:t> </a:t>
            </a:r>
            <a:r>
              <a:rPr sz="2100" b="1" dirty="0">
                <a:latin typeface="メイリオ"/>
                <a:cs typeface="メイリオ"/>
              </a:rPr>
              <a:t>になる数</a:t>
            </a:r>
            <a:r>
              <a:rPr sz="2100" b="1" spc="-50" dirty="0">
                <a:latin typeface="メイリオ"/>
                <a:cs typeface="メイリオ"/>
              </a:rPr>
              <a:t>を</a:t>
            </a:r>
            <a:r>
              <a:rPr sz="2100" b="1" dirty="0">
                <a:latin typeface="メイリオ"/>
                <a:cs typeface="メイリオ"/>
              </a:rPr>
              <a:t>	</a:t>
            </a:r>
            <a:r>
              <a:rPr sz="2100" dirty="0">
                <a:latin typeface="Cambria Math"/>
                <a:cs typeface="Cambria Math"/>
              </a:rPr>
              <a:t>𝒙</a:t>
            </a:r>
            <a:r>
              <a:rPr sz="2100" spc="225" dirty="0">
                <a:latin typeface="Cambria Math"/>
                <a:cs typeface="Cambria Math"/>
              </a:rPr>
              <a:t> </a:t>
            </a:r>
            <a:r>
              <a:rPr sz="2100" b="1" dirty="0">
                <a:latin typeface="メイリオ"/>
                <a:cs typeface="メイリオ"/>
              </a:rPr>
              <a:t>と書き、「ルート</a:t>
            </a:r>
            <a:r>
              <a:rPr sz="2100" b="1" spc="10" dirty="0">
                <a:latin typeface="メイリオ"/>
                <a:cs typeface="メイリオ"/>
              </a:rPr>
              <a:t> </a:t>
            </a:r>
            <a:r>
              <a:rPr sz="2100" spc="-20" dirty="0">
                <a:latin typeface="Cambria Math"/>
                <a:cs typeface="Cambria Math"/>
              </a:rPr>
              <a:t>𝒙</a:t>
            </a:r>
            <a:r>
              <a:rPr sz="2100" b="1" dirty="0">
                <a:latin typeface="メイリオ"/>
                <a:cs typeface="メイリオ"/>
              </a:rPr>
              <a:t>」とい</a:t>
            </a:r>
            <a:r>
              <a:rPr sz="2100" b="1" spc="-50" dirty="0">
                <a:latin typeface="メイリオ"/>
                <a:cs typeface="メイリオ"/>
              </a:rPr>
              <a:t>う</a:t>
            </a:r>
            <a:endParaRPr sz="2100">
              <a:latin typeface="メイリオ"/>
              <a:cs typeface="メイリオ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59708" y="4789932"/>
            <a:ext cx="467995" cy="467995"/>
          </a:xfrm>
          <a:custGeom>
            <a:avLst/>
            <a:gdLst/>
            <a:ahLst/>
            <a:cxnLst/>
            <a:rect l="l" t="t" r="r" b="b"/>
            <a:pathLst>
              <a:path w="467995" h="467995">
                <a:moveTo>
                  <a:pt x="233933" y="0"/>
                </a:moveTo>
                <a:lnTo>
                  <a:pt x="186799" y="4754"/>
                </a:lnTo>
                <a:lnTo>
                  <a:pt x="142892" y="18389"/>
                </a:lnTo>
                <a:lnTo>
                  <a:pt x="103156" y="39962"/>
                </a:lnTo>
                <a:lnTo>
                  <a:pt x="68532" y="68532"/>
                </a:lnTo>
                <a:lnTo>
                  <a:pt x="39962" y="103156"/>
                </a:lnTo>
                <a:lnTo>
                  <a:pt x="18389" y="142892"/>
                </a:lnTo>
                <a:lnTo>
                  <a:pt x="4754" y="186799"/>
                </a:lnTo>
                <a:lnTo>
                  <a:pt x="0" y="233934"/>
                </a:lnTo>
                <a:lnTo>
                  <a:pt x="4754" y="281068"/>
                </a:lnTo>
                <a:lnTo>
                  <a:pt x="18389" y="324975"/>
                </a:lnTo>
                <a:lnTo>
                  <a:pt x="39962" y="364711"/>
                </a:lnTo>
                <a:lnTo>
                  <a:pt x="68532" y="399335"/>
                </a:lnTo>
                <a:lnTo>
                  <a:pt x="103156" y="427905"/>
                </a:lnTo>
                <a:lnTo>
                  <a:pt x="142892" y="449478"/>
                </a:lnTo>
                <a:lnTo>
                  <a:pt x="186799" y="463113"/>
                </a:lnTo>
                <a:lnTo>
                  <a:pt x="233933" y="467868"/>
                </a:lnTo>
                <a:lnTo>
                  <a:pt x="281068" y="463113"/>
                </a:lnTo>
                <a:lnTo>
                  <a:pt x="324975" y="449478"/>
                </a:lnTo>
                <a:lnTo>
                  <a:pt x="364711" y="427905"/>
                </a:lnTo>
                <a:lnTo>
                  <a:pt x="399335" y="399335"/>
                </a:lnTo>
                <a:lnTo>
                  <a:pt x="427905" y="364711"/>
                </a:lnTo>
                <a:lnTo>
                  <a:pt x="449478" y="324975"/>
                </a:lnTo>
                <a:lnTo>
                  <a:pt x="463113" y="281068"/>
                </a:lnTo>
                <a:lnTo>
                  <a:pt x="467867" y="233934"/>
                </a:lnTo>
                <a:lnTo>
                  <a:pt x="463113" y="186799"/>
                </a:lnTo>
                <a:lnTo>
                  <a:pt x="449478" y="142892"/>
                </a:lnTo>
                <a:lnTo>
                  <a:pt x="427905" y="103156"/>
                </a:lnTo>
                <a:lnTo>
                  <a:pt x="399335" y="68532"/>
                </a:lnTo>
                <a:lnTo>
                  <a:pt x="364711" y="39962"/>
                </a:lnTo>
                <a:lnTo>
                  <a:pt x="324975" y="18389"/>
                </a:lnTo>
                <a:lnTo>
                  <a:pt x="281068" y="4754"/>
                </a:lnTo>
                <a:lnTo>
                  <a:pt x="233933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866769" y="4839157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例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44238" y="4879466"/>
            <a:ext cx="329565" cy="257175"/>
          </a:xfrm>
          <a:custGeom>
            <a:avLst/>
            <a:gdLst/>
            <a:ahLst/>
            <a:cxnLst/>
            <a:rect l="l" t="t" r="r" b="b"/>
            <a:pathLst>
              <a:path w="329564" h="257175">
                <a:moveTo>
                  <a:pt x="186309" y="0"/>
                </a:moveTo>
                <a:lnTo>
                  <a:pt x="153035" y="0"/>
                </a:lnTo>
                <a:lnTo>
                  <a:pt x="88773" y="222249"/>
                </a:lnTo>
                <a:lnTo>
                  <a:pt x="42799" y="121284"/>
                </a:lnTo>
                <a:lnTo>
                  <a:pt x="0" y="140715"/>
                </a:lnTo>
                <a:lnTo>
                  <a:pt x="4063" y="150494"/>
                </a:lnTo>
                <a:lnTo>
                  <a:pt x="26035" y="140715"/>
                </a:lnTo>
                <a:lnTo>
                  <a:pt x="80010" y="256666"/>
                </a:lnTo>
                <a:lnTo>
                  <a:pt x="92583" y="256666"/>
                </a:lnTo>
                <a:lnTo>
                  <a:pt x="162687" y="17271"/>
                </a:lnTo>
                <a:lnTo>
                  <a:pt x="186309" y="17271"/>
                </a:lnTo>
                <a:lnTo>
                  <a:pt x="186309" y="17017"/>
                </a:lnTo>
                <a:lnTo>
                  <a:pt x="329184" y="17017"/>
                </a:lnTo>
                <a:lnTo>
                  <a:pt x="329184" y="253"/>
                </a:lnTo>
                <a:lnTo>
                  <a:pt x="186309" y="253"/>
                </a:lnTo>
                <a:lnTo>
                  <a:pt x="186309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02860" y="4834508"/>
            <a:ext cx="6927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𝟗</a:t>
            </a:r>
            <a:r>
              <a:rPr sz="2100" spc="10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=</a:t>
            </a:r>
            <a:r>
              <a:rPr sz="2100" spc="114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spc="-50" dirty="0">
                <a:solidFill>
                  <a:srgbClr val="F43864"/>
                </a:solidFill>
                <a:latin typeface="Cambria Math"/>
                <a:cs typeface="Cambria Math"/>
              </a:rPr>
              <a:t>𝟑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44238" y="5311902"/>
            <a:ext cx="329565" cy="257175"/>
          </a:xfrm>
          <a:custGeom>
            <a:avLst/>
            <a:gdLst/>
            <a:ahLst/>
            <a:cxnLst/>
            <a:rect l="l" t="t" r="r" b="b"/>
            <a:pathLst>
              <a:path w="329564" h="257175">
                <a:moveTo>
                  <a:pt x="186309" y="0"/>
                </a:moveTo>
                <a:lnTo>
                  <a:pt x="153035" y="0"/>
                </a:lnTo>
                <a:lnTo>
                  <a:pt x="88773" y="222250"/>
                </a:lnTo>
                <a:lnTo>
                  <a:pt x="42799" y="121285"/>
                </a:lnTo>
                <a:lnTo>
                  <a:pt x="0" y="140716"/>
                </a:lnTo>
                <a:lnTo>
                  <a:pt x="4063" y="150495"/>
                </a:lnTo>
                <a:lnTo>
                  <a:pt x="26035" y="140716"/>
                </a:lnTo>
                <a:lnTo>
                  <a:pt x="80010" y="256667"/>
                </a:lnTo>
                <a:lnTo>
                  <a:pt x="92583" y="256667"/>
                </a:lnTo>
                <a:lnTo>
                  <a:pt x="162687" y="17272"/>
                </a:lnTo>
                <a:lnTo>
                  <a:pt x="186309" y="17272"/>
                </a:lnTo>
                <a:lnTo>
                  <a:pt x="186309" y="17018"/>
                </a:lnTo>
                <a:lnTo>
                  <a:pt x="329184" y="17018"/>
                </a:lnTo>
                <a:lnTo>
                  <a:pt x="329184" y="254"/>
                </a:lnTo>
                <a:lnTo>
                  <a:pt x="186309" y="254"/>
                </a:lnTo>
                <a:lnTo>
                  <a:pt x="186309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02860" y="5268595"/>
            <a:ext cx="15113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1379E"/>
                </a:solidFill>
                <a:latin typeface="Cambria Math"/>
                <a:cs typeface="Cambria Math"/>
              </a:rPr>
              <a:t>𝟐</a:t>
            </a:r>
            <a:r>
              <a:rPr sz="2100" spc="105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21379E"/>
                </a:solidFill>
                <a:latin typeface="Cambria Math"/>
                <a:cs typeface="Cambria Math"/>
              </a:rPr>
              <a:t>=</a:t>
            </a:r>
            <a:r>
              <a:rPr sz="2100" spc="12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21379E"/>
                </a:solidFill>
                <a:latin typeface="Cambria Math"/>
                <a:cs typeface="Cambria Math"/>
              </a:rPr>
              <a:t>𝟏.</a:t>
            </a:r>
            <a:r>
              <a:rPr sz="2100" spc="-14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21379E"/>
                </a:solidFill>
                <a:latin typeface="Cambria Math"/>
                <a:cs typeface="Cambria Math"/>
              </a:rPr>
              <a:t>𝟒𝟏𝟒</a:t>
            </a:r>
            <a:r>
              <a:rPr sz="2100" spc="-14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100" spc="-50" dirty="0">
                <a:solidFill>
                  <a:srgbClr val="21379E"/>
                </a:solidFill>
                <a:latin typeface="Cambria Math"/>
                <a:cs typeface="Cambria Math"/>
              </a:rPr>
              <a:t>…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37123" y="4821173"/>
            <a:ext cx="23120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F43864"/>
                </a:solidFill>
                <a:latin typeface="メイリオ"/>
                <a:cs typeface="メイリオ"/>
              </a:rPr>
              <a:t>(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𝟑</a:t>
            </a:r>
            <a:r>
              <a:rPr sz="2100" spc="-10" dirty="0">
                <a:solidFill>
                  <a:srgbClr val="F43864"/>
                </a:solidFill>
                <a:latin typeface="Cambria Math"/>
                <a:cs typeface="Cambria Math"/>
              </a:rPr>
              <a:t> ×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𝟑</a:t>
            </a:r>
            <a:r>
              <a:rPr sz="2100" spc="75" dirty="0">
                <a:solidFill>
                  <a:srgbClr val="F43864"/>
                </a:solidFill>
                <a:latin typeface="Cambria Math"/>
                <a:cs typeface="Cambria Math"/>
              </a:rPr>
              <a:t> =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𝟗</a:t>
            </a:r>
            <a:r>
              <a:rPr sz="2100" spc="22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b="1" spc="-15" dirty="0">
                <a:solidFill>
                  <a:srgbClr val="F43864"/>
                </a:solidFill>
                <a:latin typeface="メイリオ"/>
                <a:cs typeface="メイリオ"/>
              </a:rPr>
              <a:t>だから)</a:t>
            </a:r>
            <a:endParaRPr sz="2100">
              <a:latin typeface="メイリオ"/>
              <a:cs typeface="メイリオ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93442" y="6521957"/>
            <a:ext cx="9799320" cy="0"/>
          </a:xfrm>
          <a:custGeom>
            <a:avLst/>
            <a:gdLst/>
            <a:ahLst/>
            <a:cxnLst/>
            <a:rect l="l" t="t" r="r" b="b"/>
            <a:pathLst>
              <a:path w="9799320">
                <a:moveTo>
                  <a:pt x="0" y="0"/>
                </a:moveTo>
                <a:lnTo>
                  <a:pt x="9799319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717038" y="6564883"/>
            <a:ext cx="9406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※少し難しいが、値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13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が負の場合でも、2</a:t>
            </a: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 回掛けて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12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となる値は「複素数」を使えば計算できる（興味のある方はぜひ検索しましょう</a:t>
            </a:r>
            <a:r>
              <a:rPr sz="1200" b="1" spc="-50" dirty="0">
                <a:solidFill>
                  <a:srgbClr val="A6A6A6"/>
                </a:solidFill>
                <a:latin typeface="メイリオ"/>
                <a:cs typeface="メイリオ"/>
              </a:rPr>
              <a:t>）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886961" y="2109977"/>
            <a:ext cx="1097280" cy="196850"/>
          </a:xfrm>
          <a:custGeom>
            <a:avLst/>
            <a:gdLst/>
            <a:ahLst/>
            <a:cxnLst/>
            <a:rect l="l" t="t" r="r" b="b"/>
            <a:pathLst>
              <a:path w="1097279" h="196850">
                <a:moveTo>
                  <a:pt x="0" y="194056"/>
                </a:moveTo>
                <a:lnTo>
                  <a:pt x="45086" y="169794"/>
                </a:lnTo>
                <a:lnTo>
                  <a:pt x="90181" y="145876"/>
                </a:lnTo>
                <a:lnTo>
                  <a:pt x="135294" y="122640"/>
                </a:lnTo>
                <a:lnTo>
                  <a:pt x="180434" y="100424"/>
                </a:lnTo>
                <a:lnTo>
                  <a:pt x="225608" y="79566"/>
                </a:lnTo>
                <a:lnTo>
                  <a:pt x="270827" y="60404"/>
                </a:lnTo>
                <a:lnTo>
                  <a:pt x="316099" y="43277"/>
                </a:lnTo>
                <a:lnTo>
                  <a:pt x="361432" y="28523"/>
                </a:lnTo>
                <a:lnTo>
                  <a:pt x="406836" y="16480"/>
                </a:lnTo>
                <a:lnTo>
                  <a:pt x="452319" y="7486"/>
                </a:lnTo>
                <a:lnTo>
                  <a:pt x="497891" y="1880"/>
                </a:lnTo>
                <a:lnTo>
                  <a:pt x="543560" y="0"/>
                </a:lnTo>
                <a:lnTo>
                  <a:pt x="589331" y="2075"/>
                </a:lnTo>
                <a:lnTo>
                  <a:pt x="635199" y="7886"/>
                </a:lnTo>
                <a:lnTo>
                  <a:pt x="681156" y="17091"/>
                </a:lnTo>
                <a:lnTo>
                  <a:pt x="727192" y="29351"/>
                </a:lnTo>
                <a:lnTo>
                  <a:pt x="773299" y="44325"/>
                </a:lnTo>
                <a:lnTo>
                  <a:pt x="819467" y="61674"/>
                </a:lnTo>
                <a:lnTo>
                  <a:pt x="865688" y="81057"/>
                </a:lnTo>
                <a:lnTo>
                  <a:pt x="911954" y="102136"/>
                </a:lnTo>
                <a:lnTo>
                  <a:pt x="958254" y="124569"/>
                </a:lnTo>
                <a:lnTo>
                  <a:pt x="1004581" y="148016"/>
                </a:lnTo>
                <a:lnTo>
                  <a:pt x="1050926" y="172139"/>
                </a:lnTo>
                <a:lnTo>
                  <a:pt x="1097279" y="196596"/>
                </a:lnTo>
              </a:path>
            </a:pathLst>
          </a:custGeom>
          <a:ln w="28575">
            <a:solidFill>
              <a:srgbClr val="F438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86000" y="2346959"/>
            <a:ext cx="612775" cy="3020695"/>
          </a:xfrm>
          <a:custGeom>
            <a:avLst/>
            <a:gdLst/>
            <a:ahLst/>
            <a:cxnLst/>
            <a:rect l="l" t="t" r="r" b="b"/>
            <a:pathLst>
              <a:path w="612775" h="3020695">
                <a:moveTo>
                  <a:pt x="612648" y="306324"/>
                </a:moveTo>
                <a:lnTo>
                  <a:pt x="608634" y="256641"/>
                </a:lnTo>
                <a:lnTo>
                  <a:pt x="597027" y="209511"/>
                </a:lnTo>
                <a:lnTo>
                  <a:pt x="578446" y="165557"/>
                </a:lnTo>
                <a:lnTo>
                  <a:pt x="553529" y="125425"/>
                </a:lnTo>
                <a:lnTo>
                  <a:pt x="522909" y="89725"/>
                </a:lnTo>
                <a:lnTo>
                  <a:pt x="487222" y="59118"/>
                </a:lnTo>
                <a:lnTo>
                  <a:pt x="447090" y="34201"/>
                </a:lnTo>
                <a:lnTo>
                  <a:pt x="403136" y="15621"/>
                </a:lnTo>
                <a:lnTo>
                  <a:pt x="356006" y="4013"/>
                </a:lnTo>
                <a:lnTo>
                  <a:pt x="306324" y="0"/>
                </a:lnTo>
                <a:lnTo>
                  <a:pt x="256628" y="4013"/>
                </a:lnTo>
                <a:lnTo>
                  <a:pt x="209499" y="15621"/>
                </a:lnTo>
                <a:lnTo>
                  <a:pt x="165544" y="34201"/>
                </a:lnTo>
                <a:lnTo>
                  <a:pt x="125412" y="59118"/>
                </a:lnTo>
                <a:lnTo>
                  <a:pt x="89725" y="89725"/>
                </a:lnTo>
                <a:lnTo>
                  <a:pt x="59105" y="125425"/>
                </a:lnTo>
                <a:lnTo>
                  <a:pt x="34188" y="165557"/>
                </a:lnTo>
                <a:lnTo>
                  <a:pt x="15608" y="209511"/>
                </a:lnTo>
                <a:lnTo>
                  <a:pt x="4000" y="256641"/>
                </a:lnTo>
                <a:lnTo>
                  <a:pt x="0" y="306324"/>
                </a:lnTo>
                <a:lnTo>
                  <a:pt x="4000" y="356019"/>
                </a:lnTo>
                <a:lnTo>
                  <a:pt x="15608" y="403148"/>
                </a:lnTo>
                <a:lnTo>
                  <a:pt x="34188" y="447103"/>
                </a:lnTo>
                <a:lnTo>
                  <a:pt x="59105" y="487235"/>
                </a:lnTo>
                <a:lnTo>
                  <a:pt x="89725" y="522935"/>
                </a:lnTo>
                <a:lnTo>
                  <a:pt x="125412" y="553542"/>
                </a:lnTo>
                <a:lnTo>
                  <a:pt x="165544" y="578459"/>
                </a:lnTo>
                <a:lnTo>
                  <a:pt x="209499" y="597039"/>
                </a:lnTo>
                <a:lnTo>
                  <a:pt x="230124" y="602119"/>
                </a:lnTo>
                <a:lnTo>
                  <a:pt x="230124" y="1366913"/>
                </a:lnTo>
                <a:lnTo>
                  <a:pt x="165544" y="1390561"/>
                </a:lnTo>
                <a:lnTo>
                  <a:pt x="125412" y="1415478"/>
                </a:lnTo>
                <a:lnTo>
                  <a:pt x="89725" y="1446098"/>
                </a:lnTo>
                <a:lnTo>
                  <a:pt x="59105" y="1481785"/>
                </a:lnTo>
                <a:lnTo>
                  <a:pt x="34188" y="1521917"/>
                </a:lnTo>
                <a:lnTo>
                  <a:pt x="15608" y="1565871"/>
                </a:lnTo>
                <a:lnTo>
                  <a:pt x="4000" y="1613001"/>
                </a:lnTo>
                <a:lnTo>
                  <a:pt x="0" y="1662684"/>
                </a:lnTo>
                <a:lnTo>
                  <a:pt x="4000" y="1712379"/>
                </a:lnTo>
                <a:lnTo>
                  <a:pt x="15608" y="1759508"/>
                </a:lnTo>
                <a:lnTo>
                  <a:pt x="34188" y="1803463"/>
                </a:lnTo>
                <a:lnTo>
                  <a:pt x="59105" y="1843595"/>
                </a:lnTo>
                <a:lnTo>
                  <a:pt x="89725" y="1879282"/>
                </a:lnTo>
                <a:lnTo>
                  <a:pt x="125412" y="1909902"/>
                </a:lnTo>
                <a:lnTo>
                  <a:pt x="165544" y="1934819"/>
                </a:lnTo>
                <a:lnTo>
                  <a:pt x="209499" y="1953399"/>
                </a:lnTo>
                <a:lnTo>
                  <a:pt x="230124" y="1958479"/>
                </a:lnTo>
                <a:lnTo>
                  <a:pt x="230124" y="3020568"/>
                </a:lnTo>
                <a:lnTo>
                  <a:pt x="382524" y="3020568"/>
                </a:lnTo>
                <a:lnTo>
                  <a:pt x="382524" y="1958479"/>
                </a:lnTo>
                <a:lnTo>
                  <a:pt x="403136" y="1953399"/>
                </a:lnTo>
                <a:lnTo>
                  <a:pt x="447090" y="1934819"/>
                </a:lnTo>
                <a:lnTo>
                  <a:pt x="487222" y="1909902"/>
                </a:lnTo>
                <a:lnTo>
                  <a:pt x="522922" y="1879282"/>
                </a:lnTo>
                <a:lnTo>
                  <a:pt x="553529" y="1843595"/>
                </a:lnTo>
                <a:lnTo>
                  <a:pt x="578446" y="1803463"/>
                </a:lnTo>
                <a:lnTo>
                  <a:pt x="597027" y="1759508"/>
                </a:lnTo>
                <a:lnTo>
                  <a:pt x="608634" y="1712379"/>
                </a:lnTo>
                <a:lnTo>
                  <a:pt x="612648" y="1662684"/>
                </a:lnTo>
                <a:lnTo>
                  <a:pt x="608634" y="1613001"/>
                </a:lnTo>
                <a:lnTo>
                  <a:pt x="597027" y="1565871"/>
                </a:lnTo>
                <a:lnTo>
                  <a:pt x="578446" y="1521917"/>
                </a:lnTo>
                <a:lnTo>
                  <a:pt x="553529" y="1481785"/>
                </a:lnTo>
                <a:lnTo>
                  <a:pt x="522909" y="1446085"/>
                </a:lnTo>
                <a:lnTo>
                  <a:pt x="487222" y="1415478"/>
                </a:lnTo>
                <a:lnTo>
                  <a:pt x="447090" y="1390561"/>
                </a:lnTo>
                <a:lnTo>
                  <a:pt x="403136" y="1371981"/>
                </a:lnTo>
                <a:lnTo>
                  <a:pt x="382524" y="1366913"/>
                </a:lnTo>
                <a:lnTo>
                  <a:pt x="382524" y="602119"/>
                </a:lnTo>
                <a:lnTo>
                  <a:pt x="447090" y="578459"/>
                </a:lnTo>
                <a:lnTo>
                  <a:pt x="487222" y="553542"/>
                </a:lnTo>
                <a:lnTo>
                  <a:pt x="522922" y="522922"/>
                </a:lnTo>
                <a:lnTo>
                  <a:pt x="553529" y="487235"/>
                </a:lnTo>
                <a:lnTo>
                  <a:pt x="578446" y="447103"/>
                </a:lnTo>
                <a:lnTo>
                  <a:pt x="597027" y="403148"/>
                </a:lnTo>
                <a:lnTo>
                  <a:pt x="608634" y="356019"/>
                </a:lnTo>
                <a:lnTo>
                  <a:pt x="612648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92122" y="198501"/>
            <a:ext cx="6731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準備：基本的な数と計算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11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76245" y="3768979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86000" y="5059679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306324" y="0"/>
                </a:moveTo>
                <a:lnTo>
                  <a:pt x="256640" y="4009"/>
                </a:lnTo>
                <a:lnTo>
                  <a:pt x="209507" y="15617"/>
                </a:lnTo>
                <a:lnTo>
                  <a:pt x="165556" y="34193"/>
                </a:lnTo>
                <a:lnTo>
                  <a:pt x="125419" y="59106"/>
                </a:lnTo>
                <a:lnTo>
                  <a:pt x="89725" y="89725"/>
                </a:lnTo>
                <a:lnTo>
                  <a:pt x="59106" y="125419"/>
                </a:lnTo>
                <a:lnTo>
                  <a:pt x="34193" y="165556"/>
                </a:lnTo>
                <a:lnTo>
                  <a:pt x="15617" y="209507"/>
                </a:lnTo>
                <a:lnTo>
                  <a:pt x="4009" y="256640"/>
                </a:lnTo>
                <a:lnTo>
                  <a:pt x="0" y="306324"/>
                </a:lnTo>
                <a:lnTo>
                  <a:pt x="4009" y="356007"/>
                </a:lnTo>
                <a:lnTo>
                  <a:pt x="15617" y="403140"/>
                </a:lnTo>
                <a:lnTo>
                  <a:pt x="34193" y="447091"/>
                </a:lnTo>
                <a:lnTo>
                  <a:pt x="59106" y="487228"/>
                </a:lnTo>
                <a:lnTo>
                  <a:pt x="89725" y="522922"/>
                </a:lnTo>
                <a:lnTo>
                  <a:pt x="125419" y="553541"/>
                </a:lnTo>
                <a:lnTo>
                  <a:pt x="165556" y="578454"/>
                </a:lnTo>
                <a:lnTo>
                  <a:pt x="209507" y="597030"/>
                </a:lnTo>
                <a:lnTo>
                  <a:pt x="256640" y="608638"/>
                </a:lnTo>
                <a:lnTo>
                  <a:pt x="306324" y="612648"/>
                </a:lnTo>
                <a:lnTo>
                  <a:pt x="356007" y="608638"/>
                </a:lnTo>
                <a:lnTo>
                  <a:pt x="403140" y="597030"/>
                </a:lnTo>
                <a:lnTo>
                  <a:pt x="447091" y="578454"/>
                </a:lnTo>
                <a:lnTo>
                  <a:pt x="487228" y="553541"/>
                </a:lnTo>
                <a:lnTo>
                  <a:pt x="522922" y="522922"/>
                </a:lnTo>
                <a:lnTo>
                  <a:pt x="553541" y="487228"/>
                </a:lnTo>
                <a:lnTo>
                  <a:pt x="578454" y="447091"/>
                </a:lnTo>
                <a:lnTo>
                  <a:pt x="597030" y="403140"/>
                </a:lnTo>
                <a:lnTo>
                  <a:pt x="608638" y="356007"/>
                </a:lnTo>
                <a:lnTo>
                  <a:pt x="612648" y="306324"/>
                </a:lnTo>
                <a:lnTo>
                  <a:pt x="608638" y="256640"/>
                </a:lnTo>
                <a:lnTo>
                  <a:pt x="597030" y="209507"/>
                </a:lnTo>
                <a:lnTo>
                  <a:pt x="578454" y="165556"/>
                </a:lnTo>
                <a:lnTo>
                  <a:pt x="553541" y="125419"/>
                </a:lnTo>
                <a:lnTo>
                  <a:pt x="522922" y="89725"/>
                </a:lnTo>
                <a:lnTo>
                  <a:pt x="487228" y="59106"/>
                </a:lnTo>
                <a:lnTo>
                  <a:pt x="447091" y="34193"/>
                </a:lnTo>
                <a:lnTo>
                  <a:pt x="403140" y="15617"/>
                </a:lnTo>
                <a:lnTo>
                  <a:pt x="356007" y="4009"/>
                </a:lnTo>
                <a:lnTo>
                  <a:pt x="306324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76245" y="5125592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8672" y="2412619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正負の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2005" y="3803091"/>
            <a:ext cx="534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BEBEBE"/>
                </a:solidFill>
                <a:latin typeface="メイリオ"/>
                <a:cs typeface="メイリオ"/>
              </a:rPr>
              <a:t>累乗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3433" y="5213984"/>
            <a:ext cx="789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BEBEBE"/>
                </a:solidFill>
                <a:latin typeface="メイリオ"/>
                <a:cs typeface="メイリオ"/>
              </a:rPr>
              <a:t>ルート</a:t>
            </a:r>
            <a:endParaRPr sz="2000">
              <a:latin typeface="メイリオ"/>
              <a:cs typeface="メイリオ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43110" y="3910774"/>
            <a:ext cx="8379459" cy="1997710"/>
            <a:chOff x="3043110" y="3910774"/>
            <a:chExt cx="8379459" cy="1997710"/>
          </a:xfrm>
        </p:grpSpPr>
        <p:sp>
          <p:nvSpPr>
            <p:cNvPr id="19" name="object 19"/>
            <p:cNvSpPr/>
            <p:nvPr/>
          </p:nvSpPr>
          <p:spPr>
            <a:xfrm>
              <a:off x="3057398" y="3925061"/>
              <a:ext cx="8350884" cy="1969135"/>
            </a:xfrm>
            <a:custGeom>
              <a:avLst/>
              <a:gdLst/>
              <a:ahLst/>
              <a:cxnLst/>
              <a:rect l="l" t="t" r="r" b="b"/>
              <a:pathLst>
                <a:path w="8350884" h="1969135">
                  <a:moveTo>
                    <a:pt x="387603" y="0"/>
                  </a:moveTo>
                  <a:lnTo>
                    <a:pt x="1714753" y="0"/>
                  </a:lnTo>
                  <a:lnTo>
                    <a:pt x="3705479" y="0"/>
                  </a:lnTo>
                  <a:lnTo>
                    <a:pt x="8350504" y="0"/>
                  </a:lnTo>
                  <a:lnTo>
                    <a:pt x="8350504" y="1148588"/>
                  </a:lnTo>
                  <a:lnTo>
                    <a:pt x="8350504" y="1640839"/>
                  </a:lnTo>
                  <a:lnTo>
                    <a:pt x="8350504" y="1969008"/>
                  </a:lnTo>
                  <a:lnTo>
                    <a:pt x="3705479" y="1969008"/>
                  </a:lnTo>
                  <a:lnTo>
                    <a:pt x="1714753" y="1969008"/>
                  </a:lnTo>
                  <a:lnTo>
                    <a:pt x="387603" y="1969008"/>
                  </a:lnTo>
                  <a:lnTo>
                    <a:pt x="387603" y="1640839"/>
                  </a:lnTo>
                  <a:lnTo>
                    <a:pt x="0" y="1413256"/>
                  </a:lnTo>
                  <a:lnTo>
                    <a:pt x="387603" y="1148588"/>
                  </a:lnTo>
                  <a:lnTo>
                    <a:pt x="387603" y="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95007" y="4285741"/>
              <a:ext cx="325120" cy="257175"/>
            </a:xfrm>
            <a:custGeom>
              <a:avLst/>
              <a:gdLst/>
              <a:ahLst/>
              <a:cxnLst/>
              <a:rect l="l" t="t" r="r" b="b"/>
              <a:pathLst>
                <a:path w="325120" h="257175">
                  <a:moveTo>
                    <a:pt x="186309" y="0"/>
                  </a:moveTo>
                  <a:lnTo>
                    <a:pt x="153035" y="0"/>
                  </a:lnTo>
                  <a:lnTo>
                    <a:pt x="88773" y="222376"/>
                  </a:lnTo>
                  <a:lnTo>
                    <a:pt x="42799" y="121284"/>
                  </a:lnTo>
                  <a:lnTo>
                    <a:pt x="0" y="140842"/>
                  </a:lnTo>
                  <a:lnTo>
                    <a:pt x="4064" y="150621"/>
                  </a:lnTo>
                  <a:lnTo>
                    <a:pt x="26035" y="140842"/>
                  </a:lnTo>
                  <a:lnTo>
                    <a:pt x="80010" y="256666"/>
                  </a:lnTo>
                  <a:lnTo>
                    <a:pt x="92583" y="256666"/>
                  </a:lnTo>
                  <a:lnTo>
                    <a:pt x="162687" y="17398"/>
                  </a:lnTo>
                  <a:lnTo>
                    <a:pt x="186309" y="17398"/>
                  </a:lnTo>
                  <a:lnTo>
                    <a:pt x="186309" y="17017"/>
                  </a:lnTo>
                  <a:lnTo>
                    <a:pt x="324612" y="17017"/>
                  </a:lnTo>
                  <a:lnTo>
                    <a:pt x="324612" y="253"/>
                  </a:lnTo>
                  <a:lnTo>
                    <a:pt x="186309" y="253"/>
                  </a:lnTo>
                  <a:lnTo>
                    <a:pt x="1863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87571" y="4216400"/>
            <a:ext cx="69786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8504" algn="l"/>
              </a:tabLst>
            </a:pPr>
            <a:r>
              <a:rPr sz="2100" b="1" dirty="0">
                <a:latin typeface="メイリオ"/>
                <a:cs typeface="メイリオ"/>
              </a:rPr>
              <a:t>2</a:t>
            </a:r>
            <a:r>
              <a:rPr sz="2100" b="1" spc="-5" dirty="0">
                <a:latin typeface="メイリオ"/>
                <a:cs typeface="メイリオ"/>
              </a:rPr>
              <a:t> </a:t>
            </a:r>
            <a:r>
              <a:rPr sz="2100" b="1" dirty="0">
                <a:latin typeface="メイリオ"/>
                <a:cs typeface="メイリオ"/>
              </a:rPr>
              <a:t>回掛けて</a:t>
            </a:r>
            <a:r>
              <a:rPr sz="2100" b="1" spc="-15" dirty="0">
                <a:latin typeface="メイリオ"/>
                <a:cs typeface="メイリオ"/>
              </a:rPr>
              <a:t> </a:t>
            </a:r>
            <a:r>
              <a:rPr sz="2100" dirty="0">
                <a:latin typeface="Cambria Math"/>
                <a:cs typeface="Cambria Math"/>
              </a:rPr>
              <a:t>𝒙</a:t>
            </a:r>
            <a:r>
              <a:rPr sz="2100" spc="235" dirty="0">
                <a:latin typeface="Cambria Math"/>
                <a:cs typeface="Cambria Math"/>
              </a:rPr>
              <a:t> </a:t>
            </a:r>
            <a:r>
              <a:rPr sz="2100" b="1" dirty="0">
                <a:latin typeface="メイリオ"/>
                <a:cs typeface="メイリオ"/>
              </a:rPr>
              <a:t>になる数</a:t>
            </a:r>
            <a:r>
              <a:rPr sz="2100" b="1" spc="-50" dirty="0">
                <a:latin typeface="メイリオ"/>
                <a:cs typeface="メイリオ"/>
              </a:rPr>
              <a:t>を</a:t>
            </a:r>
            <a:r>
              <a:rPr sz="2100" b="1" dirty="0">
                <a:latin typeface="メイリオ"/>
                <a:cs typeface="メイリオ"/>
              </a:rPr>
              <a:t>	</a:t>
            </a:r>
            <a:r>
              <a:rPr sz="2100" dirty="0">
                <a:latin typeface="Cambria Math"/>
                <a:cs typeface="Cambria Math"/>
              </a:rPr>
              <a:t>𝒙</a:t>
            </a:r>
            <a:r>
              <a:rPr sz="2100" spc="225" dirty="0">
                <a:latin typeface="Cambria Math"/>
                <a:cs typeface="Cambria Math"/>
              </a:rPr>
              <a:t> </a:t>
            </a:r>
            <a:r>
              <a:rPr sz="2100" b="1" dirty="0">
                <a:latin typeface="メイリオ"/>
                <a:cs typeface="メイリオ"/>
              </a:rPr>
              <a:t>と書き、「ルート</a:t>
            </a:r>
            <a:r>
              <a:rPr sz="2100" b="1" spc="10" dirty="0">
                <a:latin typeface="メイリオ"/>
                <a:cs typeface="メイリオ"/>
              </a:rPr>
              <a:t> </a:t>
            </a:r>
            <a:r>
              <a:rPr sz="2100" spc="-20" dirty="0">
                <a:latin typeface="Cambria Math"/>
                <a:cs typeface="Cambria Math"/>
              </a:rPr>
              <a:t>𝒙</a:t>
            </a:r>
            <a:r>
              <a:rPr sz="2100" b="1" dirty="0">
                <a:latin typeface="メイリオ"/>
                <a:cs typeface="メイリオ"/>
              </a:rPr>
              <a:t>」とい</a:t>
            </a:r>
            <a:r>
              <a:rPr sz="2100" b="1" spc="-50" dirty="0">
                <a:latin typeface="メイリオ"/>
                <a:cs typeface="メイリオ"/>
              </a:rPr>
              <a:t>う</a:t>
            </a:r>
            <a:endParaRPr sz="2100">
              <a:latin typeface="メイリオ"/>
              <a:cs typeface="メイリオ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59708" y="4789932"/>
            <a:ext cx="467995" cy="467995"/>
          </a:xfrm>
          <a:custGeom>
            <a:avLst/>
            <a:gdLst/>
            <a:ahLst/>
            <a:cxnLst/>
            <a:rect l="l" t="t" r="r" b="b"/>
            <a:pathLst>
              <a:path w="467995" h="467995">
                <a:moveTo>
                  <a:pt x="233933" y="0"/>
                </a:moveTo>
                <a:lnTo>
                  <a:pt x="186799" y="4754"/>
                </a:lnTo>
                <a:lnTo>
                  <a:pt x="142892" y="18389"/>
                </a:lnTo>
                <a:lnTo>
                  <a:pt x="103156" y="39962"/>
                </a:lnTo>
                <a:lnTo>
                  <a:pt x="68532" y="68532"/>
                </a:lnTo>
                <a:lnTo>
                  <a:pt x="39962" y="103156"/>
                </a:lnTo>
                <a:lnTo>
                  <a:pt x="18389" y="142892"/>
                </a:lnTo>
                <a:lnTo>
                  <a:pt x="4754" y="186799"/>
                </a:lnTo>
                <a:lnTo>
                  <a:pt x="0" y="233934"/>
                </a:lnTo>
                <a:lnTo>
                  <a:pt x="4754" y="281068"/>
                </a:lnTo>
                <a:lnTo>
                  <a:pt x="18389" y="324975"/>
                </a:lnTo>
                <a:lnTo>
                  <a:pt x="39962" y="364711"/>
                </a:lnTo>
                <a:lnTo>
                  <a:pt x="68532" y="399335"/>
                </a:lnTo>
                <a:lnTo>
                  <a:pt x="103156" y="427905"/>
                </a:lnTo>
                <a:lnTo>
                  <a:pt x="142892" y="449478"/>
                </a:lnTo>
                <a:lnTo>
                  <a:pt x="186799" y="463113"/>
                </a:lnTo>
                <a:lnTo>
                  <a:pt x="233933" y="467868"/>
                </a:lnTo>
                <a:lnTo>
                  <a:pt x="281068" y="463113"/>
                </a:lnTo>
                <a:lnTo>
                  <a:pt x="324975" y="449478"/>
                </a:lnTo>
                <a:lnTo>
                  <a:pt x="364711" y="427905"/>
                </a:lnTo>
                <a:lnTo>
                  <a:pt x="399335" y="399335"/>
                </a:lnTo>
                <a:lnTo>
                  <a:pt x="427905" y="364711"/>
                </a:lnTo>
                <a:lnTo>
                  <a:pt x="449478" y="324975"/>
                </a:lnTo>
                <a:lnTo>
                  <a:pt x="463113" y="281068"/>
                </a:lnTo>
                <a:lnTo>
                  <a:pt x="467867" y="233934"/>
                </a:lnTo>
                <a:lnTo>
                  <a:pt x="463113" y="186799"/>
                </a:lnTo>
                <a:lnTo>
                  <a:pt x="449478" y="142892"/>
                </a:lnTo>
                <a:lnTo>
                  <a:pt x="427905" y="103156"/>
                </a:lnTo>
                <a:lnTo>
                  <a:pt x="399335" y="68532"/>
                </a:lnTo>
                <a:lnTo>
                  <a:pt x="364711" y="39962"/>
                </a:lnTo>
                <a:lnTo>
                  <a:pt x="324975" y="18389"/>
                </a:lnTo>
                <a:lnTo>
                  <a:pt x="281068" y="4754"/>
                </a:lnTo>
                <a:lnTo>
                  <a:pt x="233933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866769" y="4839157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例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44238" y="4879466"/>
            <a:ext cx="329565" cy="257175"/>
          </a:xfrm>
          <a:custGeom>
            <a:avLst/>
            <a:gdLst/>
            <a:ahLst/>
            <a:cxnLst/>
            <a:rect l="l" t="t" r="r" b="b"/>
            <a:pathLst>
              <a:path w="329564" h="257175">
                <a:moveTo>
                  <a:pt x="186309" y="0"/>
                </a:moveTo>
                <a:lnTo>
                  <a:pt x="153035" y="0"/>
                </a:lnTo>
                <a:lnTo>
                  <a:pt x="88773" y="222249"/>
                </a:lnTo>
                <a:lnTo>
                  <a:pt x="42799" y="121284"/>
                </a:lnTo>
                <a:lnTo>
                  <a:pt x="0" y="140715"/>
                </a:lnTo>
                <a:lnTo>
                  <a:pt x="4063" y="150494"/>
                </a:lnTo>
                <a:lnTo>
                  <a:pt x="26035" y="140715"/>
                </a:lnTo>
                <a:lnTo>
                  <a:pt x="80010" y="256666"/>
                </a:lnTo>
                <a:lnTo>
                  <a:pt x="92583" y="256666"/>
                </a:lnTo>
                <a:lnTo>
                  <a:pt x="162687" y="17271"/>
                </a:lnTo>
                <a:lnTo>
                  <a:pt x="186309" y="17271"/>
                </a:lnTo>
                <a:lnTo>
                  <a:pt x="186309" y="17017"/>
                </a:lnTo>
                <a:lnTo>
                  <a:pt x="329184" y="17017"/>
                </a:lnTo>
                <a:lnTo>
                  <a:pt x="329184" y="253"/>
                </a:lnTo>
                <a:lnTo>
                  <a:pt x="186309" y="253"/>
                </a:lnTo>
                <a:lnTo>
                  <a:pt x="186309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02860" y="4834508"/>
            <a:ext cx="6927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𝟗</a:t>
            </a:r>
            <a:r>
              <a:rPr sz="2100" spc="10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=</a:t>
            </a:r>
            <a:r>
              <a:rPr sz="2100" spc="114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spc="-50" dirty="0">
                <a:solidFill>
                  <a:srgbClr val="F43864"/>
                </a:solidFill>
                <a:latin typeface="Cambria Math"/>
                <a:cs typeface="Cambria Math"/>
              </a:rPr>
              <a:t>𝟑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44238" y="5311902"/>
            <a:ext cx="329565" cy="257175"/>
          </a:xfrm>
          <a:custGeom>
            <a:avLst/>
            <a:gdLst/>
            <a:ahLst/>
            <a:cxnLst/>
            <a:rect l="l" t="t" r="r" b="b"/>
            <a:pathLst>
              <a:path w="329564" h="257175">
                <a:moveTo>
                  <a:pt x="186309" y="0"/>
                </a:moveTo>
                <a:lnTo>
                  <a:pt x="153035" y="0"/>
                </a:lnTo>
                <a:lnTo>
                  <a:pt x="88773" y="222250"/>
                </a:lnTo>
                <a:lnTo>
                  <a:pt x="42799" y="121285"/>
                </a:lnTo>
                <a:lnTo>
                  <a:pt x="0" y="140716"/>
                </a:lnTo>
                <a:lnTo>
                  <a:pt x="4063" y="150495"/>
                </a:lnTo>
                <a:lnTo>
                  <a:pt x="26035" y="140716"/>
                </a:lnTo>
                <a:lnTo>
                  <a:pt x="80010" y="256667"/>
                </a:lnTo>
                <a:lnTo>
                  <a:pt x="92583" y="256667"/>
                </a:lnTo>
                <a:lnTo>
                  <a:pt x="162687" y="17272"/>
                </a:lnTo>
                <a:lnTo>
                  <a:pt x="186309" y="17272"/>
                </a:lnTo>
                <a:lnTo>
                  <a:pt x="186309" y="17018"/>
                </a:lnTo>
                <a:lnTo>
                  <a:pt x="329184" y="17018"/>
                </a:lnTo>
                <a:lnTo>
                  <a:pt x="329184" y="254"/>
                </a:lnTo>
                <a:lnTo>
                  <a:pt x="186309" y="254"/>
                </a:lnTo>
                <a:lnTo>
                  <a:pt x="186309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602860" y="5268595"/>
            <a:ext cx="15113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1379E"/>
                </a:solidFill>
                <a:latin typeface="Cambria Math"/>
                <a:cs typeface="Cambria Math"/>
              </a:rPr>
              <a:t>𝟐</a:t>
            </a:r>
            <a:r>
              <a:rPr sz="2100" spc="105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21379E"/>
                </a:solidFill>
                <a:latin typeface="Cambria Math"/>
                <a:cs typeface="Cambria Math"/>
              </a:rPr>
              <a:t>=</a:t>
            </a:r>
            <a:r>
              <a:rPr sz="2100" spc="12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21379E"/>
                </a:solidFill>
                <a:latin typeface="Cambria Math"/>
                <a:cs typeface="Cambria Math"/>
              </a:rPr>
              <a:t>𝟏.</a:t>
            </a:r>
            <a:r>
              <a:rPr sz="2100" spc="-14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21379E"/>
                </a:solidFill>
                <a:latin typeface="Cambria Math"/>
                <a:cs typeface="Cambria Math"/>
              </a:rPr>
              <a:t>𝟒𝟏𝟒</a:t>
            </a:r>
            <a:r>
              <a:rPr sz="2100" spc="-14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100" spc="-50" dirty="0">
                <a:solidFill>
                  <a:srgbClr val="21379E"/>
                </a:solidFill>
                <a:latin typeface="Cambria Math"/>
                <a:cs typeface="Cambria Math"/>
              </a:rPr>
              <a:t>…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37123" y="4821173"/>
            <a:ext cx="23120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F43864"/>
                </a:solidFill>
                <a:latin typeface="メイリオ"/>
                <a:cs typeface="メイリオ"/>
              </a:rPr>
              <a:t>(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𝟑</a:t>
            </a:r>
            <a:r>
              <a:rPr sz="2100" spc="-10" dirty="0">
                <a:solidFill>
                  <a:srgbClr val="F43864"/>
                </a:solidFill>
                <a:latin typeface="Cambria Math"/>
                <a:cs typeface="Cambria Math"/>
              </a:rPr>
              <a:t> ×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𝟑</a:t>
            </a:r>
            <a:r>
              <a:rPr sz="2100" spc="75" dirty="0">
                <a:solidFill>
                  <a:srgbClr val="F43864"/>
                </a:solidFill>
                <a:latin typeface="Cambria Math"/>
                <a:cs typeface="Cambria Math"/>
              </a:rPr>
              <a:t> = </a:t>
            </a:r>
            <a:r>
              <a:rPr sz="2100" dirty="0">
                <a:solidFill>
                  <a:srgbClr val="F43864"/>
                </a:solidFill>
                <a:latin typeface="Cambria Math"/>
                <a:cs typeface="Cambria Math"/>
              </a:rPr>
              <a:t>𝟗</a:t>
            </a:r>
            <a:r>
              <a:rPr sz="2100" spc="22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100" b="1" spc="-15" dirty="0">
                <a:solidFill>
                  <a:srgbClr val="F43864"/>
                </a:solidFill>
                <a:latin typeface="メイリオ"/>
                <a:cs typeface="メイリオ"/>
              </a:rPr>
              <a:t>だから)</a:t>
            </a:r>
            <a:endParaRPr sz="2100">
              <a:latin typeface="メイリオ"/>
              <a:cs typeface="メイリオ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7629" y="2303526"/>
            <a:ext cx="1080770" cy="1080770"/>
          </a:xfrm>
          <a:prstGeom prst="rect">
            <a:avLst/>
          </a:prstGeom>
          <a:ln w="28575">
            <a:solidFill>
              <a:srgbClr val="F43864"/>
            </a:solidFill>
          </a:ln>
        </p:spPr>
        <p:txBody>
          <a:bodyPr vert="horz" wrap="square" lIns="0" tIns="2330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35"/>
              </a:spcBef>
            </a:pPr>
            <a:r>
              <a:rPr sz="2000" b="1" spc="-25" dirty="0">
                <a:solidFill>
                  <a:srgbClr val="F43864"/>
                </a:solidFill>
                <a:latin typeface="メイリオ"/>
                <a:cs typeface="メイリオ"/>
              </a:rPr>
              <a:t>面積</a:t>
            </a:r>
            <a:endParaRPr sz="2000">
              <a:latin typeface="メイリオ"/>
              <a:cs typeface="メイリオ"/>
            </a:endParaRPr>
          </a:p>
          <a:p>
            <a:pPr marL="635" algn="ctr">
              <a:lnSpc>
                <a:spcPct val="100000"/>
              </a:lnSpc>
            </a:pPr>
            <a:r>
              <a:rPr sz="2000" b="1" spc="-50" dirty="0">
                <a:solidFill>
                  <a:srgbClr val="F43864"/>
                </a:solidFill>
                <a:latin typeface="メイリオ"/>
                <a:cs typeface="メイリオ"/>
              </a:rPr>
              <a:t>9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271771" y="1947672"/>
            <a:ext cx="342900" cy="338455"/>
          </a:xfrm>
          <a:custGeom>
            <a:avLst/>
            <a:gdLst/>
            <a:ahLst/>
            <a:cxnLst/>
            <a:rect l="l" t="t" r="r" b="b"/>
            <a:pathLst>
              <a:path w="342900" h="338455">
                <a:moveTo>
                  <a:pt x="342900" y="0"/>
                </a:moveTo>
                <a:lnTo>
                  <a:pt x="0" y="0"/>
                </a:lnTo>
                <a:lnTo>
                  <a:pt x="0" y="338327"/>
                </a:lnTo>
                <a:lnTo>
                  <a:pt x="342900" y="338327"/>
                </a:lnTo>
                <a:lnTo>
                  <a:pt x="342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62703" y="1950211"/>
            <a:ext cx="163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43864"/>
                </a:solidFill>
                <a:latin typeface="メイリオ"/>
                <a:cs typeface="メイリオ"/>
              </a:rPr>
              <a:t>3</a:t>
            </a:r>
            <a:endParaRPr sz="1600">
              <a:latin typeface="メイリオ"/>
              <a:cs typeface="メイリオ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608832" y="2292286"/>
            <a:ext cx="307975" cy="1104900"/>
            <a:chOff x="3608832" y="2292286"/>
            <a:chExt cx="307975" cy="1104900"/>
          </a:xfrm>
        </p:grpSpPr>
        <p:sp>
          <p:nvSpPr>
            <p:cNvPr id="33" name="object 33"/>
            <p:cNvSpPr/>
            <p:nvPr/>
          </p:nvSpPr>
          <p:spPr>
            <a:xfrm>
              <a:off x="3742182" y="2306573"/>
              <a:ext cx="160020" cy="1076325"/>
            </a:xfrm>
            <a:custGeom>
              <a:avLst/>
              <a:gdLst/>
              <a:ahLst/>
              <a:cxnLst/>
              <a:rect l="l" t="t" r="r" b="b"/>
              <a:pathLst>
                <a:path w="160020" h="1076325">
                  <a:moveTo>
                    <a:pt x="157479" y="0"/>
                  </a:moveTo>
                  <a:lnTo>
                    <a:pt x="133864" y="46202"/>
                  </a:lnTo>
                  <a:lnTo>
                    <a:pt x="110731" y="92557"/>
                  </a:lnTo>
                  <a:lnTo>
                    <a:pt x="88555" y="139217"/>
                  </a:lnTo>
                  <a:lnTo>
                    <a:pt x="67811" y="186334"/>
                  </a:lnTo>
                  <a:lnTo>
                    <a:pt x="48974" y="234060"/>
                  </a:lnTo>
                  <a:lnTo>
                    <a:pt x="32518" y="282549"/>
                  </a:lnTo>
                  <a:lnTo>
                    <a:pt x="18917" y="331952"/>
                  </a:lnTo>
                  <a:lnTo>
                    <a:pt x="8648" y="382422"/>
                  </a:lnTo>
                  <a:lnTo>
                    <a:pt x="2184" y="434111"/>
                  </a:lnTo>
                  <a:lnTo>
                    <a:pt x="0" y="487172"/>
                  </a:lnTo>
                  <a:lnTo>
                    <a:pt x="1705" y="532517"/>
                  </a:lnTo>
                  <a:lnTo>
                    <a:pt x="6447" y="578833"/>
                  </a:lnTo>
                  <a:lnTo>
                    <a:pt x="13948" y="626030"/>
                  </a:lnTo>
                  <a:lnTo>
                    <a:pt x="23932" y="674021"/>
                  </a:lnTo>
                  <a:lnTo>
                    <a:pt x="36123" y="722718"/>
                  </a:lnTo>
                  <a:lnTo>
                    <a:pt x="50244" y="772032"/>
                  </a:lnTo>
                  <a:lnTo>
                    <a:pt x="66019" y="821876"/>
                  </a:lnTo>
                  <a:lnTo>
                    <a:pt x="83170" y="872160"/>
                  </a:lnTo>
                  <a:lnTo>
                    <a:pt x="101423" y="922797"/>
                  </a:lnTo>
                  <a:lnTo>
                    <a:pt x="120500" y="973699"/>
                  </a:lnTo>
                  <a:lnTo>
                    <a:pt x="140124" y="1024777"/>
                  </a:lnTo>
                  <a:lnTo>
                    <a:pt x="160019" y="1075943"/>
                  </a:lnTo>
                </a:path>
              </a:pathLst>
            </a:custGeom>
            <a:ln w="28575">
              <a:solidFill>
                <a:srgbClr val="F438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08832" y="2662427"/>
              <a:ext cx="271780" cy="338455"/>
            </a:xfrm>
            <a:custGeom>
              <a:avLst/>
              <a:gdLst/>
              <a:ahLst/>
              <a:cxnLst/>
              <a:rect l="l" t="t" r="r" b="b"/>
              <a:pathLst>
                <a:path w="271779" h="338455">
                  <a:moveTo>
                    <a:pt x="271272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71272" y="338327"/>
                  </a:lnTo>
                  <a:lnTo>
                    <a:pt x="271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662934" y="2665856"/>
            <a:ext cx="163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43864"/>
                </a:solidFill>
                <a:latin typeface="メイリオ"/>
                <a:cs typeface="メイリオ"/>
              </a:rPr>
              <a:t>3</a:t>
            </a:r>
            <a:endParaRPr sz="1600">
              <a:latin typeface="メイリオ"/>
              <a:cs typeface="メイリオ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79058" y="2518410"/>
            <a:ext cx="864235" cy="864235"/>
          </a:xfrm>
          <a:prstGeom prst="rect">
            <a:avLst/>
          </a:prstGeom>
          <a:ln w="28575">
            <a:solidFill>
              <a:srgbClr val="21379E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2000" b="1" spc="-25" dirty="0">
                <a:solidFill>
                  <a:srgbClr val="21379E"/>
                </a:solidFill>
                <a:latin typeface="メイリオ"/>
                <a:cs typeface="メイリオ"/>
              </a:rPr>
              <a:t>面積</a:t>
            </a:r>
            <a:endParaRPr sz="2000">
              <a:latin typeface="メイリオ"/>
              <a:cs typeface="メイリオ"/>
            </a:endParaRPr>
          </a:p>
          <a:p>
            <a:pPr algn="ctr">
              <a:lnSpc>
                <a:spcPct val="100000"/>
              </a:lnSpc>
            </a:pPr>
            <a:r>
              <a:rPr sz="2000" b="1" spc="-50" dirty="0">
                <a:solidFill>
                  <a:srgbClr val="21379E"/>
                </a:solidFill>
                <a:latin typeface="メイリオ"/>
                <a:cs typeface="メイリオ"/>
              </a:rPr>
              <a:t>2</a:t>
            </a:r>
            <a:endParaRPr sz="2000">
              <a:latin typeface="メイリオ"/>
              <a:cs typeface="メイリオ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63246" y="2161032"/>
            <a:ext cx="894715" cy="372110"/>
            <a:chOff x="6163246" y="2161032"/>
            <a:chExt cx="894715" cy="372110"/>
          </a:xfrm>
        </p:grpSpPr>
        <p:sp>
          <p:nvSpPr>
            <p:cNvPr id="38" name="object 38"/>
            <p:cNvSpPr/>
            <p:nvPr/>
          </p:nvSpPr>
          <p:spPr>
            <a:xfrm>
              <a:off x="6177534" y="2312670"/>
              <a:ext cx="866140" cy="205740"/>
            </a:xfrm>
            <a:custGeom>
              <a:avLst/>
              <a:gdLst/>
              <a:ahLst/>
              <a:cxnLst/>
              <a:rect l="l" t="t" r="r" b="b"/>
              <a:pathLst>
                <a:path w="866140" h="205739">
                  <a:moveTo>
                    <a:pt x="0" y="203834"/>
                  </a:moveTo>
                  <a:lnTo>
                    <a:pt x="40702" y="173305"/>
                  </a:lnTo>
                  <a:lnTo>
                    <a:pt x="81463" y="143390"/>
                  </a:lnTo>
                  <a:lnTo>
                    <a:pt x="122333" y="114705"/>
                  </a:lnTo>
                  <a:lnTo>
                    <a:pt x="163360" y="87864"/>
                  </a:lnTo>
                  <a:lnTo>
                    <a:pt x="204597" y="63484"/>
                  </a:lnTo>
                  <a:lnTo>
                    <a:pt x="246092" y="42178"/>
                  </a:lnTo>
                  <a:lnTo>
                    <a:pt x="287897" y="24561"/>
                  </a:lnTo>
                  <a:lnTo>
                    <a:pt x="330061" y="11250"/>
                  </a:lnTo>
                  <a:lnTo>
                    <a:pt x="372636" y="2857"/>
                  </a:lnTo>
                  <a:lnTo>
                    <a:pt x="415670" y="0"/>
                  </a:lnTo>
                  <a:lnTo>
                    <a:pt x="459199" y="3048"/>
                  </a:lnTo>
                  <a:lnTo>
                    <a:pt x="503188" y="11631"/>
                  </a:lnTo>
                  <a:lnTo>
                    <a:pt x="547586" y="25133"/>
                  </a:lnTo>
                  <a:lnTo>
                    <a:pt x="592345" y="42940"/>
                  </a:lnTo>
                  <a:lnTo>
                    <a:pt x="637412" y="64436"/>
                  </a:lnTo>
                  <a:lnTo>
                    <a:pt x="682739" y="89007"/>
                  </a:lnTo>
                  <a:lnTo>
                    <a:pt x="728275" y="116038"/>
                  </a:lnTo>
                  <a:lnTo>
                    <a:pt x="773969" y="144914"/>
                  </a:lnTo>
                  <a:lnTo>
                    <a:pt x="819771" y="175019"/>
                  </a:lnTo>
                  <a:lnTo>
                    <a:pt x="865632" y="205739"/>
                  </a:lnTo>
                </a:path>
              </a:pathLst>
            </a:custGeom>
            <a:ln w="28575">
              <a:solidFill>
                <a:srgbClr val="2137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13932" y="2161032"/>
              <a:ext cx="593090" cy="338455"/>
            </a:xfrm>
            <a:custGeom>
              <a:avLst/>
              <a:gdLst/>
              <a:ahLst/>
              <a:cxnLst/>
              <a:rect l="l" t="t" r="r" b="b"/>
              <a:pathLst>
                <a:path w="593090" h="338455">
                  <a:moveTo>
                    <a:pt x="592836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592836" y="338327"/>
                  </a:lnTo>
                  <a:lnTo>
                    <a:pt x="592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324346" y="2164461"/>
            <a:ext cx="5734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21379E"/>
                </a:solidFill>
                <a:latin typeface="メイリオ"/>
                <a:cs typeface="メイリオ"/>
              </a:rPr>
              <a:t>約1.4</a:t>
            </a:r>
            <a:endParaRPr sz="1600">
              <a:latin typeface="メイリオ"/>
              <a:cs typeface="メイリオ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547359" y="2502598"/>
            <a:ext cx="649605" cy="899160"/>
            <a:chOff x="5547359" y="2502598"/>
            <a:chExt cx="649605" cy="899160"/>
          </a:xfrm>
        </p:grpSpPr>
        <p:sp>
          <p:nvSpPr>
            <p:cNvPr id="42" name="object 42"/>
            <p:cNvSpPr/>
            <p:nvPr/>
          </p:nvSpPr>
          <p:spPr>
            <a:xfrm>
              <a:off x="6022085" y="2516885"/>
              <a:ext cx="160020" cy="870585"/>
            </a:xfrm>
            <a:custGeom>
              <a:avLst/>
              <a:gdLst/>
              <a:ahLst/>
              <a:cxnLst/>
              <a:rect l="l" t="t" r="r" b="b"/>
              <a:pathLst>
                <a:path w="160020" h="870585">
                  <a:moveTo>
                    <a:pt x="151891" y="0"/>
                  </a:moveTo>
                  <a:lnTo>
                    <a:pt x="123320" y="43543"/>
                  </a:lnTo>
                  <a:lnTo>
                    <a:pt x="95654" y="87437"/>
                  </a:lnTo>
                  <a:lnTo>
                    <a:pt x="69810" y="132018"/>
                  </a:lnTo>
                  <a:lnTo>
                    <a:pt x="46704" y="177625"/>
                  </a:lnTo>
                  <a:lnTo>
                    <a:pt x="27253" y="224595"/>
                  </a:lnTo>
                  <a:lnTo>
                    <a:pt x="12374" y="273266"/>
                  </a:lnTo>
                  <a:lnTo>
                    <a:pt x="2984" y="323976"/>
                  </a:lnTo>
                  <a:lnTo>
                    <a:pt x="0" y="377063"/>
                  </a:lnTo>
                  <a:lnTo>
                    <a:pt x="2676" y="421413"/>
                  </a:lnTo>
                  <a:lnTo>
                    <a:pt x="9558" y="467327"/>
                  </a:lnTo>
                  <a:lnTo>
                    <a:pt x="20178" y="514633"/>
                  </a:lnTo>
                  <a:lnTo>
                    <a:pt x="34070" y="563157"/>
                  </a:lnTo>
                  <a:lnTo>
                    <a:pt x="50768" y="612727"/>
                  </a:lnTo>
                  <a:lnTo>
                    <a:pt x="69805" y="663169"/>
                  </a:lnTo>
                  <a:lnTo>
                    <a:pt x="90715" y="714311"/>
                  </a:lnTo>
                  <a:lnTo>
                    <a:pt x="113032" y="765979"/>
                  </a:lnTo>
                  <a:lnTo>
                    <a:pt x="136289" y="818001"/>
                  </a:lnTo>
                  <a:lnTo>
                    <a:pt x="160019" y="870203"/>
                  </a:lnTo>
                </a:path>
              </a:pathLst>
            </a:custGeom>
            <a:ln w="28574">
              <a:solidFill>
                <a:srgbClr val="2137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7359" y="2787395"/>
              <a:ext cx="594360" cy="340360"/>
            </a:xfrm>
            <a:custGeom>
              <a:avLst/>
              <a:gdLst/>
              <a:ahLst/>
              <a:cxnLst/>
              <a:rect l="l" t="t" r="r" b="b"/>
              <a:pathLst>
                <a:path w="594360" h="340360">
                  <a:moveTo>
                    <a:pt x="594360" y="0"/>
                  </a:moveTo>
                  <a:lnTo>
                    <a:pt x="0" y="0"/>
                  </a:lnTo>
                  <a:lnTo>
                    <a:pt x="0" y="339851"/>
                  </a:lnTo>
                  <a:lnTo>
                    <a:pt x="594360" y="339851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558790" y="2791205"/>
            <a:ext cx="5734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21379E"/>
                </a:solidFill>
                <a:latin typeface="メイリオ"/>
                <a:cs typeface="メイリオ"/>
              </a:rPr>
              <a:t>約1.4</a:t>
            </a:r>
            <a:endParaRPr sz="1600">
              <a:latin typeface="メイリオ"/>
              <a:cs typeface="メイリオ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362443" y="1898904"/>
            <a:ext cx="3298190" cy="1053465"/>
          </a:xfrm>
          <a:custGeom>
            <a:avLst/>
            <a:gdLst/>
            <a:ahLst/>
            <a:cxnLst/>
            <a:rect l="l" t="t" r="r" b="b"/>
            <a:pathLst>
              <a:path w="3298190" h="1053464">
                <a:moveTo>
                  <a:pt x="3122422" y="0"/>
                </a:moveTo>
                <a:lnTo>
                  <a:pt x="175513" y="0"/>
                </a:lnTo>
                <a:lnTo>
                  <a:pt x="128866" y="6271"/>
                </a:lnTo>
                <a:lnTo>
                  <a:pt x="86943" y="23970"/>
                </a:lnTo>
                <a:lnTo>
                  <a:pt x="51419" y="51419"/>
                </a:lnTo>
                <a:lnTo>
                  <a:pt x="23970" y="86943"/>
                </a:lnTo>
                <a:lnTo>
                  <a:pt x="6271" y="128866"/>
                </a:lnTo>
                <a:lnTo>
                  <a:pt x="0" y="175513"/>
                </a:lnTo>
                <a:lnTo>
                  <a:pt x="0" y="877570"/>
                </a:lnTo>
                <a:lnTo>
                  <a:pt x="6271" y="924217"/>
                </a:lnTo>
                <a:lnTo>
                  <a:pt x="23970" y="966140"/>
                </a:lnTo>
                <a:lnTo>
                  <a:pt x="51419" y="1001664"/>
                </a:lnTo>
                <a:lnTo>
                  <a:pt x="86943" y="1029113"/>
                </a:lnTo>
                <a:lnTo>
                  <a:pt x="128866" y="1046812"/>
                </a:lnTo>
                <a:lnTo>
                  <a:pt x="175513" y="1053084"/>
                </a:lnTo>
                <a:lnTo>
                  <a:pt x="3122422" y="1053084"/>
                </a:lnTo>
                <a:lnTo>
                  <a:pt x="3169069" y="1046812"/>
                </a:lnTo>
                <a:lnTo>
                  <a:pt x="3210992" y="1029113"/>
                </a:lnTo>
                <a:lnTo>
                  <a:pt x="3246516" y="1001664"/>
                </a:lnTo>
                <a:lnTo>
                  <a:pt x="3273965" y="966140"/>
                </a:lnTo>
                <a:lnTo>
                  <a:pt x="3291664" y="924217"/>
                </a:lnTo>
                <a:lnTo>
                  <a:pt x="3297935" y="877570"/>
                </a:lnTo>
                <a:lnTo>
                  <a:pt x="3297935" y="175513"/>
                </a:lnTo>
                <a:lnTo>
                  <a:pt x="3291664" y="128866"/>
                </a:lnTo>
                <a:lnTo>
                  <a:pt x="3273965" y="86943"/>
                </a:lnTo>
                <a:lnTo>
                  <a:pt x="3246516" y="51419"/>
                </a:lnTo>
                <a:lnTo>
                  <a:pt x="3210992" y="23970"/>
                </a:lnTo>
                <a:lnTo>
                  <a:pt x="3169069" y="6271"/>
                </a:lnTo>
                <a:lnTo>
                  <a:pt x="3122422" y="0"/>
                </a:lnTo>
                <a:close/>
              </a:path>
            </a:pathLst>
          </a:custGeom>
          <a:solidFill>
            <a:srgbClr val="21379E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627746" y="2053280"/>
            <a:ext cx="2768600" cy="6724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84"/>
              </a:spcBef>
            </a:pPr>
            <a:r>
              <a:rPr sz="1800" b="1" spc="-5" dirty="0">
                <a:solidFill>
                  <a:srgbClr val="FFFFFF"/>
                </a:solidFill>
                <a:latin typeface="メイリオ"/>
                <a:cs typeface="メイリオ"/>
              </a:rPr>
              <a:t>面積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𝒙</a:t>
            </a:r>
            <a:r>
              <a:rPr sz="1800" spc="20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メイリオ"/>
                <a:cs typeface="メイリオ"/>
              </a:rPr>
              <a:t>の正方形の</a:t>
            </a:r>
            <a:endParaRPr sz="1800">
              <a:latin typeface="メイリオ"/>
              <a:cs typeface="メイリオ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sz="1800" b="1" spc="-5" dirty="0">
                <a:solidFill>
                  <a:srgbClr val="FFFFFF"/>
                </a:solidFill>
                <a:latin typeface="メイリオ"/>
                <a:cs typeface="メイリオ"/>
              </a:rPr>
              <a:t>一辺の長さと考えても良い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097268" y="2429255"/>
            <a:ext cx="265430" cy="306705"/>
          </a:xfrm>
          <a:custGeom>
            <a:avLst/>
            <a:gdLst/>
            <a:ahLst/>
            <a:cxnLst/>
            <a:rect l="l" t="t" r="r" b="b"/>
            <a:pathLst>
              <a:path w="265429" h="306705">
                <a:moveTo>
                  <a:pt x="265175" y="0"/>
                </a:moveTo>
                <a:lnTo>
                  <a:pt x="0" y="153162"/>
                </a:lnTo>
                <a:lnTo>
                  <a:pt x="265175" y="306324"/>
                </a:lnTo>
                <a:lnTo>
                  <a:pt x="265175" y="0"/>
                </a:lnTo>
                <a:close/>
              </a:path>
            </a:pathLst>
          </a:custGeom>
          <a:solidFill>
            <a:srgbClr val="21379E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93442" y="6521957"/>
            <a:ext cx="9799320" cy="0"/>
          </a:xfrm>
          <a:custGeom>
            <a:avLst/>
            <a:gdLst/>
            <a:ahLst/>
            <a:cxnLst/>
            <a:rect l="l" t="t" r="r" b="b"/>
            <a:pathLst>
              <a:path w="9799320">
                <a:moveTo>
                  <a:pt x="0" y="0"/>
                </a:moveTo>
                <a:lnTo>
                  <a:pt x="9799319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717038" y="6564883"/>
            <a:ext cx="9406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※少し難しいが、値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13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が負の場合でも、2</a:t>
            </a: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 回掛けて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12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となる値は「複素数」を使えば計算できる（興味のある方はぜひ検索しましょう</a:t>
            </a:r>
            <a:r>
              <a:rPr sz="1200" b="1" spc="-50" dirty="0">
                <a:solidFill>
                  <a:srgbClr val="A6A6A6"/>
                </a:solidFill>
                <a:latin typeface="メイリオ"/>
                <a:cs typeface="メイリオ"/>
              </a:rPr>
              <a:t>）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0244" y="0"/>
            <a:ext cx="11002010" cy="6858000"/>
            <a:chOff x="1190244" y="0"/>
            <a:chExt cx="11002010" cy="6858000"/>
          </a:xfrm>
        </p:grpSpPr>
        <p:sp>
          <p:nvSpPr>
            <p:cNvPr id="3" name="object 3"/>
            <p:cNvSpPr/>
            <p:nvPr/>
          </p:nvSpPr>
          <p:spPr>
            <a:xfrm>
              <a:off x="1228344" y="0"/>
              <a:ext cx="1080770" cy="6858000"/>
            </a:xfrm>
            <a:custGeom>
              <a:avLst/>
              <a:gdLst/>
              <a:ahLst/>
              <a:cxnLst/>
              <a:rect l="l" t="t" r="r" b="b"/>
              <a:pathLst>
                <a:path w="1080770" h="6858000">
                  <a:moveTo>
                    <a:pt x="1080516" y="1251204"/>
                  </a:moveTo>
                  <a:lnTo>
                    <a:pt x="1078306" y="1202105"/>
                  </a:lnTo>
                  <a:lnTo>
                    <a:pt x="1071803" y="1154239"/>
                  </a:lnTo>
                  <a:lnTo>
                    <a:pt x="1061212" y="1107795"/>
                  </a:lnTo>
                  <a:lnTo>
                    <a:pt x="1046708" y="1062964"/>
                  </a:lnTo>
                  <a:lnTo>
                    <a:pt x="1028484" y="1019949"/>
                  </a:lnTo>
                  <a:lnTo>
                    <a:pt x="1006741" y="978916"/>
                  </a:lnTo>
                  <a:lnTo>
                    <a:pt x="981659" y="940079"/>
                  </a:lnTo>
                  <a:lnTo>
                    <a:pt x="953427" y="903630"/>
                  </a:lnTo>
                  <a:lnTo>
                    <a:pt x="922248" y="869734"/>
                  </a:lnTo>
                  <a:lnTo>
                    <a:pt x="888314" y="838606"/>
                  </a:lnTo>
                  <a:lnTo>
                    <a:pt x="851801" y="810412"/>
                  </a:lnTo>
                  <a:lnTo>
                    <a:pt x="812901" y="785380"/>
                  </a:lnTo>
                  <a:lnTo>
                    <a:pt x="771829" y="763663"/>
                  </a:lnTo>
                  <a:lnTo>
                    <a:pt x="728738" y="745464"/>
                  </a:lnTo>
                  <a:lnTo>
                    <a:pt x="683856" y="730986"/>
                  </a:lnTo>
                  <a:lnTo>
                    <a:pt x="641604" y="721385"/>
                  </a:lnTo>
                  <a:lnTo>
                    <a:pt x="641604" y="0"/>
                  </a:lnTo>
                  <a:lnTo>
                    <a:pt x="438912" y="0"/>
                  </a:lnTo>
                  <a:lnTo>
                    <a:pt x="438912" y="721372"/>
                  </a:lnTo>
                  <a:lnTo>
                    <a:pt x="396646" y="730986"/>
                  </a:lnTo>
                  <a:lnTo>
                    <a:pt x="351764" y="745464"/>
                  </a:lnTo>
                  <a:lnTo>
                    <a:pt x="308673" y="763663"/>
                  </a:lnTo>
                  <a:lnTo>
                    <a:pt x="267601" y="785380"/>
                  </a:lnTo>
                  <a:lnTo>
                    <a:pt x="228701" y="810412"/>
                  </a:lnTo>
                  <a:lnTo>
                    <a:pt x="192189" y="838606"/>
                  </a:lnTo>
                  <a:lnTo>
                    <a:pt x="158254" y="869734"/>
                  </a:lnTo>
                  <a:lnTo>
                    <a:pt x="127076" y="903630"/>
                  </a:lnTo>
                  <a:lnTo>
                    <a:pt x="98844" y="940079"/>
                  </a:lnTo>
                  <a:lnTo>
                    <a:pt x="73761" y="978928"/>
                  </a:lnTo>
                  <a:lnTo>
                    <a:pt x="52019" y="1019949"/>
                  </a:lnTo>
                  <a:lnTo>
                    <a:pt x="33794" y="1062964"/>
                  </a:lnTo>
                  <a:lnTo>
                    <a:pt x="19291" y="1107795"/>
                  </a:lnTo>
                  <a:lnTo>
                    <a:pt x="8699" y="1154239"/>
                  </a:lnTo>
                  <a:lnTo>
                    <a:pt x="2197" y="1202105"/>
                  </a:lnTo>
                  <a:lnTo>
                    <a:pt x="0" y="1251204"/>
                  </a:lnTo>
                  <a:lnTo>
                    <a:pt x="2197" y="1300314"/>
                  </a:lnTo>
                  <a:lnTo>
                    <a:pt x="8699" y="1348181"/>
                  </a:lnTo>
                  <a:lnTo>
                    <a:pt x="19291" y="1394625"/>
                  </a:lnTo>
                  <a:lnTo>
                    <a:pt x="33794" y="1439456"/>
                  </a:lnTo>
                  <a:lnTo>
                    <a:pt x="52019" y="1482471"/>
                  </a:lnTo>
                  <a:lnTo>
                    <a:pt x="73761" y="1523492"/>
                  </a:lnTo>
                  <a:lnTo>
                    <a:pt x="98844" y="1562341"/>
                  </a:lnTo>
                  <a:lnTo>
                    <a:pt x="127076" y="1598790"/>
                  </a:lnTo>
                  <a:lnTo>
                    <a:pt x="158254" y="1632686"/>
                  </a:lnTo>
                  <a:lnTo>
                    <a:pt x="192189" y="1663814"/>
                  </a:lnTo>
                  <a:lnTo>
                    <a:pt x="228701" y="1692008"/>
                  </a:lnTo>
                  <a:lnTo>
                    <a:pt x="267601" y="1717040"/>
                  </a:lnTo>
                  <a:lnTo>
                    <a:pt x="308673" y="1738757"/>
                  </a:lnTo>
                  <a:lnTo>
                    <a:pt x="351764" y="1756956"/>
                  </a:lnTo>
                  <a:lnTo>
                    <a:pt x="396646" y="1771434"/>
                  </a:lnTo>
                  <a:lnTo>
                    <a:pt x="438912" y="1781060"/>
                  </a:lnTo>
                  <a:lnTo>
                    <a:pt x="438912" y="6858000"/>
                  </a:lnTo>
                  <a:lnTo>
                    <a:pt x="641604" y="6858000"/>
                  </a:lnTo>
                  <a:lnTo>
                    <a:pt x="641604" y="1781048"/>
                  </a:lnTo>
                  <a:lnTo>
                    <a:pt x="683856" y="1771434"/>
                  </a:lnTo>
                  <a:lnTo>
                    <a:pt x="728738" y="1756956"/>
                  </a:lnTo>
                  <a:lnTo>
                    <a:pt x="771829" y="1738757"/>
                  </a:lnTo>
                  <a:lnTo>
                    <a:pt x="812901" y="1717040"/>
                  </a:lnTo>
                  <a:lnTo>
                    <a:pt x="851801" y="1692008"/>
                  </a:lnTo>
                  <a:lnTo>
                    <a:pt x="888314" y="1663814"/>
                  </a:lnTo>
                  <a:lnTo>
                    <a:pt x="922248" y="1632686"/>
                  </a:lnTo>
                  <a:lnTo>
                    <a:pt x="953427" y="1598790"/>
                  </a:lnTo>
                  <a:lnTo>
                    <a:pt x="981659" y="1562341"/>
                  </a:lnTo>
                  <a:lnTo>
                    <a:pt x="1006741" y="1523492"/>
                  </a:lnTo>
                  <a:lnTo>
                    <a:pt x="1028484" y="1482471"/>
                  </a:lnTo>
                  <a:lnTo>
                    <a:pt x="1046708" y="1439456"/>
                  </a:lnTo>
                  <a:lnTo>
                    <a:pt x="1061212" y="1394625"/>
                  </a:lnTo>
                  <a:lnTo>
                    <a:pt x="1071803" y="1348181"/>
                  </a:lnTo>
                  <a:lnTo>
                    <a:pt x="1078306" y="1300314"/>
                  </a:lnTo>
                  <a:lnTo>
                    <a:pt x="1080516" y="1251204"/>
                  </a:lnTo>
                  <a:close/>
                </a:path>
              </a:pathLst>
            </a:custGeom>
            <a:solidFill>
              <a:srgbClr val="8E0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28344" y="711708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0" y="539495"/>
                  </a:moveTo>
                  <a:lnTo>
                    <a:pt x="2208" y="490392"/>
                  </a:lnTo>
                  <a:lnTo>
                    <a:pt x="8706" y="442524"/>
                  </a:lnTo>
                  <a:lnTo>
                    <a:pt x="19302" y="396081"/>
                  </a:lnTo>
                  <a:lnTo>
                    <a:pt x="33806" y="351253"/>
                  </a:lnTo>
                  <a:lnTo>
                    <a:pt x="52026" y="308232"/>
                  </a:lnTo>
                  <a:lnTo>
                    <a:pt x="73772" y="267208"/>
                  </a:lnTo>
                  <a:lnTo>
                    <a:pt x="98854" y="228370"/>
                  </a:lnTo>
                  <a:lnTo>
                    <a:pt x="127079" y="191911"/>
                  </a:lnTo>
                  <a:lnTo>
                    <a:pt x="158257" y="158019"/>
                  </a:lnTo>
                  <a:lnTo>
                    <a:pt x="192198" y="126887"/>
                  </a:lnTo>
                  <a:lnTo>
                    <a:pt x="228710" y="98703"/>
                  </a:lnTo>
                  <a:lnTo>
                    <a:pt x="267603" y="73660"/>
                  </a:lnTo>
                  <a:lnTo>
                    <a:pt x="308685" y="51946"/>
                  </a:lnTo>
                  <a:lnTo>
                    <a:pt x="351765" y="33753"/>
                  </a:lnTo>
                  <a:lnTo>
                    <a:pt x="396654" y="19272"/>
                  </a:lnTo>
                  <a:lnTo>
                    <a:pt x="443159" y="8692"/>
                  </a:lnTo>
                  <a:lnTo>
                    <a:pt x="491091" y="2204"/>
                  </a:lnTo>
                  <a:lnTo>
                    <a:pt x="540257" y="0"/>
                  </a:lnTo>
                  <a:lnTo>
                    <a:pt x="589424" y="2204"/>
                  </a:lnTo>
                  <a:lnTo>
                    <a:pt x="637356" y="8692"/>
                  </a:lnTo>
                  <a:lnTo>
                    <a:pt x="683861" y="19272"/>
                  </a:lnTo>
                  <a:lnTo>
                    <a:pt x="728750" y="33753"/>
                  </a:lnTo>
                  <a:lnTo>
                    <a:pt x="771830" y="51946"/>
                  </a:lnTo>
                  <a:lnTo>
                    <a:pt x="812912" y="73660"/>
                  </a:lnTo>
                  <a:lnTo>
                    <a:pt x="851805" y="98703"/>
                  </a:lnTo>
                  <a:lnTo>
                    <a:pt x="888317" y="126887"/>
                  </a:lnTo>
                  <a:lnTo>
                    <a:pt x="922258" y="158019"/>
                  </a:lnTo>
                  <a:lnTo>
                    <a:pt x="953436" y="191911"/>
                  </a:lnTo>
                  <a:lnTo>
                    <a:pt x="981661" y="228370"/>
                  </a:lnTo>
                  <a:lnTo>
                    <a:pt x="1006743" y="267207"/>
                  </a:lnTo>
                  <a:lnTo>
                    <a:pt x="1028489" y="308232"/>
                  </a:lnTo>
                  <a:lnTo>
                    <a:pt x="1046709" y="351253"/>
                  </a:lnTo>
                  <a:lnTo>
                    <a:pt x="1061213" y="396081"/>
                  </a:lnTo>
                  <a:lnTo>
                    <a:pt x="1071809" y="442524"/>
                  </a:lnTo>
                  <a:lnTo>
                    <a:pt x="1078307" y="490392"/>
                  </a:lnTo>
                  <a:lnTo>
                    <a:pt x="1080516" y="539495"/>
                  </a:lnTo>
                  <a:lnTo>
                    <a:pt x="1078307" y="588599"/>
                  </a:lnTo>
                  <a:lnTo>
                    <a:pt x="1071809" y="636467"/>
                  </a:lnTo>
                  <a:lnTo>
                    <a:pt x="1061213" y="682910"/>
                  </a:lnTo>
                  <a:lnTo>
                    <a:pt x="1046709" y="727738"/>
                  </a:lnTo>
                  <a:lnTo>
                    <a:pt x="1028489" y="770759"/>
                  </a:lnTo>
                  <a:lnTo>
                    <a:pt x="1006743" y="811783"/>
                  </a:lnTo>
                  <a:lnTo>
                    <a:pt x="981661" y="850621"/>
                  </a:lnTo>
                  <a:lnTo>
                    <a:pt x="953436" y="887080"/>
                  </a:lnTo>
                  <a:lnTo>
                    <a:pt x="922258" y="920972"/>
                  </a:lnTo>
                  <a:lnTo>
                    <a:pt x="888317" y="952104"/>
                  </a:lnTo>
                  <a:lnTo>
                    <a:pt x="851805" y="980288"/>
                  </a:lnTo>
                  <a:lnTo>
                    <a:pt x="812912" y="1005331"/>
                  </a:lnTo>
                  <a:lnTo>
                    <a:pt x="771830" y="1027045"/>
                  </a:lnTo>
                  <a:lnTo>
                    <a:pt x="728750" y="1045238"/>
                  </a:lnTo>
                  <a:lnTo>
                    <a:pt x="683861" y="1059719"/>
                  </a:lnTo>
                  <a:lnTo>
                    <a:pt x="637356" y="1070299"/>
                  </a:lnTo>
                  <a:lnTo>
                    <a:pt x="589424" y="1076787"/>
                  </a:lnTo>
                  <a:lnTo>
                    <a:pt x="540257" y="1078991"/>
                  </a:lnTo>
                  <a:lnTo>
                    <a:pt x="491091" y="1076787"/>
                  </a:lnTo>
                  <a:lnTo>
                    <a:pt x="443159" y="1070299"/>
                  </a:lnTo>
                  <a:lnTo>
                    <a:pt x="396654" y="1059719"/>
                  </a:lnTo>
                  <a:lnTo>
                    <a:pt x="351765" y="1045238"/>
                  </a:lnTo>
                  <a:lnTo>
                    <a:pt x="308685" y="1027045"/>
                  </a:lnTo>
                  <a:lnTo>
                    <a:pt x="267603" y="1005331"/>
                  </a:lnTo>
                  <a:lnTo>
                    <a:pt x="228710" y="980288"/>
                  </a:lnTo>
                  <a:lnTo>
                    <a:pt x="192198" y="952104"/>
                  </a:lnTo>
                  <a:lnTo>
                    <a:pt x="158257" y="920972"/>
                  </a:lnTo>
                  <a:lnTo>
                    <a:pt x="127079" y="887080"/>
                  </a:lnTo>
                  <a:lnTo>
                    <a:pt x="98854" y="850621"/>
                  </a:lnTo>
                  <a:lnTo>
                    <a:pt x="73772" y="811783"/>
                  </a:lnTo>
                  <a:lnTo>
                    <a:pt x="52026" y="770759"/>
                  </a:lnTo>
                  <a:lnTo>
                    <a:pt x="33806" y="727738"/>
                  </a:lnTo>
                  <a:lnTo>
                    <a:pt x="19302" y="682910"/>
                  </a:lnTo>
                  <a:lnTo>
                    <a:pt x="8706" y="636467"/>
                  </a:lnTo>
                  <a:lnTo>
                    <a:pt x="2208" y="588599"/>
                  </a:lnTo>
                  <a:lnTo>
                    <a:pt x="0" y="539495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8344" y="2249423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540257" y="0"/>
                  </a:moveTo>
                  <a:lnTo>
                    <a:pt x="491091" y="2204"/>
                  </a:lnTo>
                  <a:lnTo>
                    <a:pt x="443159" y="8692"/>
                  </a:lnTo>
                  <a:lnTo>
                    <a:pt x="396654" y="19272"/>
                  </a:lnTo>
                  <a:lnTo>
                    <a:pt x="351765" y="33753"/>
                  </a:lnTo>
                  <a:lnTo>
                    <a:pt x="308685" y="51946"/>
                  </a:lnTo>
                  <a:lnTo>
                    <a:pt x="267603" y="73660"/>
                  </a:lnTo>
                  <a:lnTo>
                    <a:pt x="228710" y="98703"/>
                  </a:lnTo>
                  <a:lnTo>
                    <a:pt x="192198" y="126887"/>
                  </a:lnTo>
                  <a:lnTo>
                    <a:pt x="158257" y="158019"/>
                  </a:lnTo>
                  <a:lnTo>
                    <a:pt x="127079" y="191911"/>
                  </a:lnTo>
                  <a:lnTo>
                    <a:pt x="98854" y="228370"/>
                  </a:lnTo>
                  <a:lnTo>
                    <a:pt x="73772" y="267208"/>
                  </a:lnTo>
                  <a:lnTo>
                    <a:pt x="52026" y="308232"/>
                  </a:lnTo>
                  <a:lnTo>
                    <a:pt x="33806" y="351253"/>
                  </a:lnTo>
                  <a:lnTo>
                    <a:pt x="19302" y="396081"/>
                  </a:lnTo>
                  <a:lnTo>
                    <a:pt x="8706" y="442524"/>
                  </a:lnTo>
                  <a:lnTo>
                    <a:pt x="2208" y="490392"/>
                  </a:lnTo>
                  <a:lnTo>
                    <a:pt x="0" y="539496"/>
                  </a:lnTo>
                  <a:lnTo>
                    <a:pt x="2208" y="588599"/>
                  </a:lnTo>
                  <a:lnTo>
                    <a:pt x="8706" y="636467"/>
                  </a:lnTo>
                  <a:lnTo>
                    <a:pt x="19302" y="682910"/>
                  </a:lnTo>
                  <a:lnTo>
                    <a:pt x="33806" y="727738"/>
                  </a:lnTo>
                  <a:lnTo>
                    <a:pt x="52026" y="770759"/>
                  </a:lnTo>
                  <a:lnTo>
                    <a:pt x="73772" y="811784"/>
                  </a:lnTo>
                  <a:lnTo>
                    <a:pt x="98854" y="850621"/>
                  </a:lnTo>
                  <a:lnTo>
                    <a:pt x="127079" y="887080"/>
                  </a:lnTo>
                  <a:lnTo>
                    <a:pt x="158257" y="920972"/>
                  </a:lnTo>
                  <a:lnTo>
                    <a:pt x="192198" y="952104"/>
                  </a:lnTo>
                  <a:lnTo>
                    <a:pt x="228710" y="980288"/>
                  </a:lnTo>
                  <a:lnTo>
                    <a:pt x="267603" y="1005331"/>
                  </a:lnTo>
                  <a:lnTo>
                    <a:pt x="308685" y="1027045"/>
                  </a:lnTo>
                  <a:lnTo>
                    <a:pt x="351765" y="1045238"/>
                  </a:lnTo>
                  <a:lnTo>
                    <a:pt x="396654" y="1059719"/>
                  </a:lnTo>
                  <a:lnTo>
                    <a:pt x="443159" y="1070299"/>
                  </a:lnTo>
                  <a:lnTo>
                    <a:pt x="491091" y="1076787"/>
                  </a:lnTo>
                  <a:lnTo>
                    <a:pt x="540257" y="1078991"/>
                  </a:lnTo>
                  <a:lnTo>
                    <a:pt x="589424" y="1076787"/>
                  </a:lnTo>
                  <a:lnTo>
                    <a:pt x="637356" y="1070299"/>
                  </a:lnTo>
                  <a:lnTo>
                    <a:pt x="683861" y="1059719"/>
                  </a:lnTo>
                  <a:lnTo>
                    <a:pt x="728750" y="1045238"/>
                  </a:lnTo>
                  <a:lnTo>
                    <a:pt x="771830" y="1027045"/>
                  </a:lnTo>
                  <a:lnTo>
                    <a:pt x="812912" y="1005331"/>
                  </a:lnTo>
                  <a:lnTo>
                    <a:pt x="851805" y="980288"/>
                  </a:lnTo>
                  <a:lnTo>
                    <a:pt x="888317" y="952104"/>
                  </a:lnTo>
                  <a:lnTo>
                    <a:pt x="922258" y="920972"/>
                  </a:lnTo>
                  <a:lnTo>
                    <a:pt x="953436" y="887080"/>
                  </a:lnTo>
                  <a:lnTo>
                    <a:pt x="981661" y="850621"/>
                  </a:lnTo>
                  <a:lnTo>
                    <a:pt x="1006743" y="811783"/>
                  </a:lnTo>
                  <a:lnTo>
                    <a:pt x="1028489" y="770759"/>
                  </a:lnTo>
                  <a:lnTo>
                    <a:pt x="1046709" y="727738"/>
                  </a:lnTo>
                  <a:lnTo>
                    <a:pt x="1061213" y="682910"/>
                  </a:lnTo>
                  <a:lnTo>
                    <a:pt x="1071809" y="636467"/>
                  </a:lnTo>
                  <a:lnTo>
                    <a:pt x="1078307" y="588599"/>
                  </a:lnTo>
                  <a:lnTo>
                    <a:pt x="1080516" y="539496"/>
                  </a:lnTo>
                  <a:lnTo>
                    <a:pt x="1078307" y="490392"/>
                  </a:lnTo>
                  <a:lnTo>
                    <a:pt x="1071809" y="442524"/>
                  </a:lnTo>
                  <a:lnTo>
                    <a:pt x="1061213" y="396081"/>
                  </a:lnTo>
                  <a:lnTo>
                    <a:pt x="1046709" y="351253"/>
                  </a:lnTo>
                  <a:lnTo>
                    <a:pt x="1028489" y="308232"/>
                  </a:lnTo>
                  <a:lnTo>
                    <a:pt x="1006743" y="267208"/>
                  </a:lnTo>
                  <a:lnTo>
                    <a:pt x="981661" y="228370"/>
                  </a:lnTo>
                  <a:lnTo>
                    <a:pt x="953436" y="191911"/>
                  </a:lnTo>
                  <a:lnTo>
                    <a:pt x="922258" y="158019"/>
                  </a:lnTo>
                  <a:lnTo>
                    <a:pt x="888317" y="126887"/>
                  </a:lnTo>
                  <a:lnTo>
                    <a:pt x="851805" y="98703"/>
                  </a:lnTo>
                  <a:lnTo>
                    <a:pt x="812912" y="73660"/>
                  </a:lnTo>
                  <a:lnTo>
                    <a:pt x="771830" y="51946"/>
                  </a:lnTo>
                  <a:lnTo>
                    <a:pt x="728750" y="33753"/>
                  </a:lnTo>
                  <a:lnTo>
                    <a:pt x="683861" y="19272"/>
                  </a:lnTo>
                  <a:lnTo>
                    <a:pt x="637356" y="8692"/>
                  </a:lnTo>
                  <a:lnTo>
                    <a:pt x="589424" y="2204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28344" y="2249423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0" y="539496"/>
                  </a:moveTo>
                  <a:lnTo>
                    <a:pt x="2208" y="490392"/>
                  </a:lnTo>
                  <a:lnTo>
                    <a:pt x="8706" y="442524"/>
                  </a:lnTo>
                  <a:lnTo>
                    <a:pt x="19302" y="396081"/>
                  </a:lnTo>
                  <a:lnTo>
                    <a:pt x="33806" y="351253"/>
                  </a:lnTo>
                  <a:lnTo>
                    <a:pt x="52026" y="308232"/>
                  </a:lnTo>
                  <a:lnTo>
                    <a:pt x="73772" y="267208"/>
                  </a:lnTo>
                  <a:lnTo>
                    <a:pt x="98854" y="228370"/>
                  </a:lnTo>
                  <a:lnTo>
                    <a:pt x="127079" y="191911"/>
                  </a:lnTo>
                  <a:lnTo>
                    <a:pt x="158257" y="158019"/>
                  </a:lnTo>
                  <a:lnTo>
                    <a:pt x="192198" y="126887"/>
                  </a:lnTo>
                  <a:lnTo>
                    <a:pt x="228710" y="98703"/>
                  </a:lnTo>
                  <a:lnTo>
                    <a:pt x="267603" y="73660"/>
                  </a:lnTo>
                  <a:lnTo>
                    <a:pt x="308685" y="51946"/>
                  </a:lnTo>
                  <a:lnTo>
                    <a:pt x="351765" y="33753"/>
                  </a:lnTo>
                  <a:lnTo>
                    <a:pt x="396654" y="19272"/>
                  </a:lnTo>
                  <a:lnTo>
                    <a:pt x="443159" y="8692"/>
                  </a:lnTo>
                  <a:lnTo>
                    <a:pt x="491091" y="2204"/>
                  </a:lnTo>
                  <a:lnTo>
                    <a:pt x="540257" y="0"/>
                  </a:lnTo>
                  <a:lnTo>
                    <a:pt x="589424" y="2204"/>
                  </a:lnTo>
                  <a:lnTo>
                    <a:pt x="637356" y="8692"/>
                  </a:lnTo>
                  <a:lnTo>
                    <a:pt x="683861" y="19272"/>
                  </a:lnTo>
                  <a:lnTo>
                    <a:pt x="728750" y="33753"/>
                  </a:lnTo>
                  <a:lnTo>
                    <a:pt x="771830" y="51946"/>
                  </a:lnTo>
                  <a:lnTo>
                    <a:pt x="812912" y="73660"/>
                  </a:lnTo>
                  <a:lnTo>
                    <a:pt x="851805" y="98703"/>
                  </a:lnTo>
                  <a:lnTo>
                    <a:pt x="888317" y="126887"/>
                  </a:lnTo>
                  <a:lnTo>
                    <a:pt x="922258" y="158019"/>
                  </a:lnTo>
                  <a:lnTo>
                    <a:pt x="953436" y="191911"/>
                  </a:lnTo>
                  <a:lnTo>
                    <a:pt x="981661" y="228370"/>
                  </a:lnTo>
                  <a:lnTo>
                    <a:pt x="1006743" y="267208"/>
                  </a:lnTo>
                  <a:lnTo>
                    <a:pt x="1028489" y="308232"/>
                  </a:lnTo>
                  <a:lnTo>
                    <a:pt x="1046709" y="351253"/>
                  </a:lnTo>
                  <a:lnTo>
                    <a:pt x="1061213" y="396081"/>
                  </a:lnTo>
                  <a:lnTo>
                    <a:pt x="1071809" y="442524"/>
                  </a:lnTo>
                  <a:lnTo>
                    <a:pt x="1078307" y="490392"/>
                  </a:lnTo>
                  <a:lnTo>
                    <a:pt x="1080516" y="539496"/>
                  </a:lnTo>
                  <a:lnTo>
                    <a:pt x="1078307" y="588599"/>
                  </a:lnTo>
                  <a:lnTo>
                    <a:pt x="1071809" y="636467"/>
                  </a:lnTo>
                  <a:lnTo>
                    <a:pt x="1061213" y="682910"/>
                  </a:lnTo>
                  <a:lnTo>
                    <a:pt x="1046709" y="727738"/>
                  </a:lnTo>
                  <a:lnTo>
                    <a:pt x="1028489" y="770759"/>
                  </a:lnTo>
                  <a:lnTo>
                    <a:pt x="1006743" y="811783"/>
                  </a:lnTo>
                  <a:lnTo>
                    <a:pt x="981661" y="850621"/>
                  </a:lnTo>
                  <a:lnTo>
                    <a:pt x="953436" y="887080"/>
                  </a:lnTo>
                  <a:lnTo>
                    <a:pt x="922258" y="920972"/>
                  </a:lnTo>
                  <a:lnTo>
                    <a:pt x="888317" y="952104"/>
                  </a:lnTo>
                  <a:lnTo>
                    <a:pt x="851805" y="980288"/>
                  </a:lnTo>
                  <a:lnTo>
                    <a:pt x="812912" y="1005331"/>
                  </a:lnTo>
                  <a:lnTo>
                    <a:pt x="771830" y="1027045"/>
                  </a:lnTo>
                  <a:lnTo>
                    <a:pt x="728750" y="1045238"/>
                  </a:lnTo>
                  <a:lnTo>
                    <a:pt x="683861" y="1059719"/>
                  </a:lnTo>
                  <a:lnTo>
                    <a:pt x="637356" y="1070299"/>
                  </a:lnTo>
                  <a:lnTo>
                    <a:pt x="589424" y="1076787"/>
                  </a:lnTo>
                  <a:lnTo>
                    <a:pt x="540257" y="1078991"/>
                  </a:lnTo>
                  <a:lnTo>
                    <a:pt x="491091" y="1076787"/>
                  </a:lnTo>
                  <a:lnTo>
                    <a:pt x="443159" y="1070299"/>
                  </a:lnTo>
                  <a:lnTo>
                    <a:pt x="396654" y="1059719"/>
                  </a:lnTo>
                  <a:lnTo>
                    <a:pt x="351765" y="1045238"/>
                  </a:lnTo>
                  <a:lnTo>
                    <a:pt x="308685" y="1027045"/>
                  </a:lnTo>
                  <a:lnTo>
                    <a:pt x="267603" y="1005331"/>
                  </a:lnTo>
                  <a:lnTo>
                    <a:pt x="228710" y="980288"/>
                  </a:lnTo>
                  <a:lnTo>
                    <a:pt x="192198" y="952104"/>
                  </a:lnTo>
                  <a:lnTo>
                    <a:pt x="158257" y="920972"/>
                  </a:lnTo>
                  <a:lnTo>
                    <a:pt x="127079" y="887080"/>
                  </a:lnTo>
                  <a:lnTo>
                    <a:pt x="98854" y="850621"/>
                  </a:lnTo>
                  <a:lnTo>
                    <a:pt x="73772" y="811784"/>
                  </a:lnTo>
                  <a:lnTo>
                    <a:pt x="52026" y="770759"/>
                  </a:lnTo>
                  <a:lnTo>
                    <a:pt x="33806" y="727738"/>
                  </a:lnTo>
                  <a:lnTo>
                    <a:pt x="19302" y="682910"/>
                  </a:lnTo>
                  <a:lnTo>
                    <a:pt x="8706" y="636467"/>
                  </a:lnTo>
                  <a:lnTo>
                    <a:pt x="2208" y="588599"/>
                  </a:lnTo>
                  <a:lnTo>
                    <a:pt x="0" y="539496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75561" y="2437257"/>
            <a:ext cx="386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5" dirty="0">
                <a:solidFill>
                  <a:srgbClr val="8E0F6A"/>
                </a:solidFill>
                <a:latin typeface="Lucida Sans"/>
                <a:cs typeface="Lucida Sans"/>
              </a:rPr>
              <a:t>B</a:t>
            </a:r>
            <a:endParaRPr sz="44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4038" y="898906"/>
            <a:ext cx="5683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5705" algn="l"/>
              </a:tabLst>
            </a:pPr>
            <a:r>
              <a:rPr sz="4400" b="1" spc="-440" dirty="0">
                <a:solidFill>
                  <a:srgbClr val="AC1381"/>
                </a:solidFill>
                <a:latin typeface="Lucida Sans"/>
                <a:cs typeface="Lucida Sans"/>
              </a:rPr>
              <a:t>A</a:t>
            </a:r>
            <a:r>
              <a:rPr sz="4400" b="1" dirty="0">
                <a:solidFill>
                  <a:srgbClr val="AC1381"/>
                </a:solidFill>
                <a:latin typeface="Lucida Sans"/>
                <a:cs typeface="Lucida Sans"/>
              </a:rPr>
              <a:t>	</a:t>
            </a:r>
            <a:r>
              <a:rPr sz="4400" b="1" spc="-10" dirty="0">
                <a:solidFill>
                  <a:srgbClr val="8E0F6A"/>
                </a:solidFill>
                <a:latin typeface="メイリオ"/>
                <a:cs typeface="メイリオ"/>
              </a:rPr>
              <a:t>基本的な数と計算</a:t>
            </a:r>
            <a:endParaRPr sz="44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7677" y="2352243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0" dirty="0">
                <a:solidFill>
                  <a:srgbClr val="FFFFFF"/>
                </a:solidFill>
                <a:latin typeface="メイリオ"/>
                <a:cs typeface="メイリオ"/>
              </a:rPr>
              <a:t>文字式とは</a:t>
            </a:r>
            <a:endParaRPr sz="44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0244" y="3745991"/>
            <a:ext cx="1156970" cy="1156970"/>
            <a:chOff x="1190244" y="3745991"/>
            <a:chExt cx="1156970" cy="1156970"/>
          </a:xfrm>
        </p:grpSpPr>
        <p:sp>
          <p:nvSpPr>
            <p:cNvPr id="11" name="object 11"/>
            <p:cNvSpPr/>
            <p:nvPr/>
          </p:nvSpPr>
          <p:spPr>
            <a:xfrm>
              <a:off x="1228344" y="3784091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540257" y="0"/>
                  </a:moveTo>
                  <a:lnTo>
                    <a:pt x="491091" y="2208"/>
                  </a:lnTo>
                  <a:lnTo>
                    <a:pt x="443159" y="8706"/>
                  </a:lnTo>
                  <a:lnTo>
                    <a:pt x="396654" y="19302"/>
                  </a:lnTo>
                  <a:lnTo>
                    <a:pt x="351765" y="33806"/>
                  </a:lnTo>
                  <a:lnTo>
                    <a:pt x="308685" y="52026"/>
                  </a:lnTo>
                  <a:lnTo>
                    <a:pt x="267603" y="73772"/>
                  </a:lnTo>
                  <a:lnTo>
                    <a:pt x="228710" y="98854"/>
                  </a:lnTo>
                  <a:lnTo>
                    <a:pt x="192198" y="127079"/>
                  </a:lnTo>
                  <a:lnTo>
                    <a:pt x="158257" y="158257"/>
                  </a:lnTo>
                  <a:lnTo>
                    <a:pt x="127079" y="192198"/>
                  </a:lnTo>
                  <a:lnTo>
                    <a:pt x="98854" y="228710"/>
                  </a:lnTo>
                  <a:lnTo>
                    <a:pt x="73772" y="267603"/>
                  </a:lnTo>
                  <a:lnTo>
                    <a:pt x="52026" y="308685"/>
                  </a:lnTo>
                  <a:lnTo>
                    <a:pt x="33806" y="351765"/>
                  </a:lnTo>
                  <a:lnTo>
                    <a:pt x="19302" y="396654"/>
                  </a:lnTo>
                  <a:lnTo>
                    <a:pt x="8706" y="443159"/>
                  </a:lnTo>
                  <a:lnTo>
                    <a:pt x="2208" y="491091"/>
                  </a:lnTo>
                  <a:lnTo>
                    <a:pt x="0" y="540257"/>
                  </a:lnTo>
                  <a:lnTo>
                    <a:pt x="2208" y="589424"/>
                  </a:lnTo>
                  <a:lnTo>
                    <a:pt x="8706" y="637356"/>
                  </a:lnTo>
                  <a:lnTo>
                    <a:pt x="19302" y="683861"/>
                  </a:lnTo>
                  <a:lnTo>
                    <a:pt x="33806" y="728750"/>
                  </a:lnTo>
                  <a:lnTo>
                    <a:pt x="52026" y="771830"/>
                  </a:lnTo>
                  <a:lnTo>
                    <a:pt x="73772" y="812912"/>
                  </a:lnTo>
                  <a:lnTo>
                    <a:pt x="98854" y="851805"/>
                  </a:lnTo>
                  <a:lnTo>
                    <a:pt x="127079" y="888317"/>
                  </a:lnTo>
                  <a:lnTo>
                    <a:pt x="158257" y="922258"/>
                  </a:lnTo>
                  <a:lnTo>
                    <a:pt x="192198" y="953436"/>
                  </a:lnTo>
                  <a:lnTo>
                    <a:pt x="228710" y="981661"/>
                  </a:lnTo>
                  <a:lnTo>
                    <a:pt x="267603" y="1006743"/>
                  </a:lnTo>
                  <a:lnTo>
                    <a:pt x="308685" y="1028489"/>
                  </a:lnTo>
                  <a:lnTo>
                    <a:pt x="351765" y="1046709"/>
                  </a:lnTo>
                  <a:lnTo>
                    <a:pt x="396654" y="1061213"/>
                  </a:lnTo>
                  <a:lnTo>
                    <a:pt x="443159" y="1071809"/>
                  </a:lnTo>
                  <a:lnTo>
                    <a:pt x="491091" y="1078307"/>
                  </a:lnTo>
                  <a:lnTo>
                    <a:pt x="540257" y="1080515"/>
                  </a:lnTo>
                  <a:lnTo>
                    <a:pt x="589424" y="1078307"/>
                  </a:lnTo>
                  <a:lnTo>
                    <a:pt x="637356" y="1071809"/>
                  </a:lnTo>
                  <a:lnTo>
                    <a:pt x="683861" y="1061213"/>
                  </a:lnTo>
                  <a:lnTo>
                    <a:pt x="728750" y="1046709"/>
                  </a:lnTo>
                  <a:lnTo>
                    <a:pt x="771830" y="1028489"/>
                  </a:lnTo>
                  <a:lnTo>
                    <a:pt x="812912" y="1006743"/>
                  </a:lnTo>
                  <a:lnTo>
                    <a:pt x="851805" y="981661"/>
                  </a:lnTo>
                  <a:lnTo>
                    <a:pt x="888317" y="953436"/>
                  </a:lnTo>
                  <a:lnTo>
                    <a:pt x="922258" y="922258"/>
                  </a:lnTo>
                  <a:lnTo>
                    <a:pt x="953436" y="888317"/>
                  </a:lnTo>
                  <a:lnTo>
                    <a:pt x="981661" y="851805"/>
                  </a:lnTo>
                  <a:lnTo>
                    <a:pt x="1006743" y="812912"/>
                  </a:lnTo>
                  <a:lnTo>
                    <a:pt x="1028489" y="771830"/>
                  </a:lnTo>
                  <a:lnTo>
                    <a:pt x="1046709" y="728750"/>
                  </a:lnTo>
                  <a:lnTo>
                    <a:pt x="1061213" y="683861"/>
                  </a:lnTo>
                  <a:lnTo>
                    <a:pt x="1071809" y="637356"/>
                  </a:lnTo>
                  <a:lnTo>
                    <a:pt x="1078307" y="589424"/>
                  </a:lnTo>
                  <a:lnTo>
                    <a:pt x="1080516" y="540257"/>
                  </a:lnTo>
                  <a:lnTo>
                    <a:pt x="1078307" y="491091"/>
                  </a:lnTo>
                  <a:lnTo>
                    <a:pt x="1071809" y="443159"/>
                  </a:lnTo>
                  <a:lnTo>
                    <a:pt x="1061213" y="396654"/>
                  </a:lnTo>
                  <a:lnTo>
                    <a:pt x="1046709" y="351765"/>
                  </a:lnTo>
                  <a:lnTo>
                    <a:pt x="1028489" y="308685"/>
                  </a:lnTo>
                  <a:lnTo>
                    <a:pt x="1006743" y="267603"/>
                  </a:lnTo>
                  <a:lnTo>
                    <a:pt x="981661" y="228710"/>
                  </a:lnTo>
                  <a:lnTo>
                    <a:pt x="953436" y="192198"/>
                  </a:lnTo>
                  <a:lnTo>
                    <a:pt x="922258" y="158257"/>
                  </a:lnTo>
                  <a:lnTo>
                    <a:pt x="888317" y="127079"/>
                  </a:lnTo>
                  <a:lnTo>
                    <a:pt x="851805" y="98854"/>
                  </a:lnTo>
                  <a:lnTo>
                    <a:pt x="812912" y="73772"/>
                  </a:lnTo>
                  <a:lnTo>
                    <a:pt x="771830" y="52026"/>
                  </a:lnTo>
                  <a:lnTo>
                    <a:pt x="728750" y="33806"/>
                  </a:lnTo>
                  <a:lnTo>
                    <a:pt x="683861" y="19302"/>
                  </a:lnTo>
                  <a:lnTo>
                    <a:pt x="637356" y="8706"/>
                  </a:lnTo>
                  <a:lnTo>
                    <a:pt x="589424" y="2208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8E0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28344" y="3784091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0" y="540257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7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6" y="540257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7" y="1080515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7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83182" y="3973195"/>
            <a:ext cx="371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490" dirty="0">
                <a:solidFill>
                  <a:srgbClr val="AC1381"/>
                </a:solidFill>
                <a:latin typeface="Lucida Sans"/>
                <a:cs typeface="Lucida Sans"/>
              </a:rPr>
              <a:t>C</a:t>
            </a:r>
            <a:endParaRPr sz="44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7677" y="3888181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0" dirty="0">
                <a:solidFill>
                  <a:srgbClr val="8E0F6A"/>
                </a:solidFill>
                <a:latin typeface="メイリオ"/>
                <a:cs typeface="メイリオ"/>
              </a:rPr>
              <a:t>方程式とは</a:t>
            </a:r>
            <a:endParaRPr sz="44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4747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10" dirty="0"/>
              <a:t>文字式の前に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525" y="1935226"/>
            <a:ext cx="520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メイリオ"/>
                <a:cs typeface="メイリオ"/>
              </a:rPr>
              <a:t>たとえば、以下のような問題を考える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573" y="2562605"/>
            <a:ext cx="10680700" cy="13081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347345" marR="2106930">
              <a:lnSpc>
                <a:spcPct val="130000"/>
              </a:lnSpc>
              <a:spcBef>
                <a:spcPts val="690"/>
              </a:spcBef>
            </a:pPr>
            <a:r>
              <a:rPr sz="2400" dirty="0">
                <a:latin typeface="メイリオ"/>
                <a:cs typeface="メイリオ"/>
              </a:rPr>
              <a:t>太郎君は、5</a:t>
            </a:r>
            <a:r>
              <a:rPr sz="2400" spc="-10" dirty="0">
                <a:latin typeface="メイリオ"/>
                <a:cs typeface="メイリオ"/>
              </a:rPr>
              <a:t> 個のリンゴといくつかのミカンを持っている。</a:t>
            </a:r>
            <a:r>
              <a:rPr sz="2400" spc="-50" dirty="0">
                <a:latin typeface="メイリオ"/>
                <a:cs typeface="メイリオ"/>
              </a:rPr>
              <a:t> </a:t>
            </a:r>
            <a:r>
              <a:rPr sz="2400" spc="-10" dirty="0">
                <a:solidFill>
                  <a:srgbClr val="21379E"/>
                </a:solidFill>
                <a:latin typeface="メイリオ"/>
                <a:cs typeface="メイリオ"/>
              </a:rPr>
              <a:t>“ミカンの個数” </a:t>
            </a:r>
            <a:r>
              <a:rPr sz="2400" spc="15" dirty="0">
                <a:latin typeface="メイリオ"/>
                <a:cs typeface="メイリオ"/>
              </a:rPr>
              <a:t>と </a:t>
            </a:r>
            <a:r>
              <a:rPr sz="2400" spc="-10" dirty="0">
                <a:solidFill>
                  <a:srgbClr val="F43864"/>
                </a:solidFill>
                <a:latin typeface="メイリオ"/>
                <a:cs typeface="メイリオ"/>
              </a:rPr>
              <a:t>“リンゴとミカンの合計個数” </a:t>
            </a:r>
            <a:r>
              <a:rPr sz="2400" spc="-20" dirty="0">
                <a:latin typeface="メイリオ"/>
                <a:cs typeface="メイリオ"/>
              </a:rPr>
              <a:t>の関係は？</a:t>
            </a:r>
            <a:endParaRPr sz="24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4747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10" dirty="0"/>
              <a:t>文字式の前に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14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525" y="1935226"/>
            <a:ext cx="520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メイリオ"/>
                <a:cs typeface="メイリオ"/>
              </a:rPr>
              <a:t>たとえば、以下のような問題を考える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573" y="2562605"/>
            <a:ext cx="10680700" cy="13081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347345" marR="2106930">
              <a:lnSpc>
                <a:spcPct val="130000"/>
              </a:lnSpc>
              <a:spcBef>
                <a:spcPts val="690"/>
              </a:spcBef>
            </a:pPr>
            <a:r>
              <a:rPr sz="2400" dirty="0">
                <a:latin typeface="メイリオ"/>
                <a:cs typeface="メイリオ"/>
              </a:rPr>
              <a:t>太郎君は、5</a:t>
            </a:r>
            <a:r>
              <a:rPr sz="2400" spc="-10" dirty="0">
                <a:latin typeface="メイリオ"/>
                <a:cs typeface="メイリオ"/>
              </a:rPr>
              <a:t> 個のリンゴといくつかのミカンを持っている。</a:t>
            </a:r>
            <a:r>
              <a:rPr sz="2400" spc="-50" dirty="0">
                <a:latin typeface="メイリオ"/>
                <a:cs typeface="メイリオ"/>
              </a:rPr>
              <a:t> </a:t>
            </a:r>
            <a:r>
              <a:rPr sz="2400" spc="-10" dirty="0">
                <a:solidFill>
                  <a:srgbClr val="21379E"/>
                </a:solidFill>
                <a:latin typeface="メイリオ"/>
                <a:cs typeface="メイリオ"/>
              </a:rPr>
              <a:t>“ミカンの個数” </a:t>
            </a:r>
            <a:r>
              <a:rPr sz="2400" spc="15" dirty="0">
                <a:latin typeface="メイリオ"/>
                <a:cs typeface="メイリオ"/>
              </a:rPr>
              <a:t>と </a:t>
            </a:r>
            <a:r>
              <a:rPr sz="2400" spc="-10" dirty="0">
                <a:solidFill>
                  <a:srgbClr val="F43864"/>
                </a:solidFill>
                <a:latin typeface="メイリオ"/>
                <a:cs typeface="メイリオ"/>
              </a:rPr>
              <a:t>“リンゴとミカンの合計個数” </a:t>
            </a:r>
            <a:r>
              <a:rPr sz="2400" spc="-20" dirty="0">
                <a:latin typeface="メイリオ"/>
                <a:cs typeface="メイリオ"/>
              </a:rPr>
              <a:t>の関係は？</a:t>
            </a:r>
            <a:endParaRPr sz="2400">
              <a:latin typeface="メイリオ"/>
              <a:cs typeface="メイリオ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1812" y="4485132"/>
            <a:ext cx="4281170" cy="1676400"/>
            <a:chOff x="781812" y="4485132"/>
            <a:chExt cx="4281170" cy="1676400"/>
          </a:xfrm>
        </p:grpSpPr>
        <p:sp>
          <p:nvSpPr>
            <p:cNvPr id="12" name="object 12"/>
            <p:cNvSpPr/>
            <p:nvPr/>
          </p:nvSpPr>
          <p:spPr>
            <a:xfrm>
              <a:off x="781812" y="4949951"/>
              <a:ext cx="756285" cy="1211580"/>
            </a:xfrm>
            <a:custGeom>
              <a:avLst/>
              <a:gdLst/>
              <a:ahLst/>
              <a:cxnLst/>
              <a:rect l="l" t="t" r="r" b="b"/>
              <a:pathLst>
                <a:path w="756285" h="1211579">
                  <a:moveTo>
                    <a:pt x="755904" y="798576"/>
                  </a:moveTo>
                  <a:lnTo>
                    <a:pt x="753808" y="798576"/>
                  </a:lnTo>
                  <a:lnTo>
                    <a:pt x="748563" y="759460"/>
                  </a:lnTo>
                  <a:lnTo>
                    <a:pt x="736739" y="714540"/>
                  </a:lnTo>
                  <a:lnTo>
                    <a:pt x="719759" y="672109"/>
                  </a:lnTo>
                  <a:lnTo>
                    <a:pt x="698030" y="632485"/>
                  </a:lnTo>
                  <a:lnTo>
                    <a:pt x="671918" y="596011"/>
                  </a:lnTo>
                  <a:lnTo>
                    <a:pt x="641807" y="563003"/>
                  </a:lnTo>
                  <a:lnTo>
                    <a:pt x="608076" y="533806"/>
                  </a:lnTo>
                  <a:lnTo>
                    <a:pt x="571093" y="508723"/>
                  </a:lnTo>
                  <a:lnTo>
                    <a:pt x="565315" y="505739"/>
                  </a:lnTo>
                  <a:lnTo>
                    <a:pt x="581634" y="491731"/>
                  </a:lnTo>
                  <a:lnTo>
                    <a:pt x="610425" y="458177"/>
                  </a:lnTo>
                  <a:lnTo>
                    <a:pt x="633844" y="420433"/>
                  </a:lnTo>
                  <a:lnTo>
                    <a:pt x="651306" y="379107"/>
                  </a:lnTo>
                  <a:lnTo>
                    <a:pt x="662216" y="334772"/>
                  </a:lnTo>
                  <a:lnTo>
                    <a:pt x="665988" y="288036"/>
                  </a:lnTo>
                  <a:lnTo>
                    <a:pt x="662216" y="241312"/>
                  </a:lnTo>
                  <a:lnTo>
                    <a:pt x="651306" y="196977"/>
                  </a:lnTo>
                  <a:lnTo>
                    <a:pt x="633844" y="155651"/>
                  </a:lnTo>
                  <a:lnTo>
                    <a:pt x="610425" y="117906"/>
                  </a:lnTo>
                  <a:lnTo>
                    <a:pt x="581634" y="84353"/>
                  </a:lnTo>
                  <a:lnTo>
                    <a:pt x="548081" y="55562"/>
                  </a:lnTo>
                  <a:lnTo>
                    <a:pt x="510336" y="32143"/>
                  </a:lnTo>
                  <a:lnTo>
                    <a:pt x="469011" y="14681"/>
                  </a:lnTo>
                  <a:lnTo>
                    <a:pt x="424675" y="3771"/>
                  </a:lnTo>
                  <a:lnTo>
                    <a:pt x="377952" y="0"/>
                  </a:lnTo>
                  <a:lnTo>
                    <a:pt x="331228" y="3771"/>
                  </a:lnTo>
                  <a:lnTo>
                    <a:pt x="286905" y="14681"/>
                  </a:lnTo>
                  <a:lnTo>
                    <a:pt x="245579" y="32143"/>
                  </a:lnTo>
                  <a:lnTo>
                    <a:pt x="207835" y="55562"/>
                  </a:lnTo>
                  <a:lnTo>
                    <a:pt x="174269" y="84353"/>
                  </a:lnTo>
                  <a:lnTo>
                    <a:pt x="145478" y="117906"/>
                  </a:lnTo>
                  <a:lnTo>
                    <a:pt x="122059" y="155651"/>
                  </a:lnTo>
                  <a:lnTo>
                    <a:pt x="104597" y="196977"/>
                  </a:lnTo>
                  <a:lnTo>
                    <a:pt x="93675" y="241312"/>
                  </a:lnTo>
                  <a:lnTo>
                    <a:pt x="89916" y="288036"/>
                  </a:lnTo>
                  <a:lnTo>
                    <a:pt x="93675" y="334772"/>
                  </a:lnTo>
                  <a:lnTo>
                    <a:pt x="104597" y="379107"/>
                  </a:lnTo>
                  <a:lnTo>
                    <a:pt x="122059" y="420433"/>
                  </a:lnTo>
                  <a:lnTo>
                    <a:pt x="145478" y="458177"/>
                  </a:lnTo>
                  <a:lnTo>
                    <a:pt x="174269" y="491731"/>
                  </a:lnTo>
                  <a:lnTo>
                    <a:pt x="190766" y="505891"/>
                  </a:lnTo>
                  <a:lnTo>
                    <a:pt x="176809" y="513549"/>
                  </a:lnTo>
                  <a:lnTo>
                    <a:pt x="140335" y="539661"/>
                  </a:lnTo>
                  <a:lnTo>
                    <a:pt x="107327" y="569772"/>
                  </a:lnTo>
                  <a:lnTo>
                    <a:pt x="78117" y="603504"/>
                  </a:lnTo>
                  <a:lnTo>
                    <a:pt x="53035" y="640473"/>
                  </a:lnTo>
                  <a:lnTo>
                    <a:pt x="32410" y="680313"/>
                  </a:lnTo>
                  <a:lnTo>
                    <a:pt x="16560" y="722642"/>
                  </a:lnTo>
                  <a:lnTo>
                    <a:pt x="5816" y="767067"/>
                  </a:lnTo>
                  <a:lnTo>
                    <a:pt x="2184" y="798576"/>
                  </a:lnTo>
                  <a:lnTo>
                    <a:pt x="0" y="798576"/>
                  </a:lnTo>
                  <a:lnTo>
                    <a:pt x="0" y="1211580"/>
                  </a:lnTo>
                  <a:lnTo>
                    <a:pt x="755904" y="1211580"/>
                  </a:lnTo>
                  <a:lnTo>
                    <a:pt x="755904" y="798576"/>
                  </a:lnTo>
                  <a:close/>
                </a:path>
              </a:pathLst>
            </a:custGeom>
            <a:solidFill>
              <a:srgbClr val="213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7716" y="4485131"/>
              <a:ext cx="3525520" cy="1118870"/>
            </a:xfrm>
            <a:custGeom>
              <a:avLst/>
              <a:gdLst/>
              <a:ahLst/>
              <a:cxnLst/>
              <a:rect l="l" t="t" r="r" b="b"/>
              <a:pathLst>
                <a:path w="3525520" h="1118870">
                  <a:moveTo>
                    <a:pt x="3525012" y="242316"/>
                  </a:moveTo>
                  <a:lnTo>
                    <a:pt x="3520084" y="193484"/>
                  </a:lnTo>
                  <a:lnTo>
                    <a:pt x="3505962" y="147993"/>
                  </a:lnTo>
                  <a:lnTo>
                    <a:pt x="3483635" y="106832"/>
                  </a:lnTo>
                  <a:lnTo>
                    <a:pt x="3454044" y="70967"/>
                  </a:lnTo>
                  <a:lnTo>
                    <a:pt x="3418179" y="41376"/>
                  </a:lnTo>
                  <a:lnTo>
                    <a:pt x="3377019" y="19050"/>
                  </a:lnTo>
                  <a:lnTo>
                    <a:pt x="3331527" y="4927"/>
                  </a:lnTo>
                  <a:lnTo>
                    <a:pt x="3282696" y="0"/>
                  </a:lnTo>
                  <a:lnTo>
                    <a:pt x="530352" y="0"/>
                  </a:lnTo>
                  <a:lnTo>
                    <a:pt x="481507" y="4927"/>
                  </a:lnTo>
                  <a:lnTo>
                    <a:pt x="436016" y="19050"/>
                  </a:lnTo>
                  <a:lnTo>
                    <a:pt x="394855" y="41376"/>
                  </a:lnTo>
                  <a:lnTo>
                    <a:pt x="358990" y="70967"/>
                  </a:lnTo>
                  <a:lnTo>
                    <a:pt x="329399" y="106832"/>
                  </a:lnTo>
                  <a:lnTo>
                    <a:pt x="307073" y="147993"/>
                  </a:lnTo>
                  <a:lnTo>
                    <a:pt x="292950" y="193484"/>
                  </a:lnTo>
                  <a:lnTo>
                    <a:pt x="288036" y="242316"/>
                  </a:lnTo>
                  <a:lnTo>
                    <a:pt x="288036" y="559308"/>
                  </a:lnTo>
                  <a:lnTo>
                    <a:pt x="0" y="713994"/>
                  </a:lnTo>
                  <a:lnTo>
                    <a:pt x="288036" y="868680"/>
                  </a:lnTo>
                  <a:lnTo>
                    <a:pt x="288036" y="876300"/>
                  </a:lnTo>
                  <a:lnTo>
                    <a:pt x="292950" y="925144"/>
                  </a:lnTo>
                  <a:lnTo>
                    <a:pt x="307073" y="970635"/>
                  </a:lnTo>
                  <a:lnTo>
                    <a:pt x="329399" y="1011796"/>
                  </a:lnTo>
                  <a:lnTo>
                    <a:pt x="358990" y="1047661"/>
                  </a:lnTo>
                  <a:lnTo>
                    <a:pt x="394855" y="1077252"/>
                  </a:lnTo>
                  <a:lnTo>
                    <a:pt x="436016" y="1099578"/>
                  </a:lnTo>
                  <a:lnTo>
                    <a:pt x="481507" y="1113701"/>
                  </a:lnTo>
                  <a:lnTo>
                    <a:pt x="530352" y="1118616"/>
                  </a:lnTo>
                  <a:lnTo>
                    <a:pt x="3282696" y="1118616"/>
                  </a:lnTo>
                  <a:lnTo>
                    <a:pt x="3331527" y="1113701"/>
                  </a:lnTo>
                  <a:lnTo>
                    <a:pt x="3377019" y="1099578"/>
                  </a:lnTo>
                  <a:lnTo>
                    <a:pt x="3418179" y="1077252"/>
                  </a:lnTo>
                  <a:lnTo>
                    <a:pt x="3454044" y="1047661"/>
                  </a:lnTo>
                  <a:lnTo>
                    <a:pt x="3483635" y="1011796"/>
                  </a:lnTo>
                  <a:lnTo>
                    <a:pt x="3505962" y="970635"/>
                  </a:lnTo>
                  <a:lnTo>
                    <a:pt x="3520084" y="925144"/>
                  </a:lnTo>
                  <a:lnTo>
                    <a:pt x="3525012" y="876300"/>
                  </a:lnTo>
                  <a:lnTo>
                    <a:pt x="3525012" y="242316"/>
                  </a:lnTo>
                  <a:close/>
                </a:path>
              </a:pathLst>
            </a:custGeom>
            <a:solidFill>
              <a:srgbClr val="21379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52954" y="4596155"/>
            <a:ext cx="2816225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15" dirty="0">
                <a:solidFill>
                  <a:srgbClr val="FFFFFF"/>
                </a:solidFill>
                <a:latin typeface="メイリオ"/>
                <a:cs typeface="メイリオ"/>
              </a:rPr>
              <a:t>ミカンが </a:t>
            </a: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r>
              <a:rPr sz="1600" b="1" spc="-15" dirty="0">
                <a:solidFill>
                  <a:srgbClr val="FFFFFF"/>
                </a:solidFill>
                <a:latin typeface="メイリオ"/>
                <a:cs typeface="メイリオ"/>
              </a:rPr>
              <a:t> 個なら </a:t>
            </a: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5+2=7</a:t>
            </a:r>
            <a:r>
              <a:rPr sz="1600" b="1" spc="-10" dirty="0">
                <a:solidFill>
                  <a:srgbClr val="FFFFFF"/>
                </a:solidFill>
                <a:latin typeface="メイリオ"/>
                <a:cs typeface="メイリオ"/>
              </a:rPr>
              <a:t> 個</a:t>
            </a:r>
            <a:endParaRPr sz="16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5" dirty="0">
                <a:solidFill>
                  <a:srgbClr val="FFFFFF"/>
                </a:solidFill>
                <a:latin typeface="メイリオ"/>
                <a:cs typeface="メイリオ"/>
              </a:rPr>
              <a:t>ミカンが </a:t>
            </a: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r>
              <a:rPr sz="1600" b="1" spc="-15" dirty="0">
                <a:solidFill>
                  <a:srgbClr val="FFFFFF"/>
                </a:solidFill>
                <a:latin typeface="メイリオ"/>
                <a:cs typeface="メイリオ"/>
              </a:rPr>
              <a:t> 個なら </a:t>
            </a: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5+4=9</a:t>
            </a:r>
            <a:r>
              <a:rPr sz="1600" b="1" spc="-10" dirty="0">
                <a:solidFill>
                  <a:srgbClr val="FFFFFF"/>
                </a:solidFill>
                <a:latin typeface="メイリオ"/>
                <a:cs typeface="メイリオ"/>
              </a:rPr>
              <a:t> 個</a:t>
            </a:r>
            <a:endParaRPr sz="16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4747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10" dirty="0"/>
              <a:t>文字式の前に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15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525" y="1935226"/>
            <a:ext cx="520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メイリオ"/>
                <a:cs typeface="メイリオ"/>
              </a:rPr>
              <a:t>たとえば、以下のような問題を考える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573" y="2562605"/>
            <a:ext cx="10680700" cy="13081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347345" marR="2106930">
              <a:lnSpc>
                <a:spcPct val="130000"/>
              </a:lnSpc>
              <a:spcBef>
                <a:spcPts val="690"/>
              </a:spcBef>
            </a:pPr>
            <a:r>
              <a:rPr sz="2400" dirty="0">
                <a:latin typeface="メイリオ"/>
                <a:cs typeface="メイリオ"/>
              </a:rPr>
              <a:t>太郎君は、5</a:t>
            </a:r>
            <a:r>
              <a:rPr sz="2400" spc="-10" dirty="0">
                <a:latin typeface="メイリオ"/>
                <a:cs typeface="メイリオ"/>
              </a:rPr>
              <a:t> 個のリンゴといくつかのミカンを持っている。</a:t>
            </a:r>
            <a:r>
              <a:rPr sz="2400" spc="-50" dirty="0">
                <a:latin typeface="メイリオ"/>
                <a:cs typeface="メイリオ"/>
              </a:rPr>
              <a:t> </a:t>
            </a:r>
            <a:r>
              <a:rPr sz="2400" spc="-10" dirty="0">
                <a:solidFill>
                  <a:srgbClr val="21379E"/>
                </a:solidFill>
                <a:latin typeface="メイリオ"/>
                <a:cs typeface="メイリオ"/>
              </a:rPr>
              <a:t>“ミカンの個数” </a:t>
            </a:r>
            <a:r>
              <a:rPr sz="2400" spc="15" dirty="0">
                <a:latin typeface="メイリオ"/>
                <a:cs typeface="メイリオ"/>
              </a:rPr>
              <a:t>と </a:t>
            </a:r>
            <a:r>
              <a:rPr sz="2400" spc="-10" dirty="0">
                <a:solidFill>
                  <a:srgbClr val="F43864"/>
                </a:solidFill>
                <a:latin typeface="メイリオ"/>
                <a:cs typeface="メイリオ"/>
              </a:rPr>
              <a:t>“リンゴとミカンの合計個数” </a:t>
            </a:r>
            <a:r>
              <a:rPr sz="2400" spc="-20" dirty="0">
                <a:latin typeface="メイリオ"/>
                <a:cs typeface="メイリオ"/>
              </a:rPr>
              <a:t>の関係は？</a:t>
            </a:r>
            <a:endParaRPr sz="2400">
              <a:latin typeface="メイリオ"/>
              <a:cs typeface="メイリオ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1812" y="4485132"/>
            <a:ext cx="4281170" cy="1676400"/>
            <a:chOff x="781812" y="4485132"/>
            <a:chExt cx="4281170" cy="1676400"/>
          </a:xfrm>
        </p:grpSpPr>
        <p:sp>
          <p:nvSpPr>
            <p:cNvPr id="12" name="object 12"/>
            <p:cNvSpPr/>
            <p:nvPr/>
          </p:nvSpPr>
          <p:spPr>
            <a:xfrm>
              <a:off x="781812" y="4949951"/>
              <a:ext cx="756285" cy="1211580"/>
            </a:xfrm>
            <a:custGeom>
              <a:avLst/>
              <a:gdLst/>
              <a:ahLst/>
              <a:cxnLst/>
              <a:rect l="l" t="t" r="r" b="b"/>
              <a:pathLst>
                <a:path w="756285" h="1211579">
                  <a:moveTo>
                    <a:pt x="755904" y="798576"/>
                  </a:moveTo>
                  <a:lnTo>
                    <a:pt x="753808" y="798576"/>
                  </a:lnTo>
                  <a:lnTo>
                    <a:pt x="748563" y="759460"/>
                  </a:lnTo>
                  <a:lnTo>
                    <a:pt x="736739" y="714540"/>
                  </a:lnTo>
                  <a:lnTo>
                    <a:pt x="719759" y="672109"/>
                  </a:lnTo>
                  <a:lnTo>
                    <a:pt x="698030" y="632485"/>
                  </a:lnTo>
                  <a:lnTo>
                    <a:pt x="671918" y="596011"/>
                  </a:lnTo>
                  <a:lnTo>
                    <a:pt x="641807" y="563003"/>
                  </a:lnTo>
                  <a:lnTo>
                    <a:pt x="608076" y="533806"/>
                  </a:lnTo>
                  <a:lnTo>
                    <a:pt x="571093" y="508723"/>
                  </a:lnTo>
                  <a:lnTo>
                    <a:pt x="565315" y="505739"/>
                  </a:lnTo>
                  <a:lnTo>
                    <a:pt x="581634" y="491731"/>
                  </a:lnTo>
                  <a:lnTo>
                    <a:pt x="610425" y="458177"/>
                  </a:lnTo>
                  <a:lnTo>
                    <a:pt x="633844" y="420433"/>
                  </a:lnTo>
                  <a:lnTo>
                    <a:pt x="651306" y="379107"/>
                  </a:lnTo>
                  <a:lnTo>
                    <a:pt x="662216" y="334772"/>
                  </a:lnTo>
                  <a:lnTo>
                    <a:pt x="665988" y="288036"/>
                  </a:lnTo>
                  <a:lnTo>
                    <a:pt x="662216" y="241312"/>
                  </a:lnTo>
                  <a:lnTo>
                    <a:pt x="651306" y="196977"/>
                  </a:lnTo>
                  <a:lnTo>
                    <a:pt x="633844" y="155651"/>
                  </a:lnTo>
                  <a:lnTo>
                    <a:pt x="610425" y="117906"/>
                  </a:lnTo>
                  <a:lnTo>
                    <a:pt x="581634" y="84353"/>
                  </a:lnTo>
                  <a:lnTo>
                    <a:pt x="548081" y="55562"/>
                  </a:lnTo>
                  <a:lnTo>
                    <a:pt x="510336" y="32143"/>
                  </a:lnTo>
                  <a:lnTo>
                    <a:pt x="469011" y="14681"/>
                  </a:lnTo>
                  <a:lnTo>
                    <a:pt x="424675" y="3771"/>
                  </a:lnTo>
                  <a:lnTo>
                    <a:pt x="377952" y="0"/>
                  </a:lnTo>
                  <a:lnTo>
                    <a:pt x="331228" y="3771"/>
                  </a:lnTo>
                  <a:lnTo>
                    <a:pt x="286905" y="14681"/>
                  </a:lnTo>
                  <a:lnTo>
                    <a:pt x="245579" y="32143"/>
                  </a:lnTo>
                  <a:lnTo>
                    <a:pt x="207835" y="55562"/>
                  </a:lnTo>
                  <a:lnTo>
                    <a:pt x="174269" y="84353"/>
                  </a:lnTo>
                  <a:lnTo>
                    <a:pt x="145478" y="117906"/>
                  </a:lnTo>
                  <a:lnTo>
                    <a:pt x="122059" y="155651"/>
                  </a:lnTo>
                  <a:lnTo>
                    <a:pt x="104597" y="196977"/>
                  </a:lnTo>
                  <a:lnTo>
                    <a:pt x="93675" y="241312"/>
                  </a:lnTo>
                  <a:lnTo>
                    <a:pt x="89916" y="288036"/>
                  </a:lnTo>
                  <a:lnTo>
                    <a:pt x="93675" y="334772"/>
                  </a:lnTo>
                  <a:lnTo>
                    <a:pt x="104597" y="379107"/>
                  </a:lnTo>
                  <a:lnTo>
                    <a:pt x="122059" y="420433"/>
                  </a:lnTo>
                  <a:lnTo>
                    <a:pt x="145478" y="458177"/>
                  </a:lnTo>
                  <a:lnTo>
                    <a:pt x="174269" y="491731"/>
                  </a:lnTo>
                  <a:lnTo>
                    <a:pt x="190766" y="505891"/>
                  </a:lnTo>
                  <a:lnTo>
                    <a:pt x="176809" y="513549"/>
                  </a:lnTo>
                  <a:lnTo>
                    <a:pt x="140335" y="539661"/>
                  </a:lnTo>
                  <a:lnTo>
                    <a:pt x="107327" y="569772"/>
                  </a:lnTo>
                  <a:lnTo>
                    <a:pt x="78117" y="603504"/>
                  </a:lnTo>
                  <a:lnTo>
                    <a:pt x="53035" y="640473"/>
                  </a:lnTo>
                  <a:lnTo>
                    <a:pt x="32410" y="680313"/>
                  </a:lnTo>
                  <a:lnTo>
                    <a:pt x="16560" y="722642"/>
                  </a:lnTo>
                  <a:lnTo>
                    <a:pt x="5816" y="767067"/>
                  </a:lnTo>
                  <a:lnTo>
                    <a:pt x="2184" y="798576"/>
                  </a:lnTo>
                  <a:lnTo>
                    <a:pt x="0" y="798576"/>
                  </a:lnTo>
                  <a:lnTo>
                    <a:pt x="0" y="1211580"/>
                  </a:lnTo>
                  <a:lnTo>
                    <a:pt x="755904" y="1211580"/>
                  </a:lnTo>
                  <a:lnTo>
                    <a:pt x="755904" y="798576"/>
                  </a:lnTo>
                  <a:close/>
                </a:path>
              </a:pathLst>
            </a:custGeom>
            <a:solidFill>
              <a:srgbClr val="213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7716" y="4485131"/>
              <a:ext cx="3525520" cy="1118870"/>
            </a:xfrm>
            <a:custGeom>
              <a:avLst/>
              <a:gdLst/>
              <a:ahLst/>
              <a:cxnLst/>
              <a:rect l="l" t="t" r="r" b="b"/>
              <a:pathLst>
                <a:path w="3525520" h="1118870">
                  <a:moveTo>
                    <a:pt x="3525012" y="242316"/>
                  </a:moveTo>
                  <a:lnTo>
                    <a:pt x="3520084" y="193484"/>
                  </a:lnTo>
                  <a:lnTo>
                    <a:pt x="3505962" y="147993"/>
                  </a:lnTo>
                  <a:lnTo>
                    <a:pt x="3483635" y="106832"/>
                  </a:lnTo>
                  <a:lnTo>
                    <a:pt x="3454044" y="70967"/>
                  </a:lnTo>
                  <a:lnTo>
                    <a:pt x="3418179" y="41376"/>
                  </a:lnTo>
                  <a:lnTo>
                    <a:pt x="3377019" y="19050"/>
                  </a:lnTo>
                  <a:lnTo>
                    <a:pt x="3331527" y="4927"/>
                  </a:lnTo>
                  <a:lnTo>
                    <a:pt x="3282696" y="0"/>
                  </a:lnTo>
                  <a:lnTo>
                    <a:pt x="530352" y="0"/>
                  </a:lnTo>
                  <a:lnTo>
                    <a:pt x="481507" y="4927"/>
                  </a:lnTo>
                  <a:lnTo>
                    <a:pt x="436016" y="19050"/>
                  </a:lnTo>
                  <a:lnTo>
                    <a:pt x="394855" y="41376"/>
                  </a:lnTo>
                  <a:lnTo>
                    <a:pt x="358990" y="70967"/>
                  </a:lnTo>
                  <a:lnTo>
                    <a:pt x="329399" y="106832"/>
                  </a:lnTo>
                  <a:lnTo>
                    <a:pt x="307073" y="147993"/>
                  </a:lnTo>
                  <a:lnTo>
                    <a:pt x="292950" y="193484"/>
                  </a:lnTo>
                  <a:lnTo>
                    <a:pt x="288036" y="242316"/>
                  </a:lnTo>
                  <a:lnTo>
                    <a:pt x="288036" y="559308"/>
                  </a:lnTo>
                  <a:lnTo>
                    <a:pt x="0" y="713994"/>
                  </a:lnTo>
                  <a:lnTo>
                    <a:pt x="288036" y="868680"/>
                  </a:lnTo>
                  <a:lnTo>
                    <a:pt x="288036" y="876300"/>
                  </a:lnTo>
                  <a:lnTo>
                    <a:pt x="292950" y="925144"/>
                  </a:lnTo>
                  <a:lnTo>
                    <a:pt x="307073" y="970635"/>
                  </a:lnTo>
                  <a:lnTo>
                    <a:pt x="329399" y="1011796"/>
                  </a:lnTo>
                  <a:lnTo>
                    <a:pt x="358990" y="1047661"/>
                  </a:lnTo>
                  <a:lnTo>
                    <a:pt x="394855" y="1077252"/>
                  </a:lnTo>
                  <a:lnTo>
                    <a:pt x="436016" y="1099578"/>
                  </a:lnTo>
                  <a:lnTo>
                    <a:pt x="481507" y="1113701"/>
                  </a:lnTo>
                  <a:lnTo>
                    <a:pt x="530352" y="1118616"/>
                  </a:lnTo>
                  <a:lnTo>
                    <a:pt x="3282696" y="1118616"/>
                  </a:lnTo>
                  <a:lnTo>
                    <a:pt x="3331527" y="1113701"/>
                  </a:lnTo>
                  <a:lnTo>
                    <a:pt x="3377019" y="1099578"/>
                  </a:lnTo>
                  <a:lnTo>
                    <a:pt x="3418179" y="1077252"/>
                  </a:lnTo>
                  <a:lnTo>
                    <a:pt x="3454044" y="1047661"/>
                  </a:lnTo>
                  <a:lnTo>
                    <a:pt x="3483635" y="1011796"/>
                  </a:lnTo>
                  <a:lnTo>
                    <a:pt x="3505962" y="970635"/>
                  </a:lnTo>
                  <a:lnTo>
                    <a:pt x="3520084" y="925144"/>
                  </a:lnTo>
                  <a:lnTo>
                    <a:pt x="3525012" y="876300"/>
                  </a:lnTo>
                  <a:lnTo>
                    <a:pt x="3525012" y="242316"/>
                  </a:lnTo>
                  <a:close/>
                </a:path>
              </a:pathLst>
            </a:custGeom>
            <a:solidFill>
              <a:srgbClr val="21379E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52954" y="4596155"/>
            <a:ext cx="2816225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15" dirty="0">
                <a:solidFill>
                  <a:srgbClr val="FFFFFF"/>
                </a:solidFill>
                <a:latin typeface="メイリオ"/>
                <a:cs typeface="メイリオ"/>
              </a:rPr>
              <a:t>ミカンが </a:t>
            </a: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r>
              <a:rPr sz="1600" b="1" spc="-15" dirty="0">
                <a:solidFill>
                  <a:srgbClr val="FFFFFF"/>
                </a:solidFill>
                <a:latin typeface="メイリオ"/>
                <a:cs typeface="メイリオ"/>
              </a:rPr>
              <a:t> 個なら </a:t>
            </a: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5+2=7</a:t>
            </a:r>
            <a:r>
              <a:rPr sz="1600" b="1" spc="-10" dirty="0">
                <a:solidFill>
                  <a:srgbClr val="FFFFFF"/>
                </a:solidFill>
                <a:latin typeface="メイリオ"/>
                <a:cs typeface="メイリオ"/>
              </a:rPr>
              <a:t> 個</a:t>
            </a:r>
            <a:endParaRPr sz="16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5" dirty="0">
                <a:solidFill>
                  <a:srgbClr val="FFFFFF"/>
                </a:solidFill>
                <a:latin typeface="メイリオ"/>
                <a:cs typeface="メイリオ"/>
              </a:rPr>
              <a:t>ミカンが </a:t>
            </a: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r>
              <a:rPr sz="1600" b="1" spc="-15" dirty="0">
                <a:solidFill>
                  <a:srgbClr val="FFFFFF"/>
                </a:solidFill>
                <a:latin typeface="メイリオ"/>
                <a:cs typeface="メイリオ"/>
              </a:rPr>
              <a:t> 個なら </a:t>
            </a: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5+4=9</a:t>
            </a:r>
            <a:r>
              <a:rPr sz="1600" b="1" spc="-10" dirty="0">
                <a:solidFill>
                  <a:srgbClr val="FFFFFF"/>
                </a:solidFill>
                <a:latin typeface="メイリオ"/>
                <a:cs typeface="メイリオ"/>
              </a:rPr>
              <a:t> 個</a:t>
            </a:r>
            <a:endParaRPr sz="1600">
              <a:latin typeface="メイリオ"/>
              <a:cs typeface="メイリオ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97040" y="4489703"/>
            <a:ext cx="4665345" cy="1675130"/>
            <a:chOff x="6797040" y="4489703"/>
            <a:chExt cx="4665345" cy="1675130"/>
          </a:xfrm>
        </p:grpSpPr>
        <p:sp>
          <p:nvSpPr>
            <p:cNvPr id="16" name="object 16"/>
            <p:cNvSpPr/>
            <p:nvPr/>
          </p:nvSpPr>
          <p:spPr>
            <a:xfrm>
              <a:off x="6797040" y="4952999"/>
              <a:ext cx="756285" cy="1211580"/>
            </a:xfrm>
            <a:custGeom>
              <a:avLst/>
              <a:gdLst/>
              <a:ahLst/>
              <a:cxnLst/>
              <a:rect l="l" t="t" r="r" b="b"/>
              <a:pathLst>
                <a:path w="756284" h="1211579">
                  <a:moveTo>
                    <a:pt x="755904" y="798576"/>
                  </a:moveTo>
                  <a:lnTo>
                    <a:pt x="753808" y="798576"/>
                  </a:lnTo>
                  <a:lnTo>
                    <a:pt x="748563" y="759460"/>
                  </a:lnTo>
                  <a:lnTo>
                    <a:pt x="736739" y="714540"/>
                  </a:lnTo>
                  <a:lnTo>
                    <a:pt x="719759" y="672109"/>
                  </a:lnTo>
                  <a:lnTo>
                    <a:pt x="698030" y="632485"/>
                  </a:lnTo>
                  <a:lnTo>
                    <a:pt x="671918" y="596011"/>
                  </a:lnTo>
                  <a:lnTo>
                    <a:pt x="641807" y="563003"/>
                  </a:lnTo>
                  <a:lnTo>
                    <a:pt x="608076" y="533806"/>
                  </a:lnTo>
                  <a:lnTo>
                    <a:pt x="571106" y="508723"/>
                  </a:lnTo>
                  <a:lnTo>
                    <a:pt x="565315" y="505739"/>
                  </a:lnTo>
                  <a:lnTo>
                    <a:pt x="581634" y="491731"/>
                  </a:lnTo>
                  <a:lnTo>
                    <a:pt x="610425" y="458177"/>
                  </a:lnTo>
                  <a:lnTo>
                    <a:pt x="633844" y="420433"/>
                  </a:lnTo>
                  <a:lnTo>
                    <a:pt x="651306" y="379107"/>
                  </a:lnTo>
                  <a:lnTo>
                    <a:pt x="662216" y="334772"/>
                  </a:lnTo>
                  <a:lnTo>
                    <a:pt x="665988" y="288036"/>
                  </a:lnTo>
                  <a:lnTo>
                    <a:pt x="662216" y="241312"/>
                  </a:lnTo>
                  <a:lnTo>
                    <a:pt x="651306" y="196977"/>
                  </a:lnTo>
                  <a:lnTo>
                    <a:pt x="633844" y="155651"/>
                  </a:lnTo>
                  <a:lnTo>
                    <a:pt x="610425" y="117906"/>
                  </a:lnTo>
                  <a:lnTo>
                    <a:pt x="581634" y="84353"/>
                  </a:lnTo>
                  <a:lnTo>
                    <a:pt x="548081" y="55562"/>
                  </a:lnTo>
                  <a:lnTo>
                    <a:pt x="510336" y="32143"/>
                  </a:lnTo>
                  <a:lnTo>
                    <a:pt x="469011" y="14681"/>
                  </a:lnTo>
                  <a:lnTo>
                    <a:pt x="424675" y="3771"/>
                  </a:lnTo>
                  <a:lnTo>
                    <a:pt x="377952" y="0"/>
                  </a:lnTo>
                  <a:lnTo>
                    <a:pt x="331216" y="3771"/>
                  </a:lnTo>
                  <a:lnTo>
                    <a:pt x="286880" y="14681"/>
                  </a:lnTo>
                  <a:lnTo>
                    <a:pt x="245554" y="32143"/>
                  </a:lnTo>
                  <a:lnTo>
                    <a:pt x="207810" y="55562"/>
                  </a:lnTo>
                  <a:lnTo>
                    <a:pt x="174256" y="84353"/>
                  </a:lnTo>
                  <a:lnTo>
                    <a:pt x="145465" y="117906"/>
                  </a:lnTo>
                  <a:lnTo>
                    <a:pt x="122047" y="155651"/>
                  </a:lnTo>
                  <a:lnTo>
                    <a:pt x="104584" y="196977"/>
                  </a:lnTo>
                  <a:lnTo>
                    <a:pt x="93675" y="241312"/>
                  </a:lnTo>
                  <a:lnTo>
                    <a:pt x="89916" y="288036"/>
                  </a:lnTo>
                  <a:lnTo>
                    <a:pt x="93675" y="334772"/>
                  </a:lnTo>
                  <a:lnTo>
                    <a:pt x="104584" y="379107"/>
                  </a:lnTo>
                  <a:lnTo>
                    <a:pt x="122047" y="420433"/>
                  </a:lnTo>
                  <a:lnTo>
                    <a:pt x="145465" y="458177"/>
                  </a:lnTo>
                  <a:lnTo>
                    <a:pt x="174256" y="491731"/>
                  </a:lnTo>
                  <a:lnTo>
                    <a:pt x="190754" y="505904"/>
                  </a:lnTo>
                  <a:lnTo>
                    <a:pt x="176809" y="513549"/>
                  </a:lnTo>
                  <a:lnTo>
                    <a:pt x="140335" y="539661"/>
                  </a:lnTo>
                  <a:lnTo>
                    <a:pt x="107327" y="569772"/>
                  </a:lnTo>
                  <a:lnTo>
                    <a:pt x="78117" y="603504"/>
                  </a:lnTo>
                  <a:lnTo>
                    <a:pt x="53035" y="640473"/>
                  </a:lnTo>
                  <a:lnTo>
                    <a:pt x="32410" y="680313"/>
                  </a:lnTo>
                  <a:lnTo>
                    <a:pt x="16573" y="722642"/>
                  </a:lnTo>
                  <a:lnTo>
                    <a:pt x="5842" y="767067"/>
                  </a:lnTo>
                  <a:lnTo>
                    <a:pt x="2222" y="798576"/>
                  </a:lnTo>
                  <a:lnTo>
                    <a:pt x="0" y="798576"/>
                  </a:lnTo>
                  <a:lnTo>
                    <a:pt x="0" y="1211580"/>
                  </a:lnTo>
                  <a:lnTo>
                    <a:pt x="755904" y="1211580"/>
                  </a:lnTo>
                  <a:lnTo>
                    <a:pt x="755904" y="798576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52944" y="4489703"/>
              <a:ext cx="3909060" cy="1118870"/>
            </a:xfrm>
            <a:custGeom>
              <a:avLst/>
              <a:gdLst/>
              <a:ahLst/>
              <a:cxnLst/>
              <a:rect l="l" t="t" r="r" b="b"/>
              <a:pathLst>
                <a:path w="3909059" h="1118870">
                  <a:moveTo>
                    <a:pt x="3909060" y="242316"/>
                  </a:moveTo>
                  <a:lnTo>
                    <a:pt x="3904132" y="193484"/>
                  </a:lnTo>
                  <a:lnTo>
                    <a:pt x="3890010" y="147993"/>
                  </a:lnTo>
                  <a:lnTo>
                    <a:pt x="3867683" y="106832"/>
                  </a:lnTo>
                  <a:lnTo>
                    <a:pt x="3838092" y="70967"/>
                  </a:lnTo>
                  <a:lnTo>
                    <a:pt x="3802227" y="41376"/>
                  </a:lnTo>
                  <a:lnTo>
                    <a:pt x="3761067" y="19050"/>
                  </a:lnTo>
                  <a:lnTo>
                    <a:pt x="3715575" y="4927"/>
                  </a:lnTo>
                  <a:lnTo>
                    <a:pt x="3666744" y="0"/>
                  </a:lnTo>
                  <a:lnTo>
                    <a:pt x="528828" y="0"/>
                  </a:lnTo>
                  <a:lnTo>
                    <a:pt x="479983" y="4927"/>
                  </a:lnTo>
                  <a:lnTo>
                    <a:pt x="434492" y="19050"/>
                  </a:lnTo>
                  <a:lnTo>
                    <a:pt x="393331" y="41376"/>
                  </a:lnTo>
                  <a:lnTo>
                    <a:pt x="357466" y="70967"/>
                  </a:lnTo>
                  <a:lnTo>
                    <a:pt x="327875" y="106832"/>
                  </a:lnTo>
                  <a:lnTo>
                    <a:pt x="305549" y="147993"/>
                  </a:lnTo>
                  <a:lnTo>
                    <a:pt x="291426" y="193484"/>
                  </a:lnTo>
                  <a:lnTo>
                    <a:pt x="286512" y="242316"/>
                  </a:lnTo>
                  <a:lnTo>
                    <a:pt x="286512" y="559308"/>
                  </a:lnTo>
                  <a:lnTo>
                    <a:pt x="0" y="714006"/>
                  </a:lnTo>
                  <a:lnTo>
                    <a:pt x="286512" y="868680"/>
                  </a:lnTo>
                  <a:lnTo>
                    <a:pt x="286512" y="876300"/>
                  </a:lnTo>
                  <a:lnTo>
                    <a:pt x="291426" y="925144"/>
                  </a:lnTo>
                  <a:lnTo>
                    <a:pt x="305549" y="970635"/>
                  </a:lnTo>
                  <a:lnTo>
                    <a:pt x="327875" y="1011796"/>
                  </a:lnTo>
                  <a:lnTo>
                    <a:pt x="357466" y="1047661"/>
                  </a:lnTo>
                  <a:lnTo>
                    <a:pt x="393331" y="1077252"/>
                  </a:lnTo>
                  <a:lnTo>
                    <a:pt x="434492" y="1099578"/>
                  </a:lnTo>
                  <a:lnTo>
                    <a:pt x="479983" y="1113701"/>
                  </a:lnTo>
                  <a:lnTo>
                    <a:pt x="528828" y="1118616"/>
                  </a:lnTo>
                  <a:lnTo>
                    <a:pt x="3666744" y="1118616"/>
                  </a:lnTo>
                  <a:lnTo>
                    <a:pt x="3715575" y="1113701"/>
                  </a:lnTo>
                  <a:lnTo>
                    <a:pt x="3761067" y="1099578"/>
                  </a:lnTo>
                  <a:lnTo>
                    <a:pt x="3802227" y="1077252"/>
                  </a:lnTo>
                  <a:lnTo>
                    <a:pt x="3838092" y="1047661"/>
                  </a:lnTo>
                  <a:lnTo>
                    <a:pt x="3867683" y="1011796"/>
                  </a:lnTo>
                  <a:lnTo>
                    <a:pt x="3890010" y="970635"/>
                  </a:lnTo>
                  <a:lnTo>
                    <a:pt x="3904132" y="925144"/>
                  </a:lnTo>
                  <a:lnTo>
                    <a:pt x="3909060" y="876300"/>
                  </a:lnTo>
                  <a:lnTo>
                    <a:pt x="3909060" y="242316"/>
                  </a:lnTo>
                  <a:close/>
                </a:path>
              </a:pathLst>
            </a:custGeom>
            <a:solidFill>
              <a:srgbClr val="F43864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067547" y="4599584"/>
            <a:ext cx="2863850" cy="75755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30" dirty="0">
                <a:solidFill>
                  <a:srgbClr val="FFFFFF"/>
                </a:solidFill>
                <a:latin typeface="メイリオ"/>
                <a:cs typeface="メイリオ"/>
              </a:rPr>
              <a:t>ただ、ミカンの個数を</a:t>
            </a:r>
            <a:endParaRPr sz="16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b="1" spc="-30" dirty="0">
                <a:solidFill>
                  <a:srgbClr val="FFFFFF"/>
                </a:solidFill>
                <a:latin typeface="メイリオ"/>
                <a:cs typeface="メイリオ"/>
              </a:rPr>
              <a:t>知らなければ関係を表せない…</a:t>
            </a:r>
            <a:endParaRPr sz="16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4747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10" dirty="0"/>
              <a:t>文字式の前に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16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525" y="1935226"/>
            <a:ext cx="520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メイリオ"/>
                <a:cs typeface="メイリオ"/>
              </a:rPr>
              <a:t>たとえば、以下のような問題を考える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573" y="2562605"/>
            <a:ext cx="10680700" cy="13081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347345" marR="2106930">
              <a:lnSpc>
                <a:spcPct val="130000"/>
              </a:lnSpc>
              <a:spcBef>
                <a:spcPts val="690"/>
              </a:spcBef>
            </a:pPr>
            <a:r>
              <a:rPr sz="2400" dirty="0">
                <a:latin typeface="メイリオ"/>
                <a:cs typeface="メイリオ"/>
              </a:rPr>
              <a:t>太郎君は、5</a:t>
            </a:r>
            <a:r>
              <a:rPr sz="2400" spc="-10" dirty="0">
                <a:latin typeface="メイリオ"/>
                <a:cs typeface="メイリオ"/>
              </a:rPr>
              <a:t> 個のリンゴといくつかのミカンを持っている。</a:t>
            </a:r>
            <a:r>
              <a:rPr sz="2400" spc="-50" dirty="0">
                <a:latin typeface="メイリオ"/>
                <a:cs typeface="メイリオ"/>
              </a:rPr>
              <a:t> </a:t>
            </a:r>
            <a:r>
              <a:rPr sz="2400" spc="-10" dirty="0">
                <a:solidFill>
                  <a:srgbClr val="21379E"/>
                </a:solidFill>
                <a:latin typeface="メイリオ"/>
                <a:cs typeface="メイリオ"/>
              </a:rPr>
              <a:t>“ミカンの個数” </a:t>
            </a:r>
            <a:r>
              <a:rPr sz="2400" spc="15" dirty="0">
                <a:latin typeface="メイリオ"/>
                <a:cs typeface="メイリオ"/>
              </a:rPr>
              <a:t>と </a:t>
            </a:r>
            <a:r>
              <a:rPr sz="2400" spc="-10" dirty="0">
                <a:solidFill>
                  <a:srgbClr val="F43864"/>
                </a:solidFill>
                <a:latin typeface="メイリオ"/>
                <a:cs typeface="メイリオ"/>
              </a:rPr>
              <a:t>“リンゴとミカンの合計個数” </a:t>
            </a:r>
            <a:r>
              <a:rPr sz="2400" spc="-20" dirty="0">
                <a:latin typeface="メイリオ"/>
                <a:cs typeface="メイリオ"/>
              </a:rPr>
              <a:t>の関係は？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1812" y="4258055"/>
            <a:ext cx="693420" cy="516890"/>
          </a:xfrm>
          <a:custGeom>
            <a:avLst/>
            <a:gdLst/>
            <a:ahLst/>
            <a:cxnLst/>
            <a:rect l="l" t="t" r="r" b="b"/>
            <a:pathLst>
              <a:path w="693419" h="516889">
                <a:moveTo>
                  <a:pt x="435101" y="0"/>
                </a:moveTo>
                <a:lnTo>
                  <a:pt x="435101" y="129159"/>
                </a:lnTo>
                <a:lnTo>
                  <a:pt x="0" y="129159"/>
                </a:lnTo>
                <a:lnTo>
                  <a:pt x="0" y="387477"/>
                </a:lnTo>
                <a:lnTo>
                  <a:pt x="435101" y="387477"/>
                </a:lnTo>
                <a:lnTo>
                  <a:pt x="435101" y="516636"/>
                </a:lnTo>
                <a:lnTo>
                  <a:pt x="693419" y="258318"/>
                </a:lnTo>
                <a:lnTo>
                  <a:pt x="435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06879" y="4160982"/>
            <a:ext cx="411543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45"/>
              </a:spcBef>
            </a:pPr>
            <a:r>
              <a:rPr sz="2400" spc="-10" dirty="0">
                <a:latin typeface="メイリオ"/>
                <a:cs typeface="メイリオ"/>
              </a:rPr>
              <a:t>ミカンの個数を </a:t>
            </a:r>
            <a:r>
              <a:rPr sz="2400" dirty="0">
                <a:solidFill>
                  <a:srgbClr val="21379E"/>
                </a:solidFill>
                <a:latin typeface="Cambria Math"/>
                <a:cs typeface="Cambria Math"/>
              </a:rPr>
              <a:t>𝒙</a:t>
            </a:r>
            <a:r>
              <a:rPr sz="2400" spc="285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400" b="1" spc="-10" dirty="0">
                <a:solidFill>
                  <a:srgbClr val="21379E"/>
                </a:solidFill>
                <a:latin typeface="メイリオ"/>
                <a:cs typeface="メイリオ"/>
              </a:rPr>
              <a:t>個</a:t>
            </a:r>
            <a:r>
              <a:rPr sz="2400" spc="-20" dirty="0">
                <a:latin typeface="メイリオ"/>
                <a:cs typeface="メイリオ"/>
              </a:rPr>
              <a:t>とおけば</a:t>
            </a:r>
            <a:endParaRPr sz="2400">
              <a:latin typeface="メイリオ"/>
              <a:cs typeface="メイリオ"/>
            </a:endParaRPr>
          </a:p>
          <a:p>
            <a:pPr marL="38100">
              <a:lnSpc>
                <a:spcPct val="100000"/>
              </a:lnSpc>
              <a:spcBef>
                <a:spcPts val="1445"/>
              </a:spcBef>
            </a:pPr>
            <a:r>
              <a:rPr sz="2400" spc="-5" dirty="0">
                <a:latin typeface="メイリオ"/>
                <a:cs typeface="メイリオ"/>
              </a:rPr>
              <a:t>合計個数は </a:t>
            </a:r>
            <a:r>
              <a:rPr sz="2400" dirty="0">
                <a:solidFill>
                  <a:srgbClr val="F43864"/>
                </a:solidFill>
                <a:latin typeface="Cambria Math"/>
                <a:cs typeface="Cambria Math"/>
              </a:rPr>
              <a:t>𝒙</a:t>
            </a:r>
            <a:r>
              <a:rPr sz="2400" spc="-5" dirty="0">
                <a:solidFill>
                  <a:srgbClr val="F43864"/>
                </a:solidFill>
                <a:latin typeface="Cambria Math"/>
                <a:cs typeface="Cambria Math"/>
              </a:rPr>
              <a:t> + </a:t>
            </a:r>
            <a:r>
              <a:rPr sz="2400" dirty="0">
                <a:solidFill>
                  <a:srgbClr val="F43864"/>
                </a:solidFill>
                <a:latin typeface="Cambria Math"/>
                <a:cs typeface="Cambria Math"/>
              </a:rPr>
              <a:t>𝟓</a:t>
            </a:r>
            <a:r>
              <a:rPr sz="2400" spc="250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F43864"/>
                </a:solidFill>
                <a:latin typeface="メイリオ"/>
                <a:cs typeface="メイリオ"/>
              </a:rPr>
              <a:t>個</a:t>
            </a:r>
            <a:r>
              <a:rPr sz="2400" b="1" spc="-75" baseline="24305" dirty="0">
                <a:solidFill>
                  <a:srgbClr val="F43864"/>
                </a:solidFill>
                <a:latin typeface="メイリオ"/>
                <a:cs typeface="メイリオ"/>
              </a:rPr>
              <a:t>※</a:t>
            </a:r>
            <a:endParaRPr sz="2400" baseline="24305">
              <a:latin typeface="メイリオ"/>
              <a:cs typeface="メイリオ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31514" y="6521957"/>
            <a:ext cx="8460740" cy="0"/>
          </a:xfrm>
          <a:custGeom>
            <a:avLst/>
            <a:gdLst/>
            <a:ahLst/>
            <a:cxnLst/>
            <a:rect l="l" t="t" r="r" b="b"/>
            <a:pathLst>
              <a:path w="8460740">
                <a:moveTo>
                  <a:pt x="0" y="0"/>
                </a:moveTo>
                <a:lnTo>
                  <a:pt x="8460486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01185" y="6564883"/>
            <a:ext cx="8213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※もちろん、ミカンの個数を〇で表して「〇+</a:t>
            </a:r>
            <a:r>
              <a:rPr sz="1200" b="1" spc="-20" dirty="0">
                <a:solidFill>
                  <a:srgbClr val="A6A6A6"/>
                </a:solidFill>
                <a:latin typeface="メイリオ"/>
                <a:cs typeface="メイリオ"/>
              </a:rPr>
              <a:t>5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個」にしても良いが、中学以降では </a:t>
            </a:r>
            <a:r>
              <a:rPr sz="1200" spc="-1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-40" dirty="0">
                <a:solidFill>
                  <a:srgbClr val="A6A6A6"/>
                </a:solidFill>
                <a:latin typeface="Cambria Math"/>
                <a:cs typeface="Cambria Math"/>
              </a:rPr>
              <a:t>,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𝒚</a:t>
            </a:r>
            <a:r>
              <a:rPr sz="1200" spc="14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のような文字を使うのが一般的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3073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文字式とは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17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68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0"/>
              </a:spcBef>
            </a:pPr>
            <a:r>
              <a:rPr sz="4000" b="0" dirty="0">
                <a:latin typeface="Cambria Math"/>
                <a:cs typeface="Cambria Math"/>
              </a:rPr>
              <a:t>𝒙</a:t>
            </a:r>
            <a:r>
              <a:rPr sz="4000" b="0" spc="-10" dirty="0">
                <a:latin typeface="Cambria Math"/>
                <a:cs typeface="Cambria Math"/>
              </a:rPr>
              <a:t> + </a:t>
            </a:r>
            <a:r>
              <a:rPr sz="4000" b="0" dirty="0">
                <a:latin typeface="Cambria Math"/>
                <a:cs typeface="Cambria Math"/>
              </a:rPr>
              <a:t>𝟓</a:t>
            </a:r>
            <a:r>
              <a:rPr sz="4000" b="0" spc="415" dirty="0">
                <a:latin typeface="Cambria Math"/>
                <a:cs typeface="Cambria Math"/>
              </a:rPr>
              <a:t> </a:t>
            </a:r>
            <a:r>
              <a:rPr sz="4000" spc="-50" dirty="0"/>
              <a:t>のように、文字を使った式を</a:t>
            </a:r>
            <a:endParaRPr sz="40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2295"/>
              </a:spcBef>
            </a:pPr>
            <a:r>
              <a:rPr sz="4000" spc="-45" dirty="0"/>
              <a:t>「文字式」という</a:t>
            </a:r>
            <a:endParaRPr sz="4000"/>
          </a:p>
          <a:p>
            <a:pPr algn="ctr">
              <a:lnSpc>
                <a:spcPct val="100000"/>
              </a:lnSpc>
              <a:spcBef>
                <a:spcPts val="6950"/>
              </a:spcBef>
            </a:pPr>
            <a:r>
              <a:rPr sz="3200" spc="-15" dirty="0"/>
              <a:t>他の文字式の例： </a:t>
            </a:r>
            <a:r>
              <a:rPr sz="3200" b="0" dirty="0">
                <a:latin typeface="Cambria Math"/>
                <a:cs typeface="Cambria Math"/>
              </a:rPr>
              <a:t>𝟏𝟎𝟎</a:t>
            </a:r>
            <a:r>
              <a:rPr sz="3200" b="0" spc="-5" dirty="0">
                <a:latin typeface="Cambria Math"/>
                <a:cs typeface="Cambria Math"/>
              </a:rPr>
              <a:t> + </a:t>
            </a:r>
            <a:r>
              <a:rPr sz="3200" b="0" dirty="0">
                <a:latin typeface="Cambria Math"/>
                <a:cs typeface="Cambria Math"/>
              </a:rPr>
              <a:t>𝒚</a:t>
            </a:r>
            <a:r>
              <a:rPr sz="3200" spc="-10" dirty="0"/>
              <a:t>、</a:t>
            </a:r>
            <a:r>
              <a:rPr sz="3200" b="0" dirty="0">
                <a:latin typeface="Cambria Math"/>
                <a:cs typeface="Cambria Math"/>
              </a:rPr>
              <a:t>𝒂 + </a:t>
            </a:r>
            <a:r>
              <a:rPr sz="3200" b="0" spc="-10" dirty="0">
                <a:latin typeface="Cambria Math"/>
                <a:cs typeface="Cambria Math"/>
              </a:rPr>
              <a:t>𝒃</a:t>
            </a:r>
            <a:r>
              <a:rPr sz="3200" spc="-10" dirty="0"/>
              <a:t>、</a:t>
            </a:r>
            <a:r>
              <a:rPr sz="3200" b="0" dirty="0">
                <a:latin typeface="Cambria Math"/>
                <a:cs typeface="Cambria Math"/>
              </a:rPr>
              <a:t>𝟐𝒂</a:t>
            </a:r>
            <a:r>
              <a:rPr sz="3200" b="0" spc="-5" dirty="0">
                <a:latin typeface="Cambria Math"/>
                <a:cs typeface="Cambria Math"/>
              </a:rPr>
              <a:t> + </a:t>
            </a:r>
            <a:r>
              <a:rPr sz="3200" b="0" dirty="0">
                <a:latin typeface="Cambria Math"/>
                <a:cs typeface="Cambria Math"/>
              </a:rPr>
              <a:t>𝟑𝒃</a:t>
            </a:r>
            <a:r>
              <a:rPr sz="3200" b="0" spc="345" dirty="0">
                <a:latin typeface="Cambria Math"/>
                <a:cs typeface="Cambria Math"/>
              </a:rPr>
              <a:t> </a:t>
            </a:r>
            <a:r>
              <a:rPr sz="3200" spc="-30" dirty="0"/>
              <a:t>など</a:t>
            </a:r>
            <a:endParaRPr sz="3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53568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10" dirty="0"/>
              <a:t>文字式のルール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18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525" y="1935226"/>
            <a:ext cx="673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メイリオ"/>
                <a:cs typeface="メイリオ"/>
              </a:rPr>
              <a:t>文字式を書くときは、以下のようなルールがある</a:t>
            </a:r>
            <a:endParaRPr sz="2400">
              <a:latin typeface="メイリオ"/>
              <a:cs typeface="メイリオ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1568" y="2737421"/>
          <a:ext cx="10311130" cy="2698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84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1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具体例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掛け算記号「×」は省略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「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800" spc="1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b="1" spc="-5" dirty="0">
                          <a:latin typeface="メイリオ"/>
                          <a:cs typeface="メイリオ"/>
                        </a:rPr>
                        <a:t>かける </a:t>
                      </a:r>
                      <a:r>
                        <a:rPr sz="1800" spc="-10" dirty="0">
                          <a:latin typeface="Cambria Math"/>
                          <a:cs typeface="Cambria Math"/>
                        </a:rPr>
                        <a:t>𝒃</a:t>
                      </a:r>
                      <a:r>
                        <a:rPr sz="1800" b="1" spc="-5" dirty="0">
                          <a:latin typeface="メイリオ"/>
                          <a:cs typeface="メイリオ"/>
                        </a:rPr>
                        <a:t>」を表すときは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𝒂𝒃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（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800" spc="-10" dirty="0">
                          <a:latin typeface="Cambria Math"/>
                          <a:cs typeface="Cambria Math"/>
                        </a:rPr>
                        <a:t> ×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𝒃</a:t>
                      </a:r>
                      <a:r>
                        <a:rPr sz="1800" spc="2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ではない</a:t>
                      </a:r>
                      <a:r>
                        <a:rPr sz="1800" b="1" spc="-50" dirty="0">
                          <a:latin typeface="メイリオ"/>
                          <a:cs typeface="メイリオ"/>
                        </a:rPr>
                        <a:t>）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数と文字の掛け算は、数を先に書く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「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800" spc="1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b="1" spc="-5" dirty="0">
                          <a:latin typeface="メイリオ"/>
                          <a:cs typeface="メイリオ"/>
                        </a:rPr>
                        <a:t>かける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5" dirty="0">
                          <a:latin typeface="メイリオ"/>
                          <a:cs typeface="メイリオ"/>
                        </a:rPr>
                        <a:t>」を表すときは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𝟐𝒂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（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𝒂𝟐</a:t>
                      </a:r>
                      <a:r>
                        <a:rPr sz="1800" spc="1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ではない</a:t>
                      </a:r>
                      <a:r>
                        <a:rPr sz="1800" b="1" spc="-50" dirty="0">
                          <a:latin typeface="メイリオ"/>
                          <a:cs typeface="メイリオ"/>
                        </a:rPr>
                        <a:t>）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1047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“1×文字” の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は省略する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「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800" spc="2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かける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」を表すときは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（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𝟏𝒂</a:t>
                      </a:r>
                      <a:r>
                        <a:rPr sz="1800" spc="1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ではない</a:t>
                      </a:r>
                      <a:r>
                        <a:rPr sz="1800" b="1" spc="-50" dirty="0">
                          <a:latin typeface="メイリオ"/>
                          <a:cs typeface="メイリオ"/>
                        </a:rPr>
                        <a:t>）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1047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“-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×文字” の場合、マイナスだけ残す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「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800" spc="1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b="1" spc="-5" dirty="0">
                          <a:latin typeface="メイリオ"/>
                          <a:cs typeface="メイリオ"/>
                        </a:rPr>
                        <a:t>かける </a:t>
                      </a:r>
                      <a:r>
                        <a:rPr sz="1800" spc="-10" dirty="0">
                          <a:latin typeface="Cambria Math"/>
                          <a:cs typeface="Cambria Math"/>
                        </a:rPr>
                        <a:t>−𝟏</a:t>
                      </a:r>
                      <a:r>
                        <a:rPr sz="1800" b="1" spc="-5" dirty="0">
                          <a:latin typeface="メイリオ"/>
                          <a:cs typeface="メイリオ"/>
                        </a:rPr>
                        <a:t>」を表すときは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−𝒂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（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−𝟏𝒂</a:t>
                      </a:r>
                      <a:r>
                        <a:rPr sz="1800" spc="1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b="1" dirty="0">
                          <a:latin typeface="メイリオ"/>
                          <a:cs typeface="メイリオ"/>
                        </a:rPr>
                        <a:t>ではない</a:t>
                      </a:r>
                      <a:r>
                        <a:rPr sz="1800" b="1" spc="-50" dirty="0">
                          <a:latin typeface="メイリオ"/>
                          <a:cs typeface="メイリオ"/>
                        </a:rPr>
                        <a:t>）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1047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3073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文字式の例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19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45204" y="2922502"/>
            <a:ext cx="510349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3705" marR="5080" indent="-421005">
              <a:lnSpc>
                <a:spcPct val="150000"/>
              </a:lnSpc>
              <a:spcBef>
                <a:spcPts val="105"/>
              </a:spcBef>
            </a:pPr>
            <a:r>
              <a:rPr sz="4000" b="1" spc="-45" dirty="0">
                <a:latin typeface="メイリオ"/>
                <a:cs typeface="メイリオ"/>
              </a:rPr>
              <a:t>文字式に慣れるために</a:t>
            </a:r>
            <a:r>
              <a:rPr sz="4000" b="1" spc="-25" dirty="0">
                <a:latin typeface="メイリオ"/>
                <a:cs typeface="メイリオ"/>
              </a:rPr>
              <a:t>例を </a:t>
            </a:r>
            <a:r>
              <a:rPr sz="4000" b="1" dirty="0">
                <a:latin typeface="メイリオ"/>
                <a:cs typeface="メイリオ"/>
              </a:rPr>
              <a:t>3</a:t>
            </a:r>
            <a:r>
              <a:rPr sz="4000" b="1" spc="-45" dirty="0">
                <a:latin typeface="メイリオ"/>
                <a:cs typeface="メイリオ"/>
              </a:rPr>
              <a:t> つ挙げます</a:t>
            </a:r>
            <a:endParaRPr sz="4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3073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文字式の例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20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11542" y="2334958"/>
          <a:ext cx="2880995" cy="2160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385"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例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779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>
                      <a:solidFill>
                        <a:srgbClr val="404040"/>
                      </a:solidFill>
                      <a:prstDash val="solid"/>
                    </a:lnT>
                    <a:lnB w="28575">
                      <a:solidFill>
                        <a:srgbClr val="40404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>
                      <a:solidFill>
                        <a:srgbClr val="404040"/>
                      </a:solidFill>
                      <a:prstDash val="solid"/>
                    </a:lnT>
                    <a:solidFill>
                      <a:srgbClr val="AC1381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8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09550">
                        <a:lnSpc>
                          <a:spcPct val="100000"/>
                        </a:lnSpc>
                      </a:pPr>
                      <a:r>
                        <a:rPr sz="1600" b="1" spc="-15" dirty="0">
                          <a:latin typeface="メイリオ"/>
                          <a:cs typeface="メイリオ"/>
                        </a:rPr>
                        <a:t>ボールが </a:t>
                      </a:r>
                      <a:r>
                        <a:rPr sz="1600" b="1" dirty="0">
                          <a:latin typeface="メイリオ"/>
                          <a:cs typeface="メイリオ"/>
                        </a:rPr>
                        <a:t>3</a:t>
                      </a:r>
                      <a:r>
                        <a:rPr sz="1600" b="1" spc="-20" dirty="0">
                          <a:latin typeface="メイリオ"/>
                          <a:cs typeface="メイリオ"/>
                        </a:rPr>
                        <a:t> 個あり</a:t>
                      </a:r>
                      <a:endParaRPr sz="1600">
                        <a:latin typeface="メイリオ"/>
                        <a:cs typeface="メイリオ"/>
                      </a:endParaRPr>
                    </a:p>
                    <a:p>
                      <a:pPr marL="209550" marR="257810">
                        <a:lnSpc>
                          <a:spcPct val="147500"/>
                        </a:lnSpc>
                        <a:spcBef>
                          <a:spcPts val="95"/>
                        </a:spcBef>
                      </a:pPr>
                      <a:r>
                        <a:rPr sz="1600" b="1" spc="-20" dirty="0">
                          <a:latin typeface="メイリオ"/>
                          <a:cs typeface="メイリオ"/>
                        </a:rPr>
                        <a:t>それぞれ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𝑨</a:t>
                      </a:r>
                      <a:r>
                        <a:rPr sz="1725" baseline="-14492" dirty="0"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600" spc="-40" dirty="0">
                          <a:latin typeface="Cambria Math"/>
                          <a:cs typeface="Cambria Math"/>
                        </a:rPr>
                        <a:t>,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𝑨</a:t>
                      </a:r>
                      <a:r>
                        <a:rPr sz="1725" baseline="-14492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600" spc="-30" dirty="0">
                          <a:latin typeface="Cambria Math"/>
                          <a:cs typeface="Cambria Math"/>
                        </a:rPr>
                        <a:t>,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𝑨</a:t>
                      </a:r>
                      <a:r>
                        <a:rPr sz="1725" baseline="-14492" dirty="0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725" spc="607" baseline="-14492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b="1" spc="-35" dirty="0">
                          <a:latin typeface="メイリオ"/>
                          <a:cs typeface="メイリオ"/>
                        </a:rPr>
                        <a:t>グラム</a:t>
                      </a:r>
                      <a:r>
                        <a:rPr sz="1600" b="1" spc="-30" dirty="0">
                          <a:latin typeface="メイリオ"/>
                          <a:cs typeface="メイリオ"/>
                        </a:rPr>
                        <a:t>重さの合計は？</a:t>
                      </a:r>
                      <a:endParaRPr sz="1600">
                        <a:latin typeface="メイリオ"/>
                        <a:cs typeface="メイリオ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404040"/>
                      </a:solidFill>
                      <a:prstDash val="solid"/>
                    </a:lnB>
                    <a:solidFill>
                      <a:srgbClr val="AC1381">
                        <a:alpha val="199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911542" y="4976050"/>
            <a:ext cx="2908935" cy="568325"/>
            <a:chOff x="911542" y="4976050"/>
            <a:chExt cx="2908935" cy="568325"/>
          </a:xfrm>
        </p:grpSpPr>
        <p:sp>
          <p:nvSpPr>
            <p:cNvPr id="12" name="object 12"/>
            <p:cNvSpPr/>
            <p:nvPr/>
          </p:nvSpPr>
          <p:spPr>
            <a:xfrm>
              <a:off x="925830" y="4990338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60" h="539750">
                  <a:moveTo>
                    <a:pt x="2880360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2880360" y="539496"/>
                  </a:lnTo>
                  <a:lnTo>
                    <a:pt x="288036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5830" y="4990338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60" h="539750">
                  <a:moveTo>
                    <a:pt x="0" y="539496"/>
                  </a:moveTo>
                  <a:lnTo>
                    <a:pt x="2880360" y="539496"/>
                  </a:lnTo>
                  <a:lnTo>
                    <a:pt x="2880360" y="0"/>
                  </a:lnTo>
                  <a:lnTo>
                    <a:pt x="0" y="0"/>
                  </a:lnTo>
                  <a:lnTo>
                    <a:pt x="0" y="539496"/>
                  </a:lnTo>
                  <a:close/>
                </a:path>
              </a:pathLst>
            </a:custGeom>
            <a:ln w="2857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4717" y="5082032"/>
            <a:ext cx="290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𝑨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1950" spc="26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+ 𝑨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1950" spc="262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mbria Math"/>
                <a:cs typeface="Cambria Math"/>
              </a:rPr>
              <a:t>+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𝑨</a:t>
            </a:r>
            <a:r>
              <a:rPr sz="1950" baseline="-14957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1950" spc="569" baseline="-1495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メイリオ"/>
                <a:cs typeface="メイリオ"/>
              </a:rPr>
              <a:t>グラム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17420" y="4639055"/>
            <a:ext cx="295910" cy="220979"/>
          </a:xfrm>
          <a:custGeom>
            <a:avLst/>
            <a:gdLst/>
            <a:ahLst/>
            <a:cxnLst/>
            <a:rect l="l" t="t" r="r" b="b"/>
            <a:pathLst>
              <a:path w="295910" h="220979">
                <a:moveTo>
                  <a:pt x="295656" y="0"/>
                </a:moveTo>
                <a:lnTo>
                  <a:pt x="0" y="0"/>
                </a:lnTo>
                <a:lnTo>
                  <a:pt x="147828" y="220980"/>
                </a:lnTo>
                <a:lnTo>
                  <a:pt x="29565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642294" y="2334958"/>
          <a:ext cx="2880995" cy="2160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385"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例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2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779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>
                      <a:solidFill>
                        <a:srgbClr val="404040"/>
                      </a:solidFill>
                      <a:prstDash val="solid"/>
                    </a:lnT>
                    <a:lnB w="28575">
                      <a:solidFill>
                        <a:srgbClr val="40404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>
                      <a:solidFill>
                        <a:srgbClr val="404040"/>
                      </a:solidFill>
                      <a:prstDash val="solid"/>
                    </a:lnT>
                    <a:solidFill>
                      <a:srgbClr val="AC1381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8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dirty="0">
                          <a:latin typeface="メイリオ"/>
                          <a:cs typeface="メイリオ"/>
                        </a:rPr>
                        <a:t>500</a:t>
                      </a:r>
                      <a:r>
                        <a:rPr sz="1600" b="1" spc="-15" dirty="0">
                          <a:latin typeface="メイリオ"/>
                          <a:cs typeface="メイリオ"/>
                        </a:rPr>
                        <a:t> 円玉が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𝒙</a:t>
                      </a:r>
                      <a:r>
                        <a:rPr sz="1600" spc="1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b="1" spc="-35" dirty="0">
                          <a:latin typeface="メイリオ"/>
                          <a:cs typeface="メイリオ"/>
                        </a:rPr>
                        <a:t>枚あり</a:t>
                      </a:r>
                      <a:endParaRPr sz="1600">
                        <a:latin typeface="メイリオ"/>
                        <a:cs typeface="メイリオ"/>
                      </a:endParaRPr>
                    </a:p>
                    <a:p>
                      <a:pPr marL="283210" marR="629920">
                        <a:lnSpc>
                          <a:spcPct val="147500"/>
                        </a:lnSpc>
                        <a:spcBef>
                          <a:spcPts val="45"/>
                        </a:spcBef>
                      </a:pPr>
                      <a:r>
                        <a:rPr sz="1600" b="1" dirty="0">
                          <a:latin typeface="メイリオ"/>
                          <a:cs typeface="メイリオ"/>
                        </a:rPr>
                        <a:t>100</a:t>
                      </a:r>
                      <a:r>
                        <a:rPr sz="1600" b="1" spc="-20" dirty="0">
                          <a:latin typeface="メイリオ"/>
                          <a:cs typeface="メイリオ"/>
                        </a:rPr>
                        <a:t> 円玉が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𝒚</a:t>
                      </a:r>
                      <a:r>
                        <a:rPr sz="1600" spc="1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b="1" spc="-35" dirty="0">
                          <a:latin typeface="メイリオ"/>
                          <a:cs typeface="メイリオ"/>
                        </a:rPr>
                        <a:t>枚ある</a:t>
                      </a:r>
                      <a:r>
                        <a:rPr sz="1600" b="1" spc="-30" dirty="0">
                          <a:latin typeface="メイリオ"/>
                          <a:cs typeface="メイリオ"/>
                        </a:rPr>
                        <a:t>合計金額は？</a:t>
                      </a:r>
                      <a:endParaRPr sz="1600">
                        <a:latin typeface="メイリオ"/>
                        <a:cs typeface="メイリオ"/>
                      </a:endParaRPr>
                    </a:p>
                  </a:txBody>
                  <a:tcPr marL="0" marR="0" marT="10287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404040"/>
                      </a:solidFill>
                      <a:prstDash val="solid"/>
                    </a:lnB>
                    <a:solidFill>
                      <a:srgbClr val="AC1381">
                        <a:alpha val="199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4642294" y="4976050"/>
            <a:ext cx="2908935" cy="568325"/>
            <a:chOff x="4642294" y="4976050"/>
            <a:chExt cx="2908935" cy="568325"/>
          </a:xfrm>
        </p:grpSpPr>
        <p:sp>
          <p:nvSpPr>
            <p:cNvPr id="18" name="object 18"/>
            <p:cNvSpPr/>
            <p:nvPr/>
          </p:nvSpPr>
          <p:spPr>
            <a:xfrm>
              <a:off x="4656582" y="4990338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59" h="539750">
                  <a:moveTo>
                    <a:pt x="2880360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2880360" y="539496"/>
                  </a:lnTo>
                  <a:lnTo>
                    <a:pt x="288036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56582" y="4990338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59" h="539750">
                  <a:moveTo>
                    <a:pt x="0" y="539496"/>
                  </a:moveTo>
                  <a:lnTo>
                    <a:pt x="2880360" y="539496"/>
                  </a:lnTo>
                  <a:lnTo>
                    <a:pt x="2880360" y="0"/>
                  </a:lnTo>
                  <a:lnTo>
                    <a:pt x="0" y="0"/>
                  </a:lnTo>
                  <a:lnTo>
                    <a:pt x="0" y="539496"/>
                  </a:lnTo>
                  <a:close/>
                </a:path>
              </a:pathLst>
            </a:custGeom>
            <a:ln w="2857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70869" y="5082032"/>
            <a:ext cx="2851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24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𝟓𝟎𝟎𝒙</a:t>
            </a:r>
            <a:r>
              <a:rPr sz="1800" spc="-10" dirty="0">
                <a:solidFill>
                  <a:srgbClr val="FFFFFF"/>
                </a:solidFill>
                <a:latin typeface="Cambria Math"/>
                <a:cs typeface="Cambria Math"/>
              </a:rPr>
              <a:t> +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𝟏𝟎𝟎𝒚</a:t>
            </a:r>
            <a:r>
              <a:rPr sz="1800" spc="1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円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48171" y="4639055"/>
            <a:ext cx="295910" cy="220979"/>
          </a:xfrm>
          <a:custGeom>
            <a:avLst/>
            <a:gdLst/>
            <a:ahLst/>
            <a:cxnLst/>
            <a:rect l="l" t="t" r="r" b="b"/>
            <a:pathLst>
              <a:path w="295910" h="220979">
                <a:moveTo>
                  <a:pt x="295655" y="0"/>
                </a:moveTo>
                <a:lnTo>
                  <a:pt x="0" y="0"/>
                </a:lnTo>
                <a:lnTo>
                  <a:pt x="147827" y="220980"/>
                </a:lnTo>
                <a:lnTo>
                  <a:pt x="29565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8373046" y="2334958"/>
          <a:ext cx="2880360" cy="2160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385"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例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3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779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>
                      <a:solidFill>
                        <a:srgbClr val="404040"/>
                      </a:solidFill>
                      <a:prstDash val="solid"/>
                    </a:lnT>
                    <a:lnB w="28575">
                      <a:solidFill>
                        <a:srgbClr val="404040"/>
                      </a:solidFill>
                      <a:prstDash val="solid"/>
                    </a:lnB>
                    <a:solidFill>
                      <a:srgbClr val="AC13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>
                      <a:solidFill>
                        <a:srgbClr val="404040"/>
                      </a:solidFill>
                      <a:prstDash val="solid"/>
                    </a:lnT>
                    <a:solidFill>
                      <a:srgbClr val="AC1381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8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latin typeface="メイリオ"/>
                          <a:cs typeface="メイリオ"/>
                        </a:rPr>
                        <a:t>縦の長さが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261620" marR="772160">
                        <a:lnSpc>
                          <a:spcPct val="147500"/>
                        </a:lnSpc>
                        <a:spcBef>
                          <a:spcPts val="45"/>
                        </a:spcBef>
                      </a:pPr>
                      <a:r>
                        <a:rPr sz="1600" b="1" spc="-20" dirty="0">
                          <a:latin typeface="メイリオ"/>
                          <a:cs typeface="メイリオ"/>
                        </a:rPr>
                        <a:t>横の長さが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𝒙</a:t>
                      </a:r>
                      <a:r>
                        <a:rPr sz="1600" spc="-5" dirty="0">
                          <a:latin typeface="Cambria Math"/>
                          <a:cs typeface="Cambria Math"/>
                        </a:rPr>
                        <a:t> +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600" spc="16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b="1" spc="-50" dirty="0">
                          <a:latin typeface="メイリオ"/>
                          <a:cs typeface="メイリオ"/>
                        </a:rPr>
                        <a:t>の</a:t>
                      </a:r>
                      <a:r>
                        <a:rPr sz="1600" b="1" spc="-30" dirty="0">
                          <a:latin typeface="メイリオ"/>
                          <a:cs typeface="メイリオ"/>
                        </a:rPr>
                        <a:t>長方形の面積は？</a:t>
                      </a:r>
                      <a:endParaRPr sz="1600">
                        <a:latin typeface="メイリオ"/>
                        <a:cs typeface="メイリオ"/>
                      </a:endParaRPr>
                    </a:p>
                  </a:txBody>
                  <a:tcPr marL="0" marR="0" marT="102870" marB="0">
                    <a:lnL w="28575">
                      <a:solidFill>
                        <a:srgbClr val="404040"/>
                      </a:solidFill>
                      <a:prstDash val="solid"/>
                    </a:lnL>
                    <a:lnR w="28575">
                      <a:solidFill>
                        <a:srgbClr val="404040"/>
                      </a:solidFill>
                      <a:prstDash val="solid"/>
                    </a:lnR>
                    <a:lnT w="285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404040"/>
                      </a:solidFill>
                      <a:prstDash val="solid"/>
                    </a:lnB>
                    <a:solidFill>
                      <a:srgbClr val="AC1381">
                        <a:alpha val="199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8373046" y="4976050"/>
            <a:ext cx="2908935" cy="568325"/>
            <a:chOff x="8373046" y="4976050"/>
            <a:chExt cx="2908935" cy="568325"/>
          </a:xfrm>
        </p:grpSpPr>
        <p:sp>
          <p:nvSpPr>
            <p:cNvPr id="24" name="object 24"/>
            <p:cNvSpPr/>
            <p:nvPr/>
          </p:nvSpPr>
          <p:spPr>
            <a:xfrm>
              <a:off x="8387333" y="4990338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59" h="539750">
                  <a:moveTo>
                    <a:pt x="2880360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2880360" y="539496"/>
                  </a:lnTo>
                  <a:lnTo>
                    <a:pt x="288036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87333" y="4990338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59" h="539750">
                  <a:moveTo>
                    <a:pt x="0" y="539496"/>
                  </a:moveTo>
                  <a:lnTo>
                    <a:pt x="2880360" y="539496"/>
                  </a:lnTo>
                  <a:lnTo>
                    <a:pt x="2880360" y="0"/>
                  </a:lnTo>
                  <a:lnTo>
                    <a:pt x="0" y="0"/>
                  </a:lnTo>
                  <a:lnTo>
                    <a:pt x="0" y="539496"/>
                  </a:lnTo>
                  <a:close/>
                </a:path>
              </a:pathLst>
            </a:custGeom>
            <a:ln w="2857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401621" y="5082032"/>
            <a:ext cx="2851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771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メイリオ"/>
                <a:cs typeface="メイリオ"/>
              </a:rPr>
              <a:t>面積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𝒙(𝒙 + 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𝟏)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678923" y="4639055"/>
            <a:ext cx="295910" cy="220979"/>
          </a:xfrm>
          <a:custGeom>
            <a:avLst/>
            <a:gdLst/>
            <a:ahLst/>
            <a:cxnLst/>
            <a:rect l="l" t="t" r="r" b="b"/>
            <a:pathLst>
              <a:path w="295909" h="220979">
                <a:moveTo>
                  <a:pt x="295655" y="0"/>
                </a:moveTo>
                <a:lnTo>
                  <a:pt x="0" y="0"/>
                </a:lnTo>
                <a:lnTo>
                  <a:pt x="147827" y="220980"/>
                </a:lnTo>
                <a:lnTo>
                  <a:pt x="29565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12814" y="6521957"/>
            <a:ext cx="5679440" cy="0"/>
          </a:xfrm>
          <a:custGeom>
            <a:avLst/>
            <a:gdLst/>
            <a:ahLst/>
            <a:cxnLst/>
            <a:rect l="l" t="t" r="r" b="b"/>
            <a:pathLst>
              <a:path w="5679440">
                <a:moveTo>
                  <a:pt x="0" y="0"/>
                </a:moveTo>
                <a:lnTo>
                  <a:pt x="5679439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892797" y="6564883"/>
            <a:ext cx="5224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※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-5" dirty="0">
                <a:solidFill>
                  <a:srgbClr val="A6A6A6"/>
                </a:solidFill>
                <a:latin typeface="Cambria Math"/>
                <a:cs typeface="Cambria Math"/>
              </a:rPr>
              <a:t> × (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-10" dirty="0">
                <a:solidFill>
                  <a:srgbClr val="A6A6A6"/>
                </a:solidFill>
                <a:latin typeface="Cambria Math"/>
                <a:cs typeface="Cambria Math"/>
              </a:rPr>
              <a:t> +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𝟏</a:t>
            </a:r>
            <a:r>
              <a:rPr sz="1200" spc="60" dirty="0">
                <a:solidFill>
                  <a:srgbClr val="A6A6A6"/>
                </a:solidFill>
                <a:latin typeface="Cambria Math"/>
                <a:cs typeface="Cambria Math"/>
              </a:rPr>
              <a:t>) </a:t>
            </a:r>
            <a:r>
              <a:rPr sz="1200" b="1" spc="-10" dirty="0">
                <a:solidFill>
                  <a:srgbClr val="A6A6A6"/>
                </a:solidFill>
                <a:latin typeface="メイリオ"/>
                <a:cs typeface="メイリオ"/>
              </a:rPr>
              <a:t>のように書いても良いが、慣例的には「×」を省略して書く。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0244" y="0"/>
            <a:ext cx="11002010" cy="6858000"/>
            <a:chOff x="1190244" y="0"/>
            <a:chExt cx="11002010" cy="6858000"/>
          </a:xfrm>
        </p:grpSpPr>
        <p:sp>
          <p:nvSpPr>
            <p:cNvPr id="3" name="object 3"/>
            <p:cNvSpPr/>
            <p:nvPr/>
          </p:nvSpPr>
          <p:spPr>
            <a:xfrm>
              <a:off x="1228344" y="0"/>
              <a:ext cx="1080770" cy="6858000"/>
            </a:xfrm>
            <a:custGeom>
              <a:avLst/>
              <a:gdLst/>
              <a:ahLst/>
              <a:cxnLst/>
              <a:rect l="l" t="t" r="r" b="b"/>
              <a:pathLst>
                <a:path w="1080770" h="6858000">
                  <a:moveTo>
                    <a:pt x="1080516" y="1251204"/>
                  </a:moveTo>
                  <a:lnTo>
                    <a:pt x="1078306" y="1202105"/>
                  </a:lnTo>
                  <a:lnTo>
                    <a:pt x="1071803" y="1154239"/>
                  </a:lnTo>
                  <a:lnTo>
                    <a:pt x="1061212" y="1107795"/>
                  </a:lnTo>
                  <a:lnTo>
                    <a:pt x="1046708" y="1062964"/>
                  </a:lnTo>
                  <a:lnTo>
                    <a:pt x="1028484" y="1019949"/>
                  </a:lnTo>
                  <a:lnTo>
                    <a:pt x="1006741" y="978916"/>
                  </a:lnTo>
                  <a:lnTo>
                    <a:pt x="981659" y="940079"/>
                  </a:lnTo>
                  <a:lnTo>
                    <a:pt x="953427" y="903630"/>
                  </a:lnTo>
                  <a:lnTo>
                    <a:pt x="922248" y="869734"/>
                  </a:lnTo>
                  <a:lnTo>
                    <a:pt x="888314" y="838606"/>
                  </a:lnTo>
                  <a:lnTo>
                    <a:pt x="851801" y="810412"/>
                  </a:lnTo>
                  <a:lnTo>
                    <a:pt x="812901" y="785380"/>
                  </a:lnTo>
                  <a:lnTo>
                    <a:pt x="771829" y="763663"/>
                  </a:lnTo>
                  <a:lnTo>
                    <a:pt x="728738" y="745464"/>
                  </a:lnTo>
                  <a:lnTo>
                    <a:pt x="683856" y="730986"/>
                  </a:lnTo>
                  <a:lnTo>
                    <a:pt x="641604" y="721385"/>
                  </a:lnTo>
                  <a:lnTo>
                    <a:pt x="641604" y="0"/>
                  </a:lnTo>
                  <a:lnTo>
                    <a:pt x="438912" y="0"/>
                  </a:lnTo>
                  <a:lnTo>
                    <a:pt x="438912" y="721372"/>
                  </a:lnTo>
                  <a:lnTo>
                    <a:pt x="396646" y="730986"/>
                  </a:lnTo>
                  <a:lnTo>
                    <a:pt x="351764" y="745464"/>
                  </a:lnTo>
                  <a:lnTo>
                    <a:pt x="308673" y="763663"/>
                  </a:lnTo>
                  <a:lnTo>
                    <a:pt x="267601" y="785380"/>
                  </a:lnTo>
                  <a:lnTo>
                    <a:pt x="228701" y="810412"/>
                  </a:lnTo>
                  <a:lnTo>
                    <a:pt x="192189" y="838606"/>
                  </a:lnTo>
                  <a:lnTo>
                    <a:pt x="158254" y="869734"/>
                  </a:lnTo>
                  <a:lnTo>
                    <a:pt x="127076" y="903630"/>
                  </a:lnTo>
                  <a:lnTo>
                    <a:pt x="98844" y="940079"/>
                  </a:lnTo>
                  <a:lnTo>
                    <a:pt x="73761" y="978928"/>
                  </a:lnTo>
                  <a:lnTo>
                    <a:pt x="52019" y="1019949"/>
                  </a:lnTo>
                  <a:lnTo>
                    <a:pt x="33794" y="1062964"/>
                  </a:lnTo>
                  <a:lnTo>
                    <a:pt x="19291" y="1107795"/>
                  </a:lnTo>
                  <a:lnTo>
                    <a:pt x="8699" y="1154239"/>
                  </a:lnTo>
                  <a:lnTo>
                    <a:pt x="2197" y="1202105"/>
                  </a:lnTo>
                  <a:lnTo>
                    <a:pt x="0" y="1251204"/>
                  </a:lnTo>
                  <a:lnTo>
                    <a:pt x="2197" y="1300314"/>
                  </a:lnTo>
                  <a:lnTo>
                    <a:pt x="8699" y="1348181"/>
                  </a:lnTo>
                  <a:lnTo>
                    <a:pt x="19291" y="1394625"/>
                  </a:lnTo>
                  <a:lnTo>
                    <a:pt x="33794" y="1439456"/>
                  </a:lnTo>
                  <a:lnTo>
                    <a:pt x="52019" y="1482471"/>
                  </a:lnTo>
                  <a:lnTo>
                    <a:pt x="73761" y="1523492"/>
                  </a:lnTo>
                  <a:lnTo>
                    <a:pt x="98844" y="1562341"/>
                  </a:lnTo>
                  <a:lnTo>
                    <a:pt x="127076" y="1598790"/>
                  </a:lnTo>
                  <a:lnTo>
                    <a:pt x="158254" y="1632686"/>
                  </a:lnTo>
                  <a:lnTo>
                    <a:pt x="192189" y="1663814"/>
                  </a:lnTo>
                  <a:lnTo>
                    <a:pt x="228701" y="1692008"/>
                  </a:lnTo>
                  <a:lnTo>
                    <a:pt x="267601" y="1717040"/>
                  </a:lnTo>
                  <a:lnTo>
                    <a:pt x="308673" y="1738757"/>
                  </a:lnTo>
                  <a:lnTo>
                    <a:pt x="351764" y="1756956"/>
                  </a:lnTo>
                  <a:lnTo>
                    <a:pt x="396646" y="1771434"/>
                  </a:lnTo>
                  <a:lnTo>
                    <a:pt x="438912" y="1781060"/>
                  </a:lnTo>
                  <a:lnTo>
                    <a:pt x="438912" y="6858000"/>
                  </a:lnTo>
                  <a:lnTo>
                    <a:pt x="641604" y="6858000"/>
                  </a:lnTo>
                  <a:lnTo>
                    <a:pt x="641604" y="1781048"/>
                  </a:lnTo>
                  <a:lnTo>
                    <a:pt x="683856" y="1771434"/>
                  </a:lnTo>
                  <a:lnTo>
                    <a:pt x="728738" y="1756956"/>
                  </a:lnTo>
                  <a:lnTo>
                    <a:pt x="771829" y="1738757"/>
                  </a:lnTo>
                  <a:lnTo>
                    <a:pt x="812901" y="1717040"/>
                  </a:lnTo>
                  <a:lnTo>
                    <a:pt x="851801" y="1692008"/>
                  </a:lnTo>
                  <a:lnTo>
                    <a:pt x="888314" y="1663814"/>
                  </a:lnTo>
                  <a:lnTo>
                    <a:pt x="922248" y="1632686"/>
                  </a:lnTo>
                  <a:lnTo>
                    <a:pt x="953427" y="1598790"/>
                  </a:lnTo>
                  <a:lnTo>
                    <a:pt x="981659" y="1562341"/>
                  </a:lnTo>
                  <a:lnTo>
                    <a:pt x="1006741" y="1523492"/>
                  </a:lnTo>
                  <a:lnTo>
                    <a:pt x="1028484" y="1482471"/>
                  </a:lnTo>
                  <a:lnTo>
                    <a:pt x="1046708" y="1439456"/>
                  </a:lnTo>
                  <a:lnTo>
                    <a:pt x="1061212" y="1394625"/>
                  </a:lnTo>
                  <a:lnTo>
                    <a:pt x="1071803" y="1348181"/>
                  </a:lnTo>
                  <a:lnTo>
                    <a:pt x="1078306" y="1300314"/>
                  </a:lnTo>
                  <a:lnTo>
                    <a:pt x="1080516" y="1251204"/>
                  </a:lnTo>
                  <a:close/>
                </a:path>
              </a:pathLst>
            </a:custGeom>
            <a:solidFill>
              <a:srgbClr val="8E0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28344" y="711708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0" y="539495"/>
                  </a:moveTo>
                  <a:lnTo>
                    <a:pt x="2208" y="490392"/>
                  </a:lnTo>
                  <a:lnTo>
                    <a:pt x="8706" y="442524"/>
                  </a:lnTo>
                  <a:lnTo>
                    <a:pt x="19302" y="396081"/>
                  </a:lnTo>
                  <a:lnTo>
                    <a:pt x="33806" y="351253"/>
                  </a:lnTo>
                  <a:lnTo>
                    <a:pt x="52026" y="308232"/>
                  </a:lnTo>
                  <a:lnTo>
                    <a:pt x="73772" y="267208"/>
                  </a:lnTo>
                  <a:lnTo>
                    <a:pt x="98854" y="228370"/>
                  </a:lnTo>
                  <a:lnTo>
                    <a:pt x="127079" y="191911"/>
                  </a:lnTo>
                  <a:lnTo>
                    <a:pt x="158257" y="158019"/>
                  </a:lnTo>
                  <a:lnTo>
                    <a:pt x="192198" y="126887"/>
                  </a:lnTo>
                  <a:lnTo>
                    <a:pt x="228710" y="98703"/>
                  </a:lnTo>
                  <a:lnTo>
                    <a:pt x="267603" y="73660"/>
                  </a:lnTo>
                  <a:lnTo>
                    <a:pt x="308685" y="51946"/>
                  </a:lnTo>
                  <a:lnTo>
                    <a:pt x="351765" y="33753"/>
                  </a:lnTo>
                  <a:lnTo>
                    <a:pt x="396654" y="19272"/>
                  </a:lnTo>
                  <a:lnTo>
                    <a:pt x="443159" y="8692"/>
                  </a:lnTo>
                  <a:lnTo>
                    <a:pt x="491091" y="2204"/>
                  </a:lnTo>
                  <a:lnTo>
                    <a:pt x="540257" y="0"/>
                  </a:lnTo>
                  <a:lnTo>
                    <a:pt x="589424" y="2204"/>
                  </a:lnTo>
                  <a:lnTo>
                    <a:pt x="637356" y="8692"/>
                  </a:lnTo>
                  <a:lnTo>
                    <a:pt x="683861" y="19272"/>
                  </a:lnTo>
                  <a:lnTo>
                    <a:pt x="728750" y="33753"/>
                  </a:lnTo>
                  <a:lnTo>
                    <a:pt x="771830" y="51946"/>
                  </a:lnTo>
                  <a:lnTo>
                    <a:pt x="812912" y="73660"/>
                  </a:lnTo>
                  <a:lnTo>
                    <a:pt x="851805" y="98703"/>
                  </a:lnTo>
                  <a:lnTo>
                    <a:pt x="888317" y="126887"/>
                  </a:lnTo>
                  <a:lnTo>
                    <a:pt x="922258" y="158019"/>
                  </a:lnTo>
                  <a:lnTo>
                    <a:pt x="953436" y="191911"/>
                  </a:lnTo>
                  <a:lnTo>
                    <a:pt x="981661" y="228370"/>
                  </a:lnTo>
                  <a:lnTo>
                    <a:pt x="1006743" y="267207"/>
                  </a:lnTo>
                  <a:lnTo>
                    <a:pt x="1028489" y="308232"/>
                  </a:lnTo>
                  <a:lnTo>
                    <a:pt x="1046709" y="351253"/>
                  </a:lnTo>
                  <a:lnTo>
                    <a:pt x="1061213" y="396081"/>
                  </a:lnTo>
                  <a:lnTo>
                    <a:pt x="1071809" y="442524"/>
                  </a:lnTo>
                  <a:lnTo>
                    <a:pt x="1078307" y="490392"/>
                  </a:lnTo>
                  <a:lnTo>
                    <a:pt x="1080516" y="539495"/>
                  </a:lnTo>
                  <a:lnTo>
                    <a:pt x="1078307" y="588599"/>
                  </a:lnTo>
                  <a:lnTo>
                    <a:pt x="1071809" y="636467"/>
                  </a:lnTo>
                  <a:lnTo>
                    <a:pt x="1061213" y="682910"/>
                  </a:lnTo>
                  <a:lnTo>
                    <a:pt x="1046709" y="727738"/>
                  </a:lnTo>
                  <a:lnTo>
                    <a:pt x="1028489" y="770759"/>
                  </a:lnTo>
                  <a:lnTo>
                    <a:pt x="1006743" y="811783"/>
                  </a:lnTo>
                  <a:lnTo>
                    <a:pt x="981661" y="850621"/>
                  </a:lnTo>
                  <a:lnTo>
                    <a:pt x="953436" y="887080"/>
                  </a:lnTo>
                  <a:lnTo>
                    <a:pt x="922258" y="920972"/>
                  </a:lnTo>
                  <a:lnTo>
                    <a:pt x="888317" y="952104"/>
                  </a:lnTo>
                  <a:lnTo>
                    <a:pt x="851805" y="980288"/>
                  </a:lnTo>
                  <a:lnTo>
                    <a:pt x="812912" y="1005331"/>
                  </a:lnTo>
                  <a:lnTo>
                    <a:pt x="771830" y="1027045"/>
                  </a:lnTo>
                  <a:lnTo>
                    <a:pt x="728750" y="1045238"/>
                  </a:lnTo>
                  <a:lnTo>
                    <a:pt x="683861" y="1059719"/>
                  </a:lnTo>
                  <a:lnTo>
                    <a:pt x="637356" y="1070299"/>
                  </a:lnTo>
                  <a:lnTo>
                    <a:pt x="589424" y="1076787"/>
                  </a:lnTo>
                  <a:lnTo>
                    <a:pt x="540257" y="1078991"/>
                  </a:lnTo>
                  <a:lnTo>
                    <a:pt x="491091" y="1076787"/>
                  </a:lnTo>
                  <a:lnTo>
                    <a:pt x="443159" y="1070299"/>
                  </a:lnTo>
                  <a:lnTo>
                    <a:pt x="396654" y="1059719"/>
                  </a:lnTo>
                  <a:lnTo>
                    <a:pt x="351765" y="1045238"/>
                  </a:lnTo>
                  <a:lnTo>
                    <a:pt x="308685" y="1027045"/>
                  </a:lnTo>
                  <a:lnTo>
                    <a:pt x="267603" y="1005331"/>
                  </a:lnTo>
                  <a:lnTo>
                    <a:pt x="228710" y="980288"/>
                  </a:lnTo>
                  <a:lnTo>
                    <a:pt x="192198" y="952104"/>
                  </a:lnTo>
                  <a:lnTo>
                    <a:pt x="158257" y="920972"/>
                  </a:lnTo>
                  <a:lnTo>
                    <a:pt x="127079" y="887080"/>
                  </a:lnTo>
                  <a:lnTo>
                    <a:pt x="98854" y="850621"/>
                  </a:lnTo>
                  <a:lnTo>
                    <a:pt x="73772" y="811783"/>
                  </a:lnTo>
                  <a:lnTo>
                    <a:pt x="52026" y="770759"/>
                  </a:lnTo>
                  <a:lnTo>
                    <a:pt x="33806" y="727738"/>
                  </a:lnTo>
                  <a:lnTo>
                    <a:pt x="19302" y="682910"/>
                  </a:lnTo>
                  <a:lnTo>
                    <a:pt x="8706" y="636467"/>
                  </a:lnTo>
                  <a:lnTo>
                    <a:pt x="2208" y="588599"/>
                  </a:lnTo>
                  <a:lnTo>
                    <a:pt x="0" y="539495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8344" y="2249423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540257" y="0"/>
                  </a:moveTo>
                  <a:lnTo>
                    <a:pt x="491091" y="2204"/>
                  </a:lnTo>
                  <a:lnTo>
                    <a:pt x="443159" y="8692"/>
                  </a:lnTo>
                  <a:lnTo>
                    <a:pt x="396654" y="19272"/>
                  </a:lnTo>
                  <a:lnTo>
                    <a:pt x="351765" y="33753"/>
                  </a:lnTo>
                  <a:lnTo>
                    <a:pt x="308685" y="51946"/>
                  </a:lnTo>
                  <a:lnTo>
                    <a:pt x="267603" y="73660"/>
                  </a:lnTo>
                  <a:lnTo>
                    <a:pt x="228710" y="98703"/>
                  </a:lnTo>
                  <a:lnTo>
                    <a:pt x="192198" y="126887"/>
                  </a:lnTo>
                  <a:lnTo>
                    <a:pt x="158257" y="158019"/>
                  </a:lnTo>
                  <a:lnTo>
                    <a:pt x="127079" y="191911"/>
                  </a:lnTo>
                  <a:lnTo>
                    <a:pt x="98854" y="228370"/>
                  </a:lnTo>
                  <a:lnTo>
                    <a:pt x="73772" y="267208"/>
                  </a:lnTo>
                  <a:lnTo>
                    <a:pt x="52026" y="308232"/>
                  </a:lnTo>
                  <a:lnTo>
                    <a:pt x="33806" y="351253"/>
                  </a:lnTo>
                  <a:lnTo>
                    <a:pt x="19302" y="396081"/>
                  </a:lnTo>
                  <a:lnTo>
                    <a:pt x="8706" y="442524"/>
                  </a:lnTo>
                  <a:lnTo>
                    <a:pt x="2208" y="490392"/>
                  </a:lnTo>
                  <a:lnTo>
                    <a:pt x="0" y="539496"/>
                  </a:lnTo>
                  <a:lnTo>
                    <a:pt x="2208" y="588599"/>
                  </a:lnTo>
                  <a:lnTo>
                    <a:pt x="8706" y="636467"/>
                  </a:lnTo>
                  <a:lnTo>
                    <a:pt x="19302" y="682910"/>
                  </a:lnTo>
                  <a:lnTo>
                    <a:pt x="33806" y="727738"/>
                  </a:lnTo>
                  <a:lnTo>
                    <a:pt x="52026" y="770759"/>
                  </a:lnTo>
                  <a:lnTo>
                    <a:pt x="73772" y="811784"/>
                  </a:lnTo>
                  <a:lnTo>
                    <a:pt x="98854" y="850621"/>
                  </a:lnTo>
                  <a:lnTo>
                    <a:pt x="127079" y="887080"/>
                  </a:lnTo>
                  <a:lnTo>
                    <a:pt x="158257" y="920972"/>
                  </a:lnTo>
                  <a:lnTo>
                    <a:pt x="192198" y="952104"/>
                  </a:lnTo>
                  <a:lnTo>
                    <a:pt x="228710" y="980288"/>
                  </a:lnTo>
                  <a:lnTo>
                    <a:pt x="267603" y="1005331"/>
                  </a:lnTo>
                  <a:lnTo>
                    <a:pt x="308685" y="1027045"/>
                  </a:lnTo>
                  <a:lnTo>
                    <a:pt x="351765" y="1045238"/>
                  </a:lnTo>
                  <a:lnTo>
                    <a:pt x="396654" y="1059719"/>
                  </a:lnTo>
                  <a:lnTo>
                    <a:pt x="443159" y="1070299"/>
                  </a:lnTo>
                  <a:lnTo>
                    <a:pt x="491091" y="1076787"/>
                  </a:lnTo>
                  <a:lnTo>
                    <a:pt x="540257" y="1078991"/>
                  </a:lnTo>
                  <a:lnTo>
                    <a:pt x="589424" y="1076787"/>
                  </a:lnTo>
                  <a:lnTo>
                    <a:pt x="637356" y="1070299"/>
                  </a:lnTo>
                  <a:lnTo>
                    <a:pt x="683861" y="1059719"/>
                  </a:lnTo>
                  <a:lnTo>
                    <a:pt x="728750" y="1045238"/>
                  </a:lnTo>
                  <a:lnTo>
                    <a:pt x="771830" y="1027045"/>
                  </a:lnTo>
                  <a:lnTo>
                    <a:pt x="812912" y="1005331"/>
                  </a:lnTo>
                  <a:lnTo>
                    <a:pt x="851805" y="980288"/>
                  </a:lnTo>
                  <a:lnTo>
                    <a:pt x="888317" y="952104"/>
                  </a:lnTo>
                  <a:lnTo>
                    <a:pt x="922258" y="920972"/>
                  </a:lnTo>
                  <a:lnTo>
                    <a:pt x="953436" y="887080"/>
                  </a:lnTo>
                  <a:lnTo>
                    <a:pt x="981661" y="850621"/>
                  </a:lnTo>
                  <a:lnTo>
                    <a:pt x="1006743" y="811783"/>
                  </a:lnTo>
                  <a:lnTo>
                    <a:pt x="1028489" y="770759"/>
                  </a:lnTo>
                  <a:lnTo>
                    <a:pt x="1046709" y="727738"/>
                  </a:lnTo>
                  <a:lnTo>
                    <a:pt x="1061213" y="682910"/>
                  </a:lnTo>
                  <a:lnTo>
                    <a:pt x="1071809" y="636467"/>
                  </a:lnTo>
                  <a:lnTo>
                    <a:pt x="1078307" y="588599"/>
                  </a:lnTo>
                  <a:lnTo>
                    <a:pt x="1080516" y="539496"/>
                  </a:lnTo>
                  <a:lnTo>
                    <a:pt x="1078307" y="490392"/>
                  </a:lnTo>
                  <a:lnTo>
                    <a:pt x="1071809" y="442524"/>
                  </a:lnTo>
                  <a:lnTo>
                    <a:pt x="1061213" y="396081"/>
                  </a:lnTo>
                  <a:lnTo>
                    <a:pt x="1046709" y="351253"/>
                  </a:lnTo>
                  <a:lnTo>
                    <a:pt x="1028489" y="308232"/>
                  </a:lnTo>
                  <a:lnTo>
                    <a:pt x="1006743" y="267208"/>
                  </a:lnTo>
                  <a:lnTo>
                    <a:pt x="981661" y="228370"/>
                  </a:lnTo>
                  <a:lnTo>
                    <a:pt x="953436" y="191911"/>
                  </a:lnTo>
                  <a:lnTo>
                    <a:pt x="922258" y="158019"/>
                  </a:lnTo>
                  <a:lnTo>
                    <a:pt x="888317" y="126887"/>
                  </a:lnTo>
                  <a:lnTo>
                    <a:pt x="851805" y="98703"/>
                  </a:lnTo>
                  <a:lnTo>
                    <a:pt x="812912" y="73660"/>
                  </a:lnTo>
                  <a:lnTo>
                    <a:pt x="771830" y="51946"/>
                  </a:lnTo>
                  <a:lnTo>
                    <a:pt x="728750" y="33753"/>
                  </a:lnTo>
                  <a:lnTo>
                    <a:pt x="683861" y="19272"/>
                  </a:lnTo>
                  <a:lnTo>
                    <a:pt x="637356" y="8692"/>
                  </a:lnTo>
                  <a:lnTo>
                    <a:pt x="589424" y="2204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8E0F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28344" y="2249423"/>
              <a:ext cx="1080770" cy="1079500"/>
            </a:xfrm>
            <a:custGeom>
              <a:avLst/>
              <a:gdLst/>
              <a:ahLst/>
              <a:cxnLst/>
              <a:rect l="l" t="t" r="r" b="b"/>
              <a:pathLst>
                <a:path w="1080770" h="1079500">
                  <a:moveTo>
                    <a:pt x="0" y="539496"/>
                  </a:moveTo>
                  <a:lnTo>
                    <a:pt x="2208" y="490392"/>
                  </a:lnTo>
                  <a:lnTo>
                    <a:pt x="8706" y="442524"/>
                  </a:lnTo>
                  <a:lnTo>
                    <a:pt x="19302" y="396081"/>
                  </a:lnTo>
                  <a:lnTo>
                    <a:pt x="33806" y="351253"/>
                  </a:lnTo>
                  <a:lnTo>
                    <a:pt x="52026" y="308232"/>
                  </a:lnTo>
                  <a:lnTo>
                    <a:pt x="73772" y="267208"/>
                  </a:lnTo>
                  <a:lnTo>
                    <a:pt x="98854" y="228370"/>
                  </a:lnTo>
                  <a:lnTo>
                    <a:pt x="127079" y="191911"/>
                  </a:lnTo>
                  <a:lnTo>
                    <a:pt x="158257" y="158019"/>
                  </a:lnTo>
                  <a:lnTo>
                    <a:pt x="192198" y="126887"/>
                  </a:lnTo>
                  <a:lnTo>
                    <a:pt x="228710" y="98703"/>
                  </a:lnTo>
                  <a:lnTo>
                    <a:pt x="267603" y="73660"/>
                  </a:lnTo>
                  <a:lnTo>
                    <a:pt x="308685" y="51946"/>
                  </a:lnTo>
                  <a:lnTo>
                    <a:pt x="351765" y="33753"/>
                  </a:lnTo>
                  <a:lnTo>
                    <a:pt x="396654" y="19272"/>
                  </a:lnTo>
                  <a:lnTo>
                    <a:pt x="443159" y="8692"/>
                  </a:lnTo>
                  <a:lnTo>
                    <a:pt x="491091" y="2204"/>
                  </a:lnTo>
                  <a:lnTo>
                    <a:pt x="540257" y="0"/>
                  </a:lnTo>
                  <a:lnTo>
                    <a:pt x="589424" y="2204"/>
                  </a:lnTo>
                  <a:lnTo>
                    <a:pt x="637356" y="8692"/>
                  </a:lnTo>
                  <a:lnTo>
                    <a:pt x="683861" y="19272"/>
                  </a:lnTo>
                  <a:lnTo>
                    <a:pt x="728750" y="33753"/>
                  </a:lnTo>
                  <a:lnTo>
                    <a:pt x="771830" y="51946"/>
                  </a:lnTo>
                  <a:lnTo>
                    <a:pt x="812912" y="73660"/>
                  </a:lnTo>
                  <a:lnTo>
                    <a:pt x="851805" y="98703"/>
                  </a:lnTo>
                  <a:lnTo>
                    <a:pt x="888317" y="126887"/>
                  </a:lnTo>
                  <a:lnTo>
                    <a:pt x="922258" y="158019"/>
                  </a:lnTo>
                  <a:lnTo>
                    <a:pt x="953436" y="191911"/>
                  </a:lnTo>
                  <a:lnTo>
                    <a:pt x="981661" y="228370"/>
                  </a:lnTo>
                  <a:lnTo>
                    <a:pt x="1006743" y="267208"/>
                  </a:lnTo>
                  <a:lnTo>
                    <a:pt x="1028489" y="308232"/>
                  </a:lnTo>
                  <a:lnTo>
                    <a:pt x="1046709" y="351253"/>
                  </a:lnTo>
                  <a:lnTo>
                    <a:pt x="1061213" y="396081"/>
                  </a:lnTo>
                  <a:lnTo>
                    <a:pt x="1071809" y="442524"/>
                  </a:lnTo>
                  <a:lnTo>
                    <a:pt x="1078307" y="490392"/>
                  </a:lnTo>
                  <a:lnTo>
                    <a:pt x="1080516" y="539496"/>
                  </a:lnTo>
                  <a:lnTo>
                    <a:pt x="1078307" y="588599"/>
                  </a:lnTo>
                  <a:lnTo>
                    <a:pt x="1071809" y="636467"/>
                  </a:lnTo>
                  <a:lnTo>
                    <a:pt x="1061213" y="682910"/>
                  </a:lnTo>
                  <a:lnTo>
                    <a:pt x="1046709" y="727738"/>
                  </a:lnTo>
                  <a:lnTo>
                    <a:pt x="1028489" y="770759"/>
                  </a:lnTo>
                  <a:lnTo>
                    <a:pt x="1006743" y="811783"/>
                  </a:lnTo>
                  <a:lnTo>
                    <a:pt x="981661" y="850621"/>
                  </a:lnTo>
                  <a:lnTo>
                    <a:pt x="953436" y="887080"/>
                  </a:lnTo>
                  <a:lnTo>
                    <a:pt x="922258" y="920972"/>
                  </a:lnTo>
                  <a:lnTo>
                    <a:pt x="888317" y="952104"/>
                  </a:lnTo>
                  <a:lnTo>
                    <a:pt x="851805" y="980288"/>
                  </a:lnTo>
                  <a:lnTo>
                    <a:pt x="812912" y="1005331"/>
                  </a:lnTo>
                  <a:lnTo>
                    <a:pt x="771830" y="1027045"/>
                  </a:lnTo>
                  <a:lnTo>
                    <a:pt x="728750" y="1045238"/>
                  </a:lnTo>
                  <a:lnTo>
                    <a:pt x="683861" y="1059719"/>
                  </a:lnTo>
                  <a:lnTo>
                    <a:pt x="637356" y="1070299"/>
                  </a:lnTo>
                  <a:lnTo>
                    <a:pt x="589424" y="1076787"/>
                  </a:lnTo>
                  <a:lnTo>
                    <a:pt x="540257" y="1078991"/>
                  </a:lnTo>
                  <a:lnTo>
                    <a:pt x="491091" y="1076787"/>
                  </a:lnTo>
                  <a:lnTo>
                    <a:pt x="443159" y="1070299"/>
                  </a:lnTo>
                  <a:lnTo>
                    <a:pt x="396654" y="1059719"/>
                  </a:lnTo>
                  <a:lnTo>
                    <a:pt x="351765" y="1045238"/>
                  </a:lnTo>
                  <a:lnTo>
                    <a:pt x="308685" y="1027045"/>
                  </a:lnTo>
                  <a:lnTo>
                    <a:pt x="267603" y="1005331"/>
                  </a:lnTo>
                  <a:lnTo>
                    <a:pt x="228710" y="980288"/>
                  </a:lnTo>
                  <a:lnTo>
                    <a:pt x="192198" y="952104"/>
                  </a:lnTo>
                  <a:lnTo>
                    <a:pt x="158257" y="920972"/>
                  </a:lnTo>
                  <a:lnTo>
                    <a:pt x="127079" y="887080"/>
                  </a:lnTo>
                  <a:lnTo>
                    <a:pt x="98854" y="850621"/>
                  </a:lnTo>
                  <a:lnTo>
                    <a:pt x="73772" y="811784"/>
                  </a:lnTo>
                  <a:lnTo>
                    <a:pt x="52026" y="770759"/>
                  </a:lnTo>
                  <a:lnTo>
                    <a:pt x="33806" y="727738"/>
                  </a:lnTo>
                  <a:lnTo>
                    <a:pt x="19302" y="682910"/>
                  </a:lnTo>
                  <a:lnTo>
                    <a:pt x="8706" y="636467"/>
                  </a:lnTo>
                  <a:lnTo>
                    <a:pt x="2208" y="588599"/>
                  </a:lnTo>
                  <a:lnTo>
                    <a:pt x="0" y="539496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75561" y="2437257"/>
            <a:ext cx="386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5" dirty="0">
                <a:solidFill>
                  <a:srgbClr val="AC1381"/>
                </a:solidFill>
                <a:latin typeface="Lucida Sans"/>
                <a:cs typeface="Lucida Sans"/>
              </a:rPr>
              <a:t>B</a:t>
            </a:r>
            <a:endParaRPr sz="44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4038" y="898906"/>
            <a:ext cx="5683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5705" algn="l"/>
              </a:tabLst>
            </a:pPr>
            <a:r>
              <a:rPr sz="4400" b="1" spc="-440" dirty="0">
                <a:solidFill>
                  <a:srgbClr val="AC1381"/>
                </a:solidFill>
                <a:latin typeface="Lucida Sans"/>
                <a:cs typeface="Lucida Sans"/>
              </a:rPr>
              <a:t>A</a:t>
            </a:r>
            <a:r>
              <a:rPr sz="4400" b="1" dirty="0">
                <a:solidFill>
                  <a:srgbClr val="AC1381"/>
                </a:solidFill>
                <a:latin typeface="Lucida Sans"/>
                <a:cs typeface="Lucida Sans"/>
              </a:rPr>
              <a:t>	</a:t>
            </a:r>
            <a:r>
              <a:rPr sz="4400" b="1" spc="-10" dirty="0">
                <a:solidFill>
                  <a:srgbClr val="8E0F6A"/>
                </a:solidFill>
                <a:latin typeface="メイリオ"/>
                <a:cs typeface="メイリオ"/>
              </a:rPr>
              <a:t>基本的な数と計算</a:t>
            </a:r>
            <a:endParaRPr sz="44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7677" y="2352243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0" dirty="0">
                <a:solidFill>
                  <a:srgbClr val="8E0F6A"/>
                </a:solidFill>
                <a:latin typeface="メイリオ"/>
                <a:cs typeface="メイリオ"/>
              </a:rPr>
              <a:t>文字式とは</a:t>
            </a:r>
            <a:endParaRPr sz="44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0244" y="3745991"/>
            <a:ext cx="1156970" cy="1156970"/>
            <a:chOff x="1190244" y="3745991"/>
            <a:chExt cx="1156970" cy="1156970"/>
          </a:xfrm>
        </p:grpSpPr>
        <p:sp>
          <p:nvSpPr>
            <p:cNvPr id="11" name="object 11"/>
            <p:cNvSpPr/>
            <p:nvPr/>
          </p:nvSpPr>
          <p:spPr>
            <a:xfrm>
              <a:off x="1228344" y="3784091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540257" y="0"/>
                  </a:moveTo>
                  <a:lnTo>
                    <a:pt x="491091" y="2208"/>
                  </a:lnTo>
                  <a:lnTo>
                    <a:pt x="443159" y="8706"/>
                  </a:lnTo>
                  <a:lnTo>
                    <a:pt x="396654" y="19302"/>
                  </a:lnTo>
                  <a:lnTo>
                    <a:pt x="351765" y="33806"/>
                  </a:lnTo>
                  <a:lnTo>
                    <a:pt x="308685" y="52026"/>
                  </a:lnTo>
                  <a:lnTo>
                    <a:pt x="267603" y="73772"/>
                  </a:lnTo>
                  <a:lnTo>
                    <a:pt x="228710" y="98854"/>
                  </a:lnTo>
                  <a:lnTo>
                    <a:pt x="192198" y="127079"/>
                  </a:lnTo>
                  <a:lnTo>
                    <a:pt x="158257" y="158257"/>
                  </a:lnTo>
                  <a:lnTo>
                    <a:pt x="127079" y="192198"/>
                  </a:lnTo>
                  <a:lnTo>
                    <a:pt x="98854" y="228710"/>
                  </a:lnTo>
                  <a:lnTo>
                    <a:pt x="73772" y="267603"/>
                  </a:lnTo>
                  <a:lnTo>
                    <a:pt x="52026" y="308685"/>
                  </a:lnTo>
                  <a:lnTo>
                    <a:pt x="33806" y="351765"/>
                  </a:lnTo>
                  <a:lnTo>
                    <a:pt x="19302" y="396654"/>
                  </a:lnTo>
                  <a:lnTo>
                    <a:pt x="8706" y="443159"/>
                  </a:lnTo>
                  <a:lnTo>
                    <a:pt x="2208" y="491091"/>
                  </a:lnTo>
                  <a:lnTo>
                    <a:pt x="0" y="540257"/>
                  </a:lnTo>
                  <a:lnTo>
                    <a:pt x="2208" y="589424"/>
                  </a:lnTo>
                  <a:lnTo>
                    <a:pt x="8706" y="637356"/>
                  </a:lnTo>
                  <a:lnTo>
                    <a:pt x="19302" y="683861"/>
                  </a:lnTo>
                  <a:lnTo>
                    <a:pt x="33806" y="728750"/>
                  </a:lnTo>
                  <a:lnTo>
                    <a:pt x="52026" y="771830"/>
                  </a:lnTo>
                  <a:lnTo>
                    <a:pt x="73772" y="812912"/>
                  </a:lnTo>
                  <a:lnTo>
                    <a:pt x="98854" y="851805"/>
                  </a:lnTo>
                  <a:lnTo>
                    <a:pt x="127079" y="888317"/>
                  </a:lnTo>
                  <a:lnTo>
                    <a:pt x="158257" y="922258"/>
                  </a:lnTo>
                  <a:lnTo>
                    <a:pt x="192198" y="953436"/>
                  </a:lnTo>
                  <a:lnTo>
                    <a:pt x="228710" y="981661"/>
                  </a:lnTo>
                  <a:lnTo>
                    <a:pt x="267603" y="1006743"/>
                  </a:lnTo>
                  <a:lnTo>
                    <a:pt x="308685" y="1028489"/>
                  </a:lnTo>
                  <a:lnTo>
                    <a:pt x="351765" y="1046709"/>
                  </a:lnTo>
                  <a:lnTo>
                    <a:pt x="396654" y="1061213"/>
                  </a:lnTo>
                  <a:lnTo>
                    <a:pt x="443159" y="1071809"/>
                  </a:lnTo>
                  <a:lnTo>
                    <a:pt x="491091" y="1078307"/>
                  </a:lnTo>
                  <a:lnTo>
                    <a:pt x="540257" y="1080515"/>
                  </a:lnTo>
                  <a:lnTo>
                    <a:pt x="589424" y="1078307"/>
                  </a:lnTo>
                  <a:lnTo>
                    <a:pt x="637356" y="1071809"/>
                  </a:lnTo>
                  <a:lnTo>
                    <a:pt x="683861" y="1061213"/>
                  </a:lnTo>
                  <a:lnTo>
                    <a:pt x="728750" y="1046709"/>
                  </a:lnTo>
                  <a:lnTo>
                    <a:pt x="771830" y="1028489"/>
                  </a:lnTo>
                  <a:lnTo>
                    <a:pt x="812912" y="1006743"/>
                  </a:lnTo>
                  <a:lnTo>
                    <a:pt x="851805" y="981661"/>
                  </a:lnTo>
                  <a:lnTo>
                    <a:pt x="888317" y="953436"/>
                  </a:lnTo>
                  <a:lnTo>
                    <a:pt x="922258" y="922258"/>
                  </a:lnTo>
                  <a:lnTo>
                    <a:pt x="953436" y="888317"/>
                  </a:lnTo>
                  <a:lnTo>
                    <a:pt x="981661" y="851805"/>
                  </a:lnTo>
                  <a:lnTo>
                    <a:pt x="1006743" y="812912"/>
                  </a:lnTo>
                  <a:lnTo>
                    <a:pt x="1028489" y="771830"/>
                  </a:lnTo>
                  <a:lnTo>
                    <a:pt x="1046709" y="728750"/>
                  </a:lnTo>
                  <a:lnTo>
                    <a:pt x="1061213" y="683861"/>
                  </a:lnTo>
                  <a:lnTo>
                    <a:pt x="1071809" y="637356"/>
                  </a:lnTo>
                  <a:lnTo>
                    <a:pt x="1078307" y="589424"/>
                  </a:lnTo>
                  <a:lnTo>
                    <a:pt x="1080516" y="540257"/>
                  </a:lnTo>
                  <a:lnTo>
                    <a:pt x="1078307" y="491091"/>
                  </a:lnTo>
                  <a:lnTo>
                    <a:pt x="1071809" y="443159"/>
                  </a:lnTo>
                  <a:lnTo>
                    <a:pt x="1061213" y="396654"/>
                  </a:lnTo>
                  <a:lnTo>
                    <a:pt x="1046709" y="351765"/>
                  </a:lnTo>
                  <a:lnTo>
                    <a:pt x="1028489" y="308685"/>
                  </a:lnTo>
                  <a:lnTo>
                    <a:pt x="1006743" y="267603"/>
                  </a:lnTo>
                  <a:lnTo>
                    <a:pt x="981661" y="228710"/>
                  </a:lnTo>
                  <a:lnTo>
                    <a:pt x="953436" y="192198"/>
                  </a:lnTo>
                  <a:lnTo>
                    <a:pt x="922258" y="158257"/>
                  </a:lnTo>
                  <a:lnTo>
                    <a:pt x="888317" y="127079"/>
                  </a:lnTo>
                  <a:lnTo>
                    <a:pt x="851805" y="98854"/>
                  </a:lnTo>
                  <a:lnTo>
                    <a:pt x="812912" y="73772"/>
                  </a:lnTo>
                  <a:lnTo>
                    <a:pt x="771830" y="52026"/>
                  </a:lnTo>
                  <a:lnTo>
                    <a:pt x="728750" y="33806"/>
                  </a:lnTo>
                  <a:lnTo>
                    <a:pt x="683861" y="19302"/>
                  </a:lnTo>
                  <a:lnTo>
                    <a:pt x="637356" y="8706"/>
                  </a:lnTo>
                  <a:lnTo>
                    <a:pt x="589424" y="2208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28344" y="3784091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0" y="540257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7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6" y="540257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7" y="1080515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7"/>
                  </a:lnTo>
                  <a:close/>
                </a:path>
              </a:pathLst>
            </a:custGeom>
            <a:ln w="76200">
              <a:solidFill>
                <a:srgbClr val="8E0F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83182" y="3973195"/>
            <a:ext cx="371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490" dirty="0">
                <a:solidFill>
                  <a:srgbClr val="8E0F6A"/>
                </a:solidFill>
                <a:latin typeface="Lucida Sans"/>
                <a:cs typeface="Lucida Sans"/>
              </a:rPr>
              <a:t>C</a:t>
            </a:r>
            <a:endParaRPr sz="44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7677" y="3888181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0" dirty="0">
                <a:solidFill>
                  <a:srgbClr val="FFFFFF"/>
                </a:solidFill>
                <a:latin typeface="メイリオ"/>
                <a:cs typeface="メイリオ"/>
              </a:rPr>
              <a:t>方程式とは</a:t>
            </a:r>
            <a:endParaRPr sz="44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3073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方程式とは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22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9251" y="2829915"/>
            <a:ext cx="8265159" cy="2037714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40"/>
              </a:spcBef>
              <a:tabLst>
                <a:tab pos="2655570" algn="l"/>
              </a:tabLst>
            </a:pPr>
            <a:r>
              <a:rPr sz="4400" b="1" dirty="0">
                <a:solidFill>
                  <a:srgbClr val="AC1381"/>
                </a:solidFill>
                <a:latin typeface="メイリオ"/>
                <a:cs typeface="メイリオ"/>
              </a:rPr>
              <a:t>方程式</a:t>
            </a:r>
            <a:r>
              <a:rPr sz="4400" b="1" spc="-10" dirty="0">
                <a:solidFill>
                  <a:srgbClr val="AC1381"/>
                </a:solidFill>
                <a:latin typeface="メイリオ"/>
                <a:cs typeface="メイリオ"/>
              </a:rPr>
              <a:t> </a:t>
            </a:r>
            <a:r>
              <a:rPr sz="4400" b="1" spc="-50" dirty="0">
                <a:latin typeface="メイリオ"/>
                <a:cs typeface="メイリオ"/>
              </a:rPr>
              <a:t>=</a:t>
            </a:r>
            <a:r>
              <a:rPr sz="4400" b="1" dirty="0">
                <a:latin typeface="メイリオ"/>
                <a:cs typeface="メイリオ"/>
              </a:rPr>
              <a:t>	まだ分かっていな</a:t>
            </a:r>
            <a:r>
              <a:rPr sz="4400" b="1" spc="-50" dirty="0">
                <a:latin typeface="メイリオ"/>
                <a:cs typeface="メイリオ"/>
              </a:rPr>
              <a:t>い</a:t>
            </a:r>
            <a:endParaRPr sz="4400">
              <a:latin typeface="メイリオ"/>
              <a:cs typeface="メイリオ"/>
            </a:endParaRPr>
          </a:p>
          <a:p>
            <a:pPr marL="2656205">
              <a:lnSpc>
                <a:spcPct val="100000"/>
              </a:lnSpc>
              <a:spcBef>
                <a:spcPts val="2640"/>
              </a:spcBef>
            </a:pPr>
            <a:r>
              <a:rPr sz="4400" b="1" dirty="0">
                <a:latin typeface="メイリオ"/>
                <a:cs typeface="メイリオ"/>
              </a:rPr>
              <a:t>値（文字）</a:t>
            </a:r>
            <a:r>
              <a:rPr sz="4400" b="1" spc="-10" dirty="0">
                <a:latin typeface="メイリオ"/>
                <a:cs typeface="メイリオ"/>
              </a:rPr>
              <a:t>を含む等式</a:t>
            </a:r>
            <a:endParaRPr sz="4400">
              <a:latin typeface="メイリオ"/>
              <a:cs typeface="メイリオ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31514" y="6521957"/>
            <a:ext cx="8460740" cy="0"/>
          </a:xfrm>
          <a:custGeom>
            <a:avLst/>
            <a:gdLst/>
            <a:ahLst/>
            <a:cxnLst/>
            <a:rect l="l" t="t" r="r" b="b"/>
            <a:pathLst>
              <a:path w="8460740">
                <a:moveTo>
                  <a:pt x="0" y="0"/>
                </a:moveTo>
                <a:lnTo>
                  <a:pt x="8460486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14256" y="6560311"/>
            <a:ext cx="3200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A6A6A6"/>
                </a:solidFill>
                <a:latin typeface="メイリオ"/>
                <a:cs typeface="メイリオ"/>
              </a:rPr>
              <a:t>※等式は「=」「で結ばれた式のことを指す。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3073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方程式とは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23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8313" y="2695194"/>
            <a:ext cx="3686810" cy="2641600"/>
          </a:xfrm>
          <a:custGeom>
            <a:avLst/>
            <a:gdLst/>
            <a:ahLst/>
            <a:cxnLst/>
            <a:rect l="l" t="t" r="r" b="b"/>
            <a:pathLst>
              <a:path w="3686810" h="2641600">
                <a:moveTo>
                  <a:pt x="0" y="2641091"/>
                </a:moveTo>
                <a:lnTo>
                  <a:pt x="3686555" y="2641091"/>
                </a:lnTo>
                <a:lnTo>
                  <a:pt x="3686555" y="0"/>
                </a:lnTo>
                <a:lnTo>
                  <a:pt x="0" y="0"/>
                </a:lnTo>
                <a:lnTo>
                  <a:pt x="0" y="2641091"/>
                </a:lnTo>
                <a:close/>
              </a:path>
            </a:pathLst>
          </a:custGeom>
          <a:ln w="28575">
            <a:solidFill>
              <a:srgbClr val="AC13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8313" y="2695194"/>
            <a:ext cx="1839595" cy="609600"/>
          </a:xfrm>
          <a:prstGeom prst="rect">
            <a:avLst/>
          </a:prstGeom>
          <a:solidFill>
            <a:srgbClr val="AC1381"/>
          </a:solidFill>
          <a:ln w="28575">
            <a:solidFill>
              <a:srgbClr val="AC1381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595"/>
              </a:spcBef>
            </a:pPr>
            <a:r>
              <a:rPr sz="2400" b="1" spc="-10" dirty="0">
                <a:solidFill>
                  <a:srgbClr val="FFFFFF"/>
                </a:solidFill>
                <a:latin typeface="メイリオ"/>
                <a:cs typeface="メイリオ"/>
              </a:rPr>
              <a:t>方程式の例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5636" y="3379089"/>
            <a:ext cx="1832610" cy="168592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56540" indent="-23114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56540" algn="l"/>
              </a:tabLst>
            </a:pPr>
            <a:r>
              <a:rPr sz="2400" u="sng" spc="-185" dirty="0">
                <a:solidFill>
                  <a:srgbClr val="AC1381"/>
                </a:solidFill>
                <a:uFill>
                  <a:solidFill>
                    <a:srgbClr val="7E7E7E"/>
                  </a:solidFill>
                </a:uFill>
                <a:latin typeface="Cambria Math"/>
                <a:cs typeface="Cambria Math"/>
              </a:rPr>
              <a:t> </a:t>
            </a:r>
            <a:r>
              <a:rPr sz="2400" u="sng" dirty="0">
                <a:solidFill>
                  <a:srgbClr val="AC1381"/>
                </a:solidFill>
                <a:uFill>
                  <a:solidFill>
                    <a:srgbClr val="7E7E7E"/>
                  </a:solidFill>
                </a:uFill>
                <a:latin typeface="Cambria Math"/>
                <a:cs typeface="Cambria Math"/>
              </a:rPr>
              <a:t>𝒙</a:t>
            </a:r>
            <a:r>
              <a:rPr sz="2400" u="sng" spc="-85" dirty="0">
                <a:solidFill>
                  <a:srgbClr val="AC1381"/>
                </a:solidFill>
                <a:uFill>
                  <a:solidFill>
                    <a:srgbClr val="7E7E7E"/>
                  </a:solidFill>
                </a:uFill>
                <a:latin typeface="Cambria Math"/>
                <a:cs typeface="Cambria Math"/>
              </a:rPr>
              <a:t> </a:t>
            </a:r>
            <a:r>
              <a:rPr sz="2400" u="none" dirty="0">
                <a:solidFill>
                  <a:srgbClr val="AC1381"/>
                </a:solidFill>
                <a:latin typeface="Cambria Math"/>
                <a:cs typeface="Cambria Math"/>
              </a:rPr>
              <a:t>+</a:t>
            </a:r>
            <a:r>
              <a:rPr sz="2400" u="none" spc="-1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400" u="none" dirty="0">
                <a:solidFill>
                  <a:srgbClr val="AC1381"/>
                </a:solidFill>
                <a:latin typeface="Cambria Math"/>
                <a:cs typeface="Cambria Math"/>
              </a:rPr>
              <a:t>𝟓</a:t>
            </a:r>
            <a:r>
              <a:rPr sz="2400" u="none" spc="130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400" u="none" dirty="0">
                <a:solidFill>
                  <a:srgbClr val="AC1381"/>
                </a:solidFill>
                <a:latin typeface="Cambria Math"/>
                <a:cs typeface="Cambria Math"/>
              </a:rPr>
              <a:t>=</a:t>
            </a:r>
            <a:r>
              <a:rPr sz="2400" u="none" spc="130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400" u="none" spc="-50" dirty="0">
                <a:solidFill>
                  <a:srgbClr val="AC1381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  <a:p>
            <a:pPr marL="311785" indent="-28638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11785" algn="l"/>
              </a:tabLst>
            </a:pPr>
            <a:r>
              <a:rPr sz="2400" dirty="0">
                <a:solidFill>
                  <a:srgbClr val="AC1381"/>
                </a:solidFill>
                <a:latin typeface="Cambria Math"/>
                <a:cs typeface="Cambria Math"/>
              </a:rPr>
              <a:t>𝟔</a:t>
            </a:r>
            <a:r>
              <a:rPr sz="2400" spc="-10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AC1381"/>
                </a:solidFill>
                <a:latin typeface="Cambria Math"/>
                <a:cs typeface="Cambria Math"/>
              </a:rPr>
              <a:t>−</a:t>
            </a:r>
            <a:r>
              <a:rPr sz="2400" spc="-1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400" spc="-450" dirty="0">
                <a:solidFill>
                  <a:srgbClr val="AC1381"/>
                </a:solidFill>
                <a:latin typeface="Cambria Math"/>
                <a:cs typeface="Cambria Math"/>
              </a:rPr>
              <a:t>𝟐</a:t>
            </a:r>
            <a:r>
              <a:rPr sz="2400" u="sng" spc="-175" dirty="0">
                <a:solidFill>
                  <a:srgbClr val="AC1381"/>
                </a:solidFill>
                <a:uFill>
                  <a:solidFill>
                    <a:srgbClr val="7E7E7E"/>
                  </a:solidFill>
                </a:uFill>
                <a:latin typeface="Cambria Math"/>
                <a:cs typeface="Cambria Math"/>
              </a:rPr>
              <a:t> </a:t>
            </a:r>
            <a:r>
              <a:rPr sz="2400" u="sng" dirty="0">
                <a:solidFill>
                  <a:srgbClr val="AC1381"/>
                </a:solidFill>
                <a:uFill>
                  <a:solidFill>
                    <a:srgbClr val="7E7E7E"/>
                  </a:solidFill>
                </a:uFill>
                <a:latin typeface="Cambria Math"/>
                <a:cs typeface="Cambria Math"/>
              </a:rPr>
              <a:t>𝒙</a:t>
            </a:r>
            <a:r>
              <a:rPr sz="2400" u="sng" spc="-95" dirty="0">
                <a:solidFill>
                  <a:srgbClr val="AC1381"/>
                </a:solidFill>
                <a:uFill>
                  <a:solidFill>
                    <a:srgbClr val="7E7E7E"/>
                  </a:solidFill>
                </a:uFill>
                <a:latin typeface="Cambria Math"/>
                <a:cs typeface="Cambria Math"/>
              </a:rPr>
              <a:t> </a:t>
            </a:r>
            <a:r>
              <a:rPr sz="2400" u="none" dirty="0">
                <a:solidFill>
                  <a:srgbClr val="AC1381"/>
                </a:solidFill>
                <a:latin typeface="Cambria Math"/>
                <a:cs typeface="Cambria Math"/>
              </a:rPr>
              <a:t>=</a:t>
            </a:r>
            <a:r>
              <a:rPr sz="2400" u="none" spc="130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400" u="none" spc="-50" dirty="0">
                <a:solidFill>
                  <a:srgbClr val="AC1381"/>
                </a:solidFill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  <a:p>
            <a:pPr marL="311785" indent="-286385">
              <a:lnSpc>
                <a:spcPct val="100000"/>
              </a:lnSpc>
              <a:spcBef>
                <a:spcPts val="1550"/>
              </a:spcBef>
              <a:buFont typeface="Arial"/>
              <a:buChar char="•"/>
              <a:tabLst>
                <a:tab pos="311785" algn="l"/>
              </a:tabLst>
            </a:pPr>
            <a:r>
              <a:rPr sz="2400" dirty="0">
                <a:solidFill>
                  <a:srgbClr val="AC1381"/>
                </a:solidFill>
                <a:latin typeface="Cambria Math"/>
                <a:cs typeface="Cambria Math"/>
              </a:rPr>
              <a:t>𝒙</a:t>
            </a:r>
            <a:r>
              <a:rPr sz="2625" baseline="28571" dirty="0">
                <a:solidFill>
                  <a:srgbClr val="AC1381"/>
                </a:solidFill>
                <a:latin typeface="Cambria Math"/>
                <a:cs typeface="Cambria Math"/>
              </a:rPr>
              <a:t>𝟐</a:t>
            </a:r>
            <a:r>
              <a:rPr sz="2625" spc="532" baseline="28571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AC1381"/>
                </a:solidFill>
                <a:latin typeface="Cambria Math"/>
                <a:cs typeface="Cambria Math"/>
              </a:rPr>
              <a:t>=</a:t>
            </a:r>
            <a:r>
              <a:rPr sz="2400" spc="12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AC1381"/>
                </a:solidFill>
                <a:latin typeface="Cambria Math"/>
                <a:cs typeface="Cambria Math"/>
              </a:rPr>
              <a:t>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50564" y="4674870"/>
            <a:ext cx="622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AC1381"/>
                </a:solidFill>
                <a:latin typeface="メイリオ"/>
                <a:cs typeface="メイリオ"/>
              </a:rPr>
              <a:t>など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27091" y="3764279"/>
            <a:ext cx="600710" cy="489584"/>
          </a:xfrm>
          <a:custGeom>
            <a:avLst/>
            <a:gdLst/>
            <a:ahLst/>
            <a:cxnLst/>
            <a:rect l="l" t="t" r="r" b="b"/>
            <a:pathLst>
              <a:path w="600710" h="489585">
                <a:moveTo>
                  <a:pt x="355854" y="0"/>
                </a:moveTo>
                <a:lnTo>
                  <a:pt x="355854" y="122301"/>
                </a:lnTo>
                <a:lnTo>
                  <a:pt x="0" y="122301"/>
                </a:lnTo>
                <a:lnTo>
                  <a:pt x="0" y="366903"/>
                </a:lnTo>
                <a:lnTo>
                  <a:pt x="355854" y="366903"/>
                </a:lnTo>
                <a:lnTo>
                  <a:pt x="355854" y="489204"/>
                </a:lnTo>
                <a:lnTo>
                  <a:pt x="600456" y="244602"/>
                </a:lnTo>
                <a:lnTo>
                  <a:pt x="3558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93689" y="3373907"/>
            <a:ext cx="4965065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900"/>
              </a:lnSpc>
              <a:spcBef>
                <a:spcPts val="100"/>
              </a:spcBef>
            </a:pPr>
            <a:r>
              <a:rPr sz="2800" b="1" spc="-35" dirty="0">
                <a:latin typeface="メイリオ"/>
                <a:cs typeface="メイリオ"/>
              </a:rPr>
              <a:t>ここで、</a:t>
            </a:r>
            <a:r>
              <a:rPr sz="2800" dirty="0">
                <a:latin typeface="Cambria Math"/>
                <a:cs typeface="Cambria Math"/>
              </a:rPr>
              <a:t>𝒙 </a:t>
            </a:r>
            <a:r>
              <a:rPr sz="2800" b="1" spc="-40" dirty="0">
                <a:latin typeface="メイリオ"/>
                <a:cs typeface="メイリオ"/>
              </a:rPr>
              <a:t>の値を求めることを方程式を「解く」という</a:t>
            </a:r>
            <a:endParaRPr sz="2800">
              <a:latin typeface="メイリオ"/>
              <a:cs typeface="メイリオ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69542" y="5034153"/>
            <a:ext cx="297180" cy="518159"/>
            <a:chOff x="1669542" y="5034153"/>
            <a:chExt cx="297180" cy="518159"/>
          </a:xfrm>
        </p:grpSpPr>
        <p:sp>
          <p:nvSpPr>
            <p:cNvPr id="17" name="object 17"/>
            <p:cNvSpPr/>
            <p:nvPr/>
          </p:nvSpPr>
          <p:spPr>
            <a:xfrm>
              <a:off x="1678686" y="5043678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8036" y="0"/>
                  </a:lnTo>
                </a:path>
              </a:pathLst>
            </a:custGeom>
            <a:ln w="1905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69542" y="5043678"/>
              <a:ext cx="180975" cy="508634"/>
            </a:xfrm>
            <a:custGeom>
              <a:avLst/>
              <a:gdLst/>
              <a:ahLst/>
              <a:cxnLst/>
              <a:rect l="l" t="t" r="r" b="b"/>
              <a:pathLst>
                <a:path w="180975" h="508635">
                  <a:moveTo>
                    <a:pt x="142852" y="36258"/>
                  </a:moveTo>
                  <a:lnTo>
                    <a:pt x="129165" y="49398"/>
                  </a:lnTo>
                  <a:lnTo>
                    <a:pt x="0" y="503428"/>
                  </a:lnTo>
                  <a:lnTo>
                    <a:pt x="18287" y="508635"/>
                  </a:lnTo>
                  <a:lnTo>
                    <a:pt x="147499" y="54443"/>
                  </a:lnTo>
                  <a:lnTo>
                    <a:pt x="142852" y="36258"/>
                  </a:lnTo>
                  <a:close/>
                </a:path>
                <a:path w="180975" h="508635">
                  <a:moveTo>
                    <a:pt x="157127" y="15494"/>
                  </a:moveTo>
                  <a:lnTo>
                    <a:pt x="138810" y="15494"/>
                  </a:lnTo>
                  <a:lnTo>
                    <a:pt x="157099" y="20701"/>
                  </a:lnTo>
                  <a:lnTo>
                    <a:pt x="147499" y="54443"/>
                  </a:lnTo>
                  <a:lnTo>
                    <a:pt x="160655" y="105918"/>
                  </a:lnTo>
                  <a:lnTo>
                    <a:pt x="161925" y="110998"/>
                  </a:lnTo>
                  <a:lnTo>
                    <a:pt x="167131" y="114173"/>
                  </a:lnTo>
                  <a:lnTo>
                    <a:pt x="172212" y="112776"/>
                  </a:lnTo>
                  <a:lnTo>
                    <a:pt x="177291" y="111506"/>
                  </a:lnTo>
                  <a:lnTo>
                    <a:pt x="180466" y="106299"/>
                  </a:lnTo>
                  <a:lnTo>
                    <a:pt x="179069" y="101219"/>
                  </a:lnTo>
                  <a:lnTo>
                    <a:pt x="157127" y="15494"/>
                  </a:lnTo>
                  <a:close/>
                </a:path>
                <a:path w="180975" h="508635">
                  <a:moveTo>
                    <a:pt x="153162" y="0"/>
                  </a:moveTo>
                  <a:lnTo>
                    <a:pt x="77724" y="72390"/>
                  </a:lnTo>
                  <a:lnTo>
                    <a:pt x="74040" y="76073"/>
                  </a:lnTo>
                  <a:lnTo>
                    <a:pt x="73913" y="82042"/>
                  </a:lnTo>
                  <a:lnTo>
                    <a:pt x="77469" y="85852"/>
                  </a:lnTo>
                  <a:lnTo>
                    <a:pt x="81152" y="89662"/>
                  </a:lnTo>
                  <a:lnTo>
                    <a:pt x="87121" y="89789"/>
                  </a:lnTo>
                  <a:lnTo>
                    <a:pt x="129165" y="49398"/>
                  </a:lnTo>
                  <a:lnTo>
                    <a:pt x="138810" y="15494"/>
                  </a:lnTo>
                  <a:lnTo>
                    <a:pt x="157127" y="15494"/>
                  </a:lnTo>
                  <a:lnTo>
                    <a:pt x="153162" y="0"/>
                  </a:lnTo>
                  <a:close/>
                </a:path>
                <a:path w="180975" h="508635">
                  <a:moveTo>
                    <a:pt x="156206" y="20447"/>
                  </a:moveTo>
                  <a:lnTo>
                    <a:pt x="138810" y="20447"/>
                  </a:lnTo>
                  <a:lnTo>
                    <a:pt x="154558" y="25019"/>
                  </a:lnTo>
                  <a:lnTo>
                    <a:pt x="142852" y="36258"/>
                  </a:lnTo>
                  <a:lnTo>
                    <a:pt x="147499" y="54443"/>
                  </a:lnTo>
                  <a:lnTo>
                    <a:pt x="157099" y="20701"/>
                  </a:lnTo>
                  <a:lnTo>
                    <a:pt x="156206" y="20447"/>
                  </a:lnTo>
                  <a:close/>
                </a:path>
                <a:path w="180975" h="508635">
                  <a:moveTo>
                    <a:pt x="138810" y="15494"/>
                  </a:moveTo>
                  <a:lnTo>
                    <a:pt x="129165" y="49398"/>
                  </a:lnTo>
                  <a:lnTo>
                    <a:pt x="142852" y="36258"/>
                  </a:lnTo>
                  <a:lnTo>
                    <a:pt x="138875" y="20701"/>
                  </a:lnTo>
                  <a:lnTo>
                    <a:pt x="138810" y="20447"/>
                  </a:lnTo>
                  <a:lnTo>
                    <a:pt x="156206" y="20447"/>
                  </a:lnTo>
                  <a:lnTo>
                    <a:pt x="138810" y="15494"/>
                  </a:lnTo>
                  <a:close/>
                </a:path>
                <a:path w="180975" h="508635">
                  <a:moveTo>
                    <a:pt x="138810" y="20447"/>
                  </a:moveTo>
                  <a:lnTo>
                    <a:pt x="142852" y="36258"/>
                  </a:lnTo>
                  <a:lnTo>
                    <a:pt x="154558" y="25019"/>
                  </a:lnTo>
                  <a:lnTo>
                    <a:pt x="138810" y="2044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1336" y="5595315"/>
            <a:ext cx="21488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7E7E7E"/>
                </a:solidFill>
                <a:latin typeface="Cambria Math"/>
                <a:cs typeface="Cambria Math"/>
              </a:rPr>
              <a:t>𝒙</a:t>
            </a:r>
            <a:r>
              <a:rPr sz="1400" spc="200" dirty="0">
                <a:solidFill>
                  <a:srgbClr val="7E7E7E"/>
                </a:solidFill>
                <a:latin typeface="Cambria Math"/>
                <a:cs typeface="Cambria Math"/>
              </a:rPr>
              <a:t> </a:t>
            </a:r>
            <a:r>
              <a:rPr sz="1400" b="1" spc="-20" dirty="0">
                <a:solidFill>
                  <a:srgbClr val="7E7E7E"/>
                </a:solidFill>
                <a:latin typeface="メイリオ"/>
                <a:cs typeface="メイリオ"/>
              </a:rPr>
              <a:t>がまだ分かっていない値</a:t>
            </a:r>
            <a:endParaRPr sz="14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3073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方程式とは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24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5464" y="3529329"/>
            <a:ext cx="8559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latin typeface="メイリオ"/>
                <a:cs typeface="メイリオ"/>
              </a:rPr>
              <a:t>実際に方程式を解いてみよう！</a:t>
            </a:r>
            <a:endParaRPr sz="48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12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パズル：方程式を解く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86802" y="2002726"/>
            <a:ext cx="2188210" cy="2188210"/>
            <a:chOff x="1086802" y="2002726"/>
            <a:chExt cx="2188210" cy="2188210"/>
          </a:xfrm>
        </p:grpSpPr>
        <p:sp>
          <p:nvSpPr>
            <p:cNvPr id="11" name="object 11"/>
            <p:cNvSpPr/>
            <p:nvPr/>
          </p:nvSpPr>
          <p:spPr>
            <a:xfrm>
              <a:off x="1101089" y="2017014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2159508" y="0"/>
                  </a:moveTo>
                  <a:lnTo>
                    <a:pt x="0" y="0"/>
                  </a:lnTo>
                  <a:lnTo>
                    <a:pt x="0" y="2159507"/>
                  </a:lnTo>
                  <a:lnTo>
                    <a:pt x="2159508" y="2159507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AC13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1089" y="2017014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2159507"/>
                  </a:moveTo>
                  <a:lnTo>
                    <a:pt x="2159508" y="2159507"/>
                  </a:lnTo>
                  <a:lnTo>
                    <a:pt x="2159508" y="0"/>
                  </a:lnTo>
                  <a:lnTo>
                    <a:pt x="0" y="0"/>
                  </a:lnTo>
                  <a:lnTo>
                    <a:pt x="0" y="215950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01089" y="2017014"/>
            <a:ext cx="1080770" cy="539750"/>
          </a:xfrm>
          <a:prstGeom prst="rect">
            <a:avLst/>
          </a:prstGeom>
          <a:solidFill>
            <a:srgbClr val="AC1381"/>
          </a:solidFill>
          <a:ln w="2857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問題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77602" y="2002726"/>
            <a:ext cx="2190115" cy="2188210"/>
            <a:chOff x="3677602" y="2002726"/>
            <a:chExt cx="2190115" cy="2188210"/>
          </a:xfrm>
        </p:grpSpPr>
        <p:sp>
          <p:nvSpPr>
            <p:cNvPr id="15" name="object 15"/>
            <p:cNvSpPr/>
            <p:nvPr/>
          </p:nvSpPr>
          <p:spPr>
            <a:xfrm>
              <a:off x="3691890" y="2017014"/>
              <a:ext cx="2161540" cy="2159635"/>
            </a:xfrm>
            <a:custGeom>
              <a:avLst/>
              <a:gdLst/>
              <a:ahLst/>
              <a:cxnLst/>
              <a:rect l="l" t="t" r="r" b="b"/>
              <a:pathLst>
                <a:path w="2161540" h="2159635">
                  <a:moveTo>
                    <a:pt x="2161032" y="0"/>
                  </a:moveTo>
                  <a:lnTo>
                    <a:pt x="0" y="0"/>
                  </a:lnTo>
                  <a:lnTo>
                    <a:pt x="0" y="2159507"/>
                  </a:lnTo>
                  <a:lnTo>
                    <a:pt x="2161032" y="2159507"/>
                  </a:lnTo>
                  <a:lnTo>
                    <a:pt x="2161032" y="0"/>
                  </a:lnTo>
                  <a:close/>
                </a:path>
              </a:pathLst>
            </a:custGeom>
            <a:solidFill>
              <a:srgbClr val="AC13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91890" y="2017014"/>
              <a:ext cx="2161540" cy="2159635"/>
            </a:xfrm>
            <a:custGeom>
              <a:avLst/>
              <a:gdLst/>
              <a:ahLst/>
              <a:cxnLst/>
              <a:rect l="l" t="t" r="r" b="b"/>
              <a:pathLst>
                <a:path w="2161540" h="2159635">
                  <a:moveTo>
                    <a:pt x="0" y="2159507"/>
                  </a:moveTo>
                  <a:lnTo>
                    <a:pt x="2161032" y="2159507"/>
                  </a:lnTo>
                  <a:lnTo>
                    <a:pt x="2161032" y="0"/>
                  </a:lnTo>
                  <a:lnTo>
                    <a:pt x="0" y="0"/>
                  </a:lnTo>
                  <a:lnTo>
                    <a:pt x="0" y="215950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91890" y="2017014"/>
            <a:ext cx="1080770" cy="539750"/>
          </a:xfrm>
          <a:prstGeom prst="rect">
            <a:avLst/>
          </a:prstGeom>
          <a:solidFill>
            <a:srgbClr val="AC1381"/>
          </a:solidFill>
          <a:ln w="2857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問題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69926" y="2002726"/>
            <a:ext cx="2188210" cy="2188210"/>
            <a:chOff x="6269926" y="2002726"/>
            <a:chExt cx="2188210" cy="2188210"/>
          </a:xfrm>
        </p:grpSpPr>
        <p:sp>
          <p:nvSpPr>
            <p:cNvPr id="19" name="object 19"/>
            <p:cNvSpPr/>
            <p:nvPr/>
          </p:nvSpPr>
          <p:spPr>
            <a:xfrm>
              <a:off x="6284214" y="2017014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4" h="2159635">
                  <a:moveTo>
                    <a:pt x="2159508" y="0"/>
                  </a:moveTo>
                  <a:lnTo>
                    <a:pt x="0" y="0"/>
                  </a:lnTo>
                  <a:lnTo>
                    <a:pt x="0" y="2159507"/>
                  </a:lnTo>
                  <a:lnTo>
                    <a:pt x="2159508" y="2159507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AC13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84214" y="2017014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4" h="2159635">
                  <a:moveTo>
                    <a:pt x="0" y="2159507"/>
                  </a:moveTo>
                  <a:lnTo>
                    <a:pt x="2159508" y="2159507"/>
                  </a:lnTo>
                  <a:lnTo>
                    <a:pt x="2159508" y="0"/>
                  </a:lnTo>
                  <a:lnTo>
                    <a:pt x="0" y="0"/>
                  </a:lnTo>
                  <a:lnTo>
                    <a:pt x="0" y="215950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84214" y="2017014"/>
            <a:ext cx="1080770" cy="539750"/>
          </a:xfrm>
          <a:prstGeom prst="rect">
            <a:avLst/>
          </a:prstGeom>
          <a:solidFill>
            <a:srgbClr val="AC1381"/>
          </a:solidFill>
          <a:ln w="2857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問題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860726" y="2002726"/>
            <a:ext cx="2190115" cy="2188210"/>
            <a:chOff x="8860726" y="2002726"/>
            <a:chExt cx="2190115" cy="2188210"/>
          </a:xfrm>
        </p:grpSpPr>
        <p:sp>
          <p:nvSpPr>
            <p:cNvPr id="23" name="object 23"/>
            <p:cNvSpPr/>
            <p:nvPr/>
          </p:nvSpPr>
          <p:spPr>
            <a:xfrm>
              <a:off x="8875014" y="2017014"/>
              <a:ext cx="2161540" cy="2159635"/>
            </a:xfrm>
            <a:custGeom>
              <a:avLst/>
              <a:gdLst/>
              <a:ahLst/>
              <a:cxnLst/>
              <a:rect l="l" t="t" r="r" b="b"/>
              <a:pathLst>
                <a:path w="2161540" h="2159635">
                  <a:moveTo>
                    <a:pt x="2161031" y="0"/>
                  </a:moveTo>
                  <a:lnTo>
                    <a:pt x="0" y="0"/>
                  </a:lnTo>
                  <a:lnTo>
                    <a:pt x="0" y="2159507"/>
                  </a:lnTo>
                  <a:lnTo>
                    <a:pt x="2161031" y="2159507"/>
                  </a:lnTo>
                  <a:lnTo>
                    <a:pt x="2161031" y="0"/>
                  </a:lnTo>
                  <a:close/>
                </a:path>
              </a:pathLst>
            </a:custGeom>
            <a:solidFill>
              <a:srgbClr val="AC13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75014" y="2017014"/>
              <a:ext cx="2161540" cy="2159635"/>
            </a:xfrm>
            <a:custGeom>
              <a:avLst/>
              <a:gdLst/>
              <a:ahLst/>
              <a:cxnLst/>
              <a:rect l="l" t="t" r="r" b="b"/>
              <a:pathLst>
                <a:path w="2161540" h="2159635">
                  <a:moveTo>
                    <a:pt x="0" y="2159507"/>
                  </a:moveTo>
                  <a:lnTo>
                    <a:pt x="2161031" y="2159507"/>
                  </a:lnTo>
                  <a:lnTo>
                    <a:pt x="2161031" y="0"/>
                  </a:lnTo>
                  <a:lnTo>
                    <a:pt x="0" y="0"/>
                  </a:lnTo>
                  <a:lnTo>
                    <a:pt x="0" y="215950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75014" y="2017014"/>
            <a:ext cx="1080770" cy="539750"/>
          </a:xfrm>
          <a:prstGeom prst="rect">
            <a:avLst/>
          </a:prstGeom>
          <a:solidFill>
            <a:srgbClr val="AC1381"/>
          </a:solidFill>
          <a:ln w="2857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問題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9641" y="3572382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02048" y="2832353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𝟔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𝟐𝒙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88175" y="2839973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27777" dirty="0">
                <a:latin typeface="Cambria Math"/>
                <a:cs typeface="Cambria Math"/>
              </a:rPr>
              <a:t>𝟐</a:t>
            </a:r>
            <a:r>
              <a:rPr sz="1950" spc="405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93885" y="2832353"/>
            <a:ext cx="1924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(𝒙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𝟏)(𝒙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𝟐)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23541" y="5247538"/>
            <a:ext cx="73450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メイリオ"/>
                <a:cs typeface="メイリオ"/>
              </a:rPr>
              <a:t>どこまで解けるかな？</a:t>
            </a:r>
            <a:r>
              <a:rPr sz="3200" b="1" spc="-10" dirty="0">
                <a:latin typeface="メイリオ"/>
                <a:cs typeface="メイリオ"/>
              </a:rPr>
              <a:t>（難易度順です</a:t>
            </a:r>
            <a:r>
              <a:rPr sz="3200" b="1" spc="-50" dirty="0">
                <a:latin typeface="メイリオ"/>
                <a:cs typeface="メイリオ"/>
              </a:rPr>
              <a:t>）</a:t>
            </a:r>
            <a:endParaRPr sz="3200">
              <a:latin typeface="メイリオ"/>
              <a:cs typeface="メイリオ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69592" y="3267455"/>
            <a:ext cx="678180" cy="641985"/>
            <a:chOff x="2069592" y="3267455"/>
            <a:chExt cx="678180" cy="641985"/>
          </a:xfrm>
        </p:grpSpPr>
        <p:sp>
          <p:nvSpPr>
            <p:cNvPr id="32" name="object 32"/>
            <p:cNvSpPr/>
            <p:nvPr/>
          </p:nvSpPr>
          <p:spPr>
            <a:xfrm>
              <a:off x="2069592" y="3267455"/>
              <a:ext cx="220979" cy="173990"/>
            </a:xfrm>
            <a:custGeom>
              <a:avLst/>
              <a:gdLst/>
              <a:ahLst/>
              <a:cxnLst/>
              <a:rect l="l" t="t" r="r" b="b"/>
              <a:pathLst>
                <a:path w="220980" h="173989">
                  <a:moveTo>
                    <a:pt x="220980" y="0"/>
                  </a:moveTo>
                  <a:lnTo>
                    <a:pt x="0" y="0"/>
                  </a:lnTo>
                  <a:lnTo>
                    <a:pt x="110489" y="173736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80844" y="3584447"/>
              <a:ext cx="567055" cy="325120"/>
            </a:xfrm>
            <a:custGeom>
              <a:avLst/>
              <a:gdLst/>
              <a:ahLst/>
              <a:cxnLst/>
              <a:rect l="l" t="t" r="r" b="b"/>
              <a:pathLst>
                <a:path w="567055" h="325120">
                  <a:moveTo>
                    <a:pt x="566928" y="0"/>
                  </a:moveTo>
                  <a:lnTo>
                    <a:pt x="0" y="0"/>
                  </a:lnTo>
                  <a:lnTo>
                    <a:pt x="0" y="324612"/>
                  </a:lnTo>
                  <a:lnTo>
                    <a:pt x="566928" y="324612"/>
                  </a:lnTo>
                  <a:lnTo>
                    <a:pt x="566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660391" y="3267455"/>
            <a:ext cx="650875" cy="645160"/>
            <a:chOff x="4660391" y="3267455"/>
            <a:chExt cx="650875" cy="645160"/>
          </a:xfrm>
        </p:grpSpPr>
        <p:sp>
          <p:nvSpPr>
            <p:cNvPr id="35" name="object 35"/>
            <p:cNvSpPr/>
            <p:nvPr/>
          </p:nvSpPr>
          <p:spPr>
            <a:xfrm>
              <a:off x="4660391" y="3267455"/>
              <a:ext cx="222885" cy="173990"/>
            </a:xfrm>
            <a:custGeom>
              <a:avLst/>
              <a:gdLst/>
              <a:ahLst/>
              <a:cxnLst/>
              <a:rect l="l" t="t" r="r" b="b"/>
              <a:pathLst>
                <a:path w="222885" h="173989">
                  <a:moveTo>
                    <a:pt x="222504" y="0"/>
                  </a:moveTo>
                  <a:lnTo>
                    <a:pt x="0" y="0"/>
                  </a:lnTo>
                  <a:lnTo>
                    <a:pt x="111252" y="173736"/>
                  </a:lnTo>
                  <a:lnTo>
                    <a:pt x="222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44211" y="3589019"/>
              <a:ext cx="567055" cy="323215"/>
            </a:xfrm>
            <a:custGeom>
              <a:avLst/>
              <a:gdLst/>
              <a:ahLst/>
              <a:cxnLst/>
              <a:rect l="l" t="t" r="r" b="b"/>
              <a:pathLst>
                <a:path w="567054" h="323214">
                  <a:moveTo>
                    <a:pt x="566927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566927" y="323088"/>
                  </a:lnTo>
                  <a:lnTo>
                    <a:pt x="566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934200" y="3262884"/>
            <a:ext cx="567055" cy="649605"/>
            <a:chOff x="6934200" y="3262884"/>
            <a:chExt cx="567055" cy="649605"/>
          </a:xfrm>
        </p:grpSpPr>
        <p:sp>
          <p:nvSpPr>
            <p:cNvPr id="38" name="object 38"/>
            <p:cNvSpPr/>
            <p:nvPr/>
          </p:nvSpPr>
          <p:spPr>
            <a:xfrm>
              <a:off x="7252715" y="3262884"/>
              <a:ext cx="220979" cy="172720"/>
            </a:xfrm>
            <a:custGeom>
              <a:avLst/>
              <a:gdLst/>
              <a:ahLst/>
              <a:cxnLst/>
              <a:rect l="l" t="t" r="r" b="b"/>
              <a:pathLst>
                <a:path w="220979" h="172720">
                  <a:moveTo>
                    <a:pt x="220979" y="0"/>
                  </a:moveTo>
                  <a:lnTo>
                    <a:pt x="0" y="0"/>
                  </a:lnTo>
                  <a:lnTo>
                    <a:pt x="110489" y="172212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34200" y="3589020"/>
              <a:ext cx="567055" cy="323215"/>
            </a:xfrm>
            <a:custGeom>
              <a:avLst/>
              <a:gdLst/>
              <a:ahLst/>
              <a:cxnLst/>
              <a:rect l="l" t="t" r="r" b="b"/>
              <a:pathLst>
                <a:path w="567054" h="323214">
                  <a:moveTo>
                    <a:pt x="566927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566927" y="323088"/>
                  </a:lnTo>
                  <a:lnTo>
                    <a:pt x="566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9520428" y="3267455"/>
            <a:ext cx="567055" cy="649605"/>
            <a:chOff x="9520428" y="3267455"/>
            <a:chExt cx="567055" cy="649605"/>
          </a:xfrm>
        </p:grpSpPr>
        <p:sp>
          <p:nvSpPr>
            <p:cNvPr id="41" name="object 41"/>
            <p:cNvSpPr/>
            <p:nvPr/>
          </p:nvSpPr>
          <p:spPr>
            <a:xfrm>
              <a:off x="9843516" y="3267455"/>
              <a:ext cx="222885" cy="172720"/>
            </a:xfrm>
            <a:custGeom>
              <a:avLst/>
              <a:gdLst/>
              <a:ahLst/>
              <a:cxnLst/>
              <a:rect l="l" t="t" r="r" b="b"/>
              <a:pathLst>
                <a:path w="222884" h="172720">
                  <a:moveTo>
                    <a:pt x="222503" y="0"/>
                  </a:moveTo>
                  <a:lnTo>
                    <a:pt x="0" y="0"/>
                  </a:lnTo>
                  <a:lnTo>
                    <a:pt x="111251" y="172212"/>
                  </a:lnTo>
                  <a:lnTo>
                    <a:pt x="2225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20428" y="3593591"/>
              <a:ext cx="567055" cy="323215"/>
            </a:xfrm>
            <a:custGeom>
              <a:avLst/>
              <a:gdLst/>
              <a:ahLst/>
              <a:cxnLst/>
              <a:rect l="l" t="t" r="r" b="b"/>
              <a:pathLst>
                <a:path w="567054" h="323214">
                  <a:moveTo>
                    <a:pt x="566927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566927" y="323088"/>
                  </a:lnTo>
                  <a:lnTo>
                    <a:pt x="566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678939" y="2832353"/>
            <a:ext cx="1002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𝟓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63897" y="3576066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54902" y="3576066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62088" y="3627360"/>
            <a:ext cx="22860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b="1" spc="-50" dirty="0">
                <a:latin typeface="メイリオ"/>
                <a:cs typeface="メイリオ"/>
              </a:rPr>
              <a:t>、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719059" y="3584447"/>
            <a:ext cx="567055" cy="325120"/>
          </a:xfrm>
          <a:custGeom>
            <a:avLst/>
            <a:gdLst/>
            <a:ahLst/>
            <a:cxnLst/>
            <a:rect l="l" t="t" r="r" b="b"/>
            <a:pathLst>
              <a:path w="567054" h="325120">
                <a:moveTo>
                  <a:pt x="566927" y="0"/>
                </a:moveTo>
                <a:lnTo>
                  <a:pt x="0" y="0"/>
                </a:lnTo>
                <a:lnTo>
                  <a:pt x="0" y="324612"/>
                </a:lnTo>
                <a:lnTo>
                  <a:pt x="566927" y="324612"/>
                </a:lnTo>
                <a:lnTo>
                  <a:pt x="5669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9040748" y="3579952"/>
            <a:ext cx="391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148316" y="3631678"/>
            <a:ext cx="22860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b="1" spc="-50" dirty="0">
                <a:latin typeface="メイリオ"/>
                <a:cs typeface="メイリオ"/>
              </a:rPr>
              <a:t>、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305288" y="3589020"/>
            <a:ext cx="567055" cy="323215"/>
          </a:xfrm>
          <a:custGeom>
            <a:avLst/>
            <a:gdLst/>
            <a:ahLst/>
            <a:cxnLst/>
            <a:rect l="l" t="t" r="r" b="b"/>
            <a:pathLst>
              <a:path w="567054" h="323214">
                <a:moveTo>
                  <a:pt x="566927" y="0"/>
                </a:moveTo>
                <a:lnTo>
                  <a:pt x="0" y="0"/>
                </a:lnTo>
                <a:lnTo>
                  <a:pt x="0" y="323088"/>
                </a:lnTo>
                <a:lnTo>
                  <a:pt x="566927" y="323088"/>
                </a:lnTo>
                <a:lnTo>
                  <a:pt x="5669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69885" y="6521957"/>
            <a:ext cx="4722495" cy="0"/>
          </a:xfrm>
          <a:custGeom>
            <a:avLst/>
            <a:gdLst/>
            <a:ahLst/>
            <a:cxnLst/>
            <a:rect l="l" t="t" r="r" b="b"/>
            <a:pathLst>
              <a:path w="4722495">
                <a:moveTo>
                  <a:pt x="0" y="0"/>
                </a:moveTo>
                <a:lnTo>
                  <a:pt x="4722114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995534" y="6614794"/>
            <a:ext cx="460375" cy="141605"/>
          </a:xfrm>
          <a:custGeom>
            <a:avLst/>
            <a:gdLst/>
            <a:ahLst/>
            <a:cxnLst/>
            <a:rect l="l" t="t" r="r" b="b"/>
            <a:pathLst>
              <a:path w="460375" h="141604">
                <a:moveTo>
                  <a:pt x="415163" y="0"/>
                </a:moveTo>
                <a:lnTo>
                  <a:pt x="413131" y="5727"/>
                </a:lnTo>
                <a:lnTo>
                  <a:pt x="421322" y="9275"/>
                </a:lnTo>
                <a:lnTo>
                  <a:pt x="428371" y="14185"/>
                </a:lnTo>
                <a:lnTo>
                  <a:pt x="446749" y="57672"/>
                </a:lnTo>
                <a:lnTo>
                  <a:pt x="447294" y="69875"/>
                </a:lnTo>
                <a:lnTo>
                  <a:pt x="446770" y="82324"/>
                </a:lnTo>
                <a:lnTo>
                  <a:pt x="434173" y="120553"/>
                </a:lnTo>
                <a:lnTo>
                  <a:pt x="413385" y="135428"/>
                </a:lnTo>
                <a:lnTo>
                  <a:pt x="415163" y="141159"/>
                </a:lnTo>
                <a:lnTo>
                  <a:pt x="448564" y="116490"/>
                </a:lnTo>
                <a:lnTo>
                  <a:pt x="460248" y="70611"/>
                </a:lnTo>
                <a:lnTo>
                  <a:pt x="459520" y="57828"/>
                </a:lnTo>
                <a:lnTo>
                  <a:pt x="442112" y="16062"/>
                </a:lnTo>
                <a:lnTo>
                  <a:pt x="425400" y="3690"/>
                </a:lnTo>
                <a:lnTo>
                  <a:pt x="415163" y="0"/>
                </a:lnTo>
                <a:close/>
              </a:path>
              <a:path w="460375" h="141604">
                <a:moveTo>
                  <a:pt x="45085" y="0"/>
                </a:moveTo>
                <a:lnTo>
                  <a:pt x="11684" y="24739"/>
                </a:lnTo>
                <a:lnTo>
                  <a:pt x="41" y="69875"/>
                </a:lnTo>
                <a:lnTo>
                  <a:pt x="0" y="70611"/>
                </a:lnTo>
                <a:lnTo>
                  <a:pt x="664" y="82324"/>
                </a:lnTo>
                <a:lnTo>
                  <a:pt x="736" y="83580"/>
                </a:lnTo>
                <a:lnTo>
                  <a:pt x="18135" y="125134"/>
                </a:lnTo>
                <a:lnTo>
                  <a:pt x="45085" y="141159"/>
                </a:lnTo>
                <a:lnTo>
                  <a:pt x="46863" y="135428"/>
                </a:lnTo>
                <a:lnTo>
                  <a:pt x="38838" y="131866"/>
                </a:lnTo>
                <a:lnTo>
                  <a:pt x="31908" y="126908"/>
                </a:lnTo>
                <a:lnTo>
                  <a:pt x="13477" y="82324"/>
                </a:lnTo>
                <a:lnTo>
                  <a:pt x="12954" y="69875"/>
                </a:lnTo>
                <a:lnTo>
                  <a:pt x="13477" y="57828"/>
                </a:lnTo>
                <a:lnTo>
                  <a:pt x="26078" y="20458"/>
                </a:lnTo>
                <a:lnTo>
                  <a:pt x="47117" y="5727"/>
                </a:lnTo>
                <a:lnTo>
                  <a:pt x="4508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877936" y="6564883"/>
            <a:ext cx="4235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※問題 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4</a:t>
            </a: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 の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(𝒙</a:t>
            </a:r>
            <a:r>
              <a:rPr sz="1200" spc="-5" dirty="0">
                <a:solidFill>
                  <a:srgbClr val="A6A6A6"/>
                </a:solidFill>
                <a:latin typeface="Cambria Math"/>
                <a:cs typeface="Cambria Math"/>
              </a:rPr>
              <a:t> −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𝟏)(𝒙</a:t>
            </a:r>
            <a:r>
              <a:rPr sz="1200" spc="-10" dirty="0">
                <a:solidFill>
                  <a:srgbClr val="A6A6A6"/>
                </a:solidFill>
                <a:latin typeface="Cambria Math"/>
                <a:cs typeface="Cambria Math"/>
              </a:rPr>
              <a:t> −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𝟐</a:t>
            </a:r>
            <a:r>
              <a:rPr sz="1200" spc="60" dirty="0">
                <a:solidFill>
                  <a:srgbClr val="A6A6A6"/>
                </a:solidFill>
                <a:latin typeface="Cambria Math"/>
                <a:cs typeface="Cambria Math"/>
              </a:rPr>
              <a:t>) </a:t>
            </a:r>
            <a:r>
              <a:rPr sz="1200" b="1" spc="245" dirty="0">
                <a:solidFill>
                  <a:srgbClr val="A6A6A6"/>
                </a:solidFill>
                <a:latin typeface="メイリオ"/>
                <a:cs typeface="メイリオ"/>
              </a:rPr>
              <a:t>は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-10" dirty="0">
                <a:solidFill>
                  <a:srgbClr val="A6A6A6"/>
                </a:solidFill>
                <a:latin typeface="Cambria Math"/>
                <a:cs typeface="Cambria Math"/>
              </a:rPr>
              <a:t> −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𝟏</a:t>
            </a:r>
            <a:r>
              <a:rPr sz="1200" spc="120" dirty="0">
                <a:solidFill>
                  <a:srgbClr val="A6A6A6"/>
                </a:solidFill>
                <a:latin typeface="Cambria Math"/>
                <a:cs typeface="Cambria Math"/>
              </a:rPr>
              <a:t> × (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-10" dirty="0">
                <a:solidFill>
                  <a:srgbClr val="A6A6A6"/>
                </a:solidFill>
                <a:latin typeface="Cambria Math"/>
                <a:cs typeface="Cambria Math"/>
              </a:rPr>
              <a:t> −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𝟐</a:t>
            </a:r>
            <a:r>
              <a:rPr sz="1200" spc="60" dirty="0">
                <a:solidFill>
                  <a:srgbClr val="A6A6A6"/>
                </a:solidFill>
                <a:latin typeface="Cambria Math"/>
                <a:cs typeface="Cambria Math"/>
              </a:rPr>
              <a:t>) </a:t>
            </a:r>
            <a:r>
              <a:rPr sz="1200" b="1" spc="-10" dirty="0">
                <a:solidFill>
                  <a:srgbClr val="A6A6A6"/>
                </a:solidFill>
                <a:latin typeface="メイリオ"/>
                <a:cs typeface="メイリオ"/>
              </a:rPr>
              <a:t>という意味。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12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パズル：方程式を解く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26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86802" y="2002726"/>
            <a:ext cx="2188210" cy="2188210"/>
            <a:chOff x="1086802" y="2002726"/>
            <a:chExt cx="2188210" cy="2188210"/>
          </a:xfrm>
        </p:grpSpPr>
        <p:sp>
          <p:nvSpPr>
            <p:cNvPr id="11" name="object 11"/>
            <p:cNvSpPr/>
            <p:nvPr/>
          </p:nvSpPr>
          <p:spPr>
            <a:xfrm>
              <a:off x="1101089" y="2017014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2159508" y="0"/>
                  </a:moveTo>
                  <a:lnTo>
                    <a:pt x="0" y="0"/>
                  </a:lnTo>
                  <a:lnTo>
                    <a:pt x="0" y="2159507"/>
                  </a:lnTo>
                  <a:lnTo>
                    <a:pt x="2159508" y="2159507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AC13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1089" y="2017014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2159507"/>
                  </a:moveTo>
                  <a:lnTo>
                    <a:pt x="2159508" y="2159507"/>
                  </a:lnTo>
                  <a:lnTo>
                    <a:pt x="2159508" y="0"/>
                  </a:lnTo>
                  <a:lnTo>
                    <a:pt x="0" y="0"/>
                  </a:lnTo>
                  <a:lnTo>
                    <a:pt x="0" y="215950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01089" y="2017014"/>
            <a:ext cx="1080770" cy="539750"/>
          </a:xfrm>
          <a:prstGeom prst="rect">
            <a:avLst/>
          </a:prstGeom>
          <a:solidFill>
            <a:srgbClr val="AC1381"/>
          </a:solidFill>
          <a:ln w="2857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問題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77602" y="2002726"/>
            <a:ext cx="2190115" cy="2188210"/>
            <a:chOff x="3677602" y="2002726"/>
            <a:chExt cx="2190115" cy="2188210"/>
          </a:xfrm>
        </p:grpSpPr>
        <p:sp>
          <p:nvSpPr>
            <p:cNvPr id="15" name="object 15"/>
            <p:cNvSpPr/>
            <p:nvPr/>
          </p:nvSpPr>
          <p:spPr>
            <a:xfrm>
              <a:off x="3691890" y="2017014"/>
              <a:ext cx="2161540" cy="2159635"/>
            </a:xfrm>
            <a:custGeom>
              <a:avLst/>
              <a:gdLst/>
              <a:ahLst/>
              <a:cxnLst/>
              <a:rect l="l" t="t" r="r" b="b"/>
              <a:pathLst>
                <a:path w="2161540" h="2159635">
                  <a:moveTo>
                    <a:pt x="2161032" y="0"/>
                  </a:moveTo>
                  <a:lnTo>
                    <a:pt x="0" y="0"/>
                  </a:lnTo>
                  <a:lnTo>
                    <a:pt x="0" y="2159507"/>
                  </a:lnTo>
                  <a:lnTo>
                    <a:pt x="2161032" y="2159507"/>
                  </a:lnTo>
                  <a:lnTo>
                    <a:pt x="2161032" y="0"/>
                  </a:lnTo>
                  <a:close/>
                </a:path>
              </a:pathLst>
            </a:custGeom>
            <a:solidFill>
              <a:srgbClr val="AC13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91890" y="2017014"/>
              <a:ext cx="2161540" cy="2159635"/>
            </a:xfrm>
            <a:custGeom>
              <a:avLst/>
              <a:gdLst/>
              <a:ahLst/>
              <a:cxnLst/>
              <a:rect l="l" t="t" r="r" b="b"/>
              <a:pathLst>
                <a:path w="2161540" h="2159635">
                  <a:moveTo>
                    <a:pt x="0" y="2159507"/>
                  </a:moveTo>
                  <a:lnTo>
                    <a:pt x="2161032" y="2159507"/>
                  </a:lnTo>
                  <a:lnTo>
                    <a:pt x="2161032" y="0"/>
                  </a:lnTo>
                  <a:lnTo>
                    <a:pt x="0" y="0"/>
                  </a:lnTo>
                  <a:lnTo>
                    <a:pt x="0" y="215950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91890" y="2017014"/>
            <a:ext cx="1080770" cy="539750"/>
          </a:xfrm>
          <a:prstGeom prst="rect">
            <a:avLst/>
          </a:prstGeom>
          <a:solidFill>
            <a:srgbClr val="AC1381"/>
          </a:solidFill>
          <a:ln w="2857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問題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69926" y="2002726"/>
            <a:ext cx="2188210" cy="2188210"/>
            <a:chOff x="6269926" y="2002726"/>
            <a:chExt cx="2188210" cy="2188210"/>
          </a:xfrm>
        </p:grpSpPr>
        <p:sp>
          <p:nvSpPr>
            <p:cNvPr id="19" name="object 19"/>
            <p:cNvSpPr/>
            <p:nvPr/>
          </p:nvSpPr>
          <p:spPr>
            <a:xfrm>
              <a:off x="6284214" y="2017014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4" h="2159635">
                  <a:moveTo>
                    <a:pt x="2159508" y="0"/>
                  </a:moveTo>
                  <a:lnTo>
                    <a:pt x="0" y="0"/>
                  </a:lnTo>
                  <a:lnTo>
                    <a:pt x="0" y="2159507"/>
                  </a:lnTo>
                  <a:lnTo>
                    <a:pt x="2159508" y="2159507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AC13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84214" y="2017014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4" h="2159635">
                  <a:moveTo>
                    <a:pt x="0" y="2159507"/>
                  </a:moveTo>
                  <a:lnTo>
                    <a:pt x="2159508" y="2159507"/>
                  </a:lnTo>
                  <a:lnTo>
                    <a:pt x="2159508" y="0"/>
                  </a:lnTo>
                  <a:lnTo>
                    <a:pt x="0" y="0"/>
                  </a:lnTo>
                  <a:lnTo>
                    <a:pt x="0" y="215950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84214" y="2017014"/>
            <a:ext cx="1080770" cy="539750"/>
          </a:xfrm>
          <a:prstGeom prst="rect">
            <a:avLst/>
          </a:prstGeom>
          <a:solidFill>
            <a:srgbClr val="AC1381"/>
          </a:solidFill>
          <a:ln w="2857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問題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860726" y="2002726"/>
            <a:ext cx="2190115" cy="2188210"/>
            <a:chOff x="8860726" y="2002726"/>
            <a:chExt cx="2190115" cy="2188210"/>
          </a:xfrm>
        </p:grpSpPr>
        <p:sp>
          <p:nvSpPr>
            <p:cNvPr id="23" name="object 23"/>
            <p:cNvSpPr/>
            <p:nvPr/>
          </p:nvSpPr>
          <p:spPr>
            <a:xfrm>
              <a:off x="8875014" y="2017014"/>
              <a:ext cx="2161540" cy="2159635"/>
            </a:xfrm>
            <a:custGeom>
              <a:avLst/>
              <a:gdLst/>
              <a:ahLst/>
              <a:cxnLst/>
              <a:rect l="l" t="t" r="r" b="b"/>
              <a:pathLst>
                <a:path w="2161540" h="2159635">
                  <a:moveTo>
                    <a:pt x="2161031" y="0"/>
                  </a:moveTo>
                  <a:lnTo>
                    <a:pt x="0" y="0"/>
                  </a:lnTo>
                  <a:lnTo>
                    <a:pt x="0" y="2159507"/>
                  </a:lnTo>
                  <a:lnTo>
                    <a:pt x="2161031" y="2159507"/>
                  </a:lnTo>
                  <a:lnTo>
                    <a:pt x="2161031" y="0"/>
                  </a:lnTo>
                  <a:close/>
                </a:path>
              </a:pathLst>
            </a:custGeom>
            <a:solidFill>
              <a:srgbClr val="AC13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75014" y="2017014"/>
              <a:ext cx="2161540" cy="2159635"/>
            </a:xfrm>
            <a:custGeom>
              <a:avLst/>
              <a:gdLst/>
              <a:ahLst/>
              <a:cxnLst/>
              <a:rect l="l" t="t" r="r" b="b"/>
              <a:pathLst>
                <a:path w="2161540" h="2159635">
                  <a:moveTo>
                    <a:pt x="0" y="2159507"/>
                  </a:moveTo>
                  <a:lnTo>
                    <a:pt x="2161031" y="2159507"/>
                  </a:lnTo>
                  <a:lnTo>
                    <a:pt x="2161031" y="0"/>
                  </a:lnTo>
                  <a:lnTo>
                    <a:pt x="0" y="0"/>
                  </a:lnTo>
                  <a:lnTo>
                    <a:pt x="0" y="215950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75014" y="2017014"/>
            <a:ext cx="1080770" cy="539750"/>
          </a:xfrm>
          <a:prstGeom prst="rect">
            <a:avLst/>
          </a:prstGeom>
          <a:solidFill>
            <a:srgbClr val="AC1381"/>
          </a:solidFill>
          <a:ln w="2857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問題 </a:t>
            </a:r>
            <a:r>
              <a:rPr sz="18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9641" y="3572382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02048" y="2832353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𝟔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𝟐𝒙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88175" y="2839973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27777" dirty="0">
                <a:latin typeface="Cambria Math"/>
                <a:cs typeface="Cambria Math"/>
              </a:rPr>
              <a:t>𝟐</a:t>
            </a:r>
            <a:r>
              <a:rPr sz="1950" spc="405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93885" y="2832353"/>
            <a:ext cx="1924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(𝒙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𝟏)(𝒙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𝟐)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4481" y="4978146"/>
            <a:ext cx="1068197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メイリオ"/>
                <a:cs typeface="メイリオ"/>
              </a:rPr>
              <a:t>答えはこちら！</a:t>
            </a:r>
            <a:endParaRPr sz="3200">
              <a:latin typeface="メイリオ"/>
              <a:cs typeface="メイリオ"/>
            </a:endParaRPr>
          </a:p>
          <a:p>
            <a:pPr algn="ctr">
              <a:lnSpc>
                <a:spcPct val="100000"/>
              </a:lnSpc>
              <a:spcBef>
                <a:spcPts val="1560"/>
              </a:spcBef>
            </a:pPr>
            <a:r>
              <a:rPr sz="1800" spc="-5" dirty="0">
                <a:latin typeface="メイリオ"/>
                <a:cs typeface="メイリオ"/>
              </a:rPr>
              <a:t>※問題 </a:t>
            </a:r>
            <a:r>
              <a:rPr sz="1800" dirty="0">
                <a:latin typeface="メイリオ"/>
                <a:cs typeface="メイリオ"/>
              </a:rPr>
              <a:t>4</a:t>
            </a:r>
            <a:r>
              <a:rPr sz="1800" spc="-10" dirty="0">
                <a:latin typeface="メイリオ"/>
                <a:cs typeface="メイリオ"/>
              </a:rPr>
              <a:t> は「</a:t>
            </a:r>
            <a:r>
              <a:rPr sz="1800" dirty="0">
                <a:latin typeface="Cambria Math"/>
                <a:cs typeface="Cambria Math"/>
              </a:rPr>
              <a:t>(𝑥</a:t>
            </a:r>
            <a:r>
              <a:rPr sz="1800" spc="15" dirty="0">
                <a:latin typeface="Cambria Math"/>
                <a:cs typeface="Cambria Math"/>
              </a:rPr>
              <a:t> −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100" dirty="0">
                <a:latin typeface="Cambria Math"/>
                <a:cs typeface="Cambria Math"/>
              </a:rPr>
              <a:t>) </a:t>
            </a:r>
            <a:r>
              <a:rPr sz="1800" spc="-5" dirty="0">
                <a:latin typeface="メイリオ"/>
                <a:cs typeface="メイリオ"/>
              </a:rPr>
              <a:t>と </a:t>
            </a:r>
            <a:r>
              <a:rPr sz="1800" dirty="0">
                <a:latin typeface="Cambria Math"/>
                <a:cs typeface="Cambria Math"/>
              </a:rPr>
              <a:t>(𝑥</a:t>
            </a:r>
            <a:r>
              <a:rPr sz="1800" spc="15" dirty="0">
                <a:latin typeface="Cambria Math"/>
                <a:cs typeface="Cambria Math"/>
              </a:rPr>
              <a:t> − </a:t>
            </a:r>
            <a:r>
              <a:rPr sz="1800" dirty="0">
                <a:latin typeface="Cambria Math"/>
                <a:cs typeface="Cambria Math"/>
              </a:rPr>
              <a:t>2</a:t>
            </a:r>
            <a:r>
              <a:rPr sz="1800" spc="100" dirty="0">
                <a:latin typeface="Cambria Math"/>
                <a:cs typeface="Cambria Math"/>
              </a:rPr>
              <a:t>) </a:t>
            </a:r>
            <a:r>
              <a:rPr sz="1800" spc="-5" dirty="0">
                <a:latin typeface="メイリオ"/>
                <a:cs typeface="メイリオ"/>
              </a:rPr>
              <a:t>のうちどちらか一方がゼロでなければならない」と考えると解きやすい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69592" y="3267455"/>
            <a:ext cx="220979" cy="173990"/>
          </a:xfrm>
          <a:custGeom>
            <a:avLst/>
            <a:gdLst/>
            <a:ahLst/>
            <a:cxnLst/>
            <a:rect l="l" t="t" r="r" b="b"/>
            <a:pathLst>
              <a:path w="220980" h="173989">
                <a:moveTo>
                  <a:pt x="220980" y="0"/>
                </a:moveTo>
                <a:lnTo>
                  <a:pt x="0" y="0"/>
                </a:lnTo>
                <a:lnTo>
                  <a:pt x="110489" y="173736"/>
                </a:lnTo>
                <a:lnTo>
                  <a:pt x="2209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60391" y="3267455"/>
            <a:ext cx="222885" cy="173990"/>
          </a:xfrm>
          <a:custGeom>
            <a:avLst/>
            <a:gdLst/>
            <a:ahLst/>
            <a:cxnLst/>
            <a:rect l="l" t="t" r="r" b="b"/>
            <a:pathLst>
              <a:path w="222885" h="173989">
                <a:moveTo>
                  <a:pt x="222504" y="0"/>
                </a:moveTo>
                <a:lnTo>
                  <a:pt x="0" y="0"/>
                </a:lnTo>
                <a:lnTo>
                  <a:pt x="111252" y="173736"/>
                </a:lnTo>
                <a:lnTo>
                  <a:pt x="222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52716" y="3262884"/>
            <a:ext cx="220979" cy="172720"/>
          </a:xfrm>
          <a:custGeom>
            <a:avLst/>
            <a:gdLst/>
            <a:ahLst/>
            <a:cxnLst/>
            <a:rect l="l" t="t" r="r" b="b"/>
            <a:pathLst>
              <a:path w="220979" h="172720">
                <a:moveTo>
                  <a:pt x="220979" y="0"/>
                </a:moveTo>
                <a:lnTo>
                  <a:pt x="0" y="0"/>
                </a:lnTo>
                <a:lnTo>
                  <a:pt x="110489" y="172212"/>
                </a:lnTo>
                <a:lnTo>
                  <a:pt x="220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843516" y="3267455"/>
            <a:ext cx="222885" cy="172720"/>
          </a:xfrm>
          <a:custGeom>
            <a:avLst/>
            <a:gdLst/>
            <a:ahLst/>
            <a:cxnLst/>
            <a:rect l="l" t="t" r="r" b="b"/>
            <a:pathLst>
              <a:path w="222884" h="172720">
                <a:moveTo>
                  <a:pt x="222503" y="0"/>
                </a:moveTo>
                <a:lnTo>
                  <a:pt x="0" y="0"/>
                </a:lnTo>
                <a:lnTo>
                  <a:pt x="111251" y="172212"/>
                </a:lnTo>
                <a:lnTo>
                  <a:pt x="2225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678939" y="2832353"/>
            <a:ext cx="1002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𝟓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80844" y="3584447"/>
            <a:ext cx="567055" cy="3251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52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75"/>
              </a:spcBef>
            </a:pPr>
            <a:r>
              <a:rPr sz="1800" spc="-50" dirty="0">
                <a:solidFill>
                  <a:srgbClr val="F43864"/>
                </a:solidFill>
                <a:latin typeface="Cambria Math"/>
                <a:cs typeface="Cambria Math"/>
              </a:rPr>
              <a:t>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63897" y="3576066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44211" y="3589020"/>
            <a:ext cx="567055" cy="3232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65"/>
              </a:spcBef>
            </a:pPr>
            <a:r>
              <a:rPr sz="1800" spc="-10" dirty="0">
                <a:solidFill>
                  <a:srgbClr val="F43864"/>
                </a:solidFill>
                <a:latin typeface="Cambria Math"/>
                <a:cs typeface="Cambria Math"/>
              </a:rPr>
              <a:t>𝟏.</a:t>
            </a:r>
            <a:r>
              <a:rPr sz="1800" spc="-8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43864"/>
                </a:solidFill>
                <a:latin typeface="Cambria Math"/>
                <a:cs typeface="Cambria Math"/>
              </a:rPr>
              <a:t>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54902" y="3576066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34200" y="3589020"/>
            <a:ext cx="567055" cy="3232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65"/>
              </a:spcBef>
            </a:pPr>
            <a:r>
              <a:rPr sz="1800" spc="-25" dirty="0">
                <a:solidFill>
                  <a:srgbClr val="F43864"/>
                </a:solidFill>
                <a:latin typeface="Cambria Math"/>
                <a:cs typeface="Cambria Math"/>
              </a:rPr>
              <a:t>−𝟑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62088" y="3627360"/>
            <a:ext cx="22860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b="1" spc="-50" dirty="0">
                <a:latin typeface="メイリオ"/>
                <a:cs typeface="メイリオ"/>
              </a:rPr>
              <a:t>、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719059" y="3584447"/>
            <a:ext cx="567055" cy="3251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890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70"/>
              </a:spcBef>
            </a:pPr>
            <a:r>
              <a:rPr sz="1800" spc="-50" dirty="0">
                <a:solidFill>
                  <a:srgbClr val="F43864"/>
                </a:solidFill>
                <a:latin typeface="Cambria Math"/>
                <a:cs typeface="Cambria Math"/>
              </a:rPr>
              <a:t>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040748" y="3579952"/>
            <a:ext cx="391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520428" y="3593591"/>
            <a:ext cx="567055" cy="3232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65"/>
              </a:spcBef>
            </a:pPr>
            <a:r>
              <a:rPr sz="1800" spc="-50" dirty="0">
                <a:solidFill>
                  <a:srgbClr val="F43864"/>
                </a:solidFill>
                <a:latin typeface="Cambria Math"/>
                <a:cs typeface="Cambria Math"/>
              </a:rPr>
              <a:t>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148316" y="3631678"/>
            <a:ext cx="22860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b="1" spc="-50" dirty="0">
                <a:latin typeface="メイリオ"/>
                <a:cs typeface="メイリオ"/>
              </a:rPr>
              <a:t>、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305288" y="3589020"/>
            <a:ext cx="567055" cy="3232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25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65"/>
              </a:spcBef>
            </a:pPr>
            <a:r>
              <a:rPr sz="1800" spc="-50" dirty="0">
                <a:solidFill>
                  <a:srgbClr val="F43864"/>
                </a:solidFill>
                <a:latin typeface="Cambria Math"/>
                <a:cs typeface="Cambria Math"/>
              </a:rPr>
              <a:t>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469885" y="6521957"/>
            <a:ext cx="4722495" cy="0"/>
          </a:xfrm>
          <a:custGeom>
            <a:avLst/>
            <a:gdLst/>
            <a:ahLst/>
            <a:cxnLst/>
            <a:rect l="l" t="t" r="r" b="b"/>
            <a:pathLst>
              <a:path w="4722495">
                <a:moveTo>
                  <a:pt x="0" y="0"/>
                </a:moveTo>
                <a:lnTo>
                  <a:pt x="4722114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995534" y="6614794"/>
            <a:ext cx="460375" cy="141605"/>
          </a:xfrm>
          <a:custGeom>
            <a:avLst/>
            <a:gdLst/>
            <a:ahLst/>
            <a:cxnLst/>
            <a:rect l="l" t="t" r="r" b="b"/>
            <a:pathLst>
              <a:path w="460375" h="141604">
                <a:moveTo>
                  <a:pt x="415163" y="0"/>
                </a:moveTo>
                <a:lnTo>
                  <a:pt x="413131" y="5727"/>
                </a:lnTo>
                <a:lnTo>
                  <a:pt x="421322" y="9275"/>
                </a:lnTo>
                <a:lnTo>
                  <a:pt x="428371" y="14185"/>
                </a:lnTo>
                <a:lnTo>
                  <a:pt x="446749" y="57672"/>
                </a:lnTo>
                <a:lnTo>
                  <a:pt x="447294" y="69875"/>
                </a:lnTo>
                <a:lnTo>
                  <a:pt x="446770" y="82324"/>
                </a:lnTo>
                <a:lnTo>
                  <a:pt x="434173" y="120553"/>
                </a:lnTo>
                <a:lnTo>
                  <a:pt x="413385" y="135428"/>
                </a:lnTo>
                <a:lnTo>
                  <a:pt x="415163" y="141159"/>
                </a:lnTo>
                <a:lnTo>
                  <a:pt x="448564" y="116490"/>
                </a:lnTo>
                <a:lnTo>
                  <a:pt x="460248" y="70611"/>
                </a:lnTo>
                <a:lnTo>
                  <a:pt x="459520" y="57828"/>
                </a:lnTo>
                <a:lnTo>
                  <a:pt x="442112" y="16062"/>
                </a:lnTo>
                <a:lnTo>
                  <a:pt x="425400" y="3690"/>
                </a:lnTo>
                <a:lnTo>
                  <a:pt x="415163" y="0"/>
                </a:lnTo>
                <a:close/>
              </a:path>
              <a:path w="460375" h="141604">
                <a:moveTo>
                  <a:pt x="45085" y="0"/>
                </a:moveTo>
                <a:lnTo>
                  <a:pt x="11684" y="24739"/>
                </a:lnTo>
                <a:lnTo>
                  <a:pt x="41" y="69875"/>
                </a:lnTo>
                <a:lnTo>
                  <a:pt x="0" y="70611"/>
                </a:lnTo>
                <a:lnTo>
                  <a:pt x="664" y="82324"/>
                </a:lnTo>
                <a:lnTo>
                  <a:pt x="736" y="83580"/>
                </a:lnTo>
                <a:lnTo>
                  <a:pt x="18135" y="125134"/>
                </a:lnTo>
                <a:lnTo>
                  <a:pt x="45085" y="141159"/>
                </a:lnTo>
                <a:lnTo>
                  <a:pt x="46863" y="135428"/>
                </a:lnTo>
                <a:lnTo>
                  <a:pt x="38838" y="131866"/>
                </a:lnTo>
                <a:lnTo>
                  <a:pt x="31908" y="126908"/>
                </a:lnTo>
                <a:lnTo>
                  <a:pt x="13477" y="82324"/>
                </a:lnTo>
                <a:lnTo>
                  <a:pt x="12954" y="69875"/>
                </a:lnTo>
                <a:lnTo>
                  <a:pt x="13477" y="57828"/>
                </a:lnTo>
                <a:lnTo>
                  <a:pt x="26078" y="20458"/>
                </a:lnTo>
                <a:lnTo>
                  <a:pt x="47117" y="5727"/>
                </a:lnTo>
                <a:lnTo>
                  <a:pt x="4508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877936" y="6564883"/>
            <a:ext cx="4235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※問題 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4</a:t>
            </a:r>
            <a:r>
              <a:rPr sz="1200" b="1" spc="-5" dirty="0">
                <a:solidFill>
                  <a:srgbClr val="A6A6A6"/>
                </a:solidFill>
                <a:latin typeface="メイリオ"/>
                <a:cs typeface="メイリオ"/>
              </a:rPr>
              <a:t> の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(𝒙</a:t>
            </a:r>
            <a:r>
              <a:rPr sz="1200" spc="-5" dirty="0">
                <a:solidFill>
                  <a:srgbClr val="A6A6A6"/>
                </a:solidFill>
                <a:latin typeface="Cambria Math"/>
                <a:cs typeface="Cambria Math"/>
              </a:rPr>
              <a:t> −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𝟏)(𝒙</a:t>
            </a:r>
            <a:r>
              <a:rPr sz="1200" spc="-10" dirty="0">
                <a:solidFill>
                  <a:srgbClr val="A6A6A6"/>
                </a:solidFill>
                <a:latin typeface="Cambria Math"/>
                <a:cs typeface="Cambria Math"/>
              </a:rPr>
              <a:t> −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𝟐</a:t>
            </a:r>
            <a:r>
              <a:rPr sz="1200" spc="60" dirty="0">
                <a:solidFill>
                  <a:srgbClr val="A6A6A6"/>
                </a:solidFill>
                <a:latin typeface="Cambria Math"/>
                <a:cs typeface="Cambria Math"/>
              </a:rPr>
              <a:t>) </a:t>
            </a:r>
            <a:r>
              <a:rPr sz="1200" b="1" spc="245" dirty="0">
                <a:solidFill>
                  <a:srgbClr val="A6A6A6"/>
                </a:solidFill>
                <a:latin typeface="メイリオ"/>
                <a:cs typeface="メイリオ"/>
              </a:rPr>
              <a:t>は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-10" dirty="0">
                <a:solidFill>
                  <a:srgbClr val="A6A6A6"/>
                </a:solidFill>
                <a:latin typeface="Cambria Math"/>
                <a:cs typeface="Cambria Math"/>
              </a:rPr>
              <a:t> −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𝟏</a:t>
            </a:r>
            <a:r>
              <a:rPr sz="1200" spc="120" dirty="0">
                <a:solidFill>
                  <a:srgbClr val="A6A6A6"/>
                </a:solidFill>
                <a:latin typeface="Cambria Math"/>
                <a:cs typeface="Cambria Math"/>
              </a:rPr>
              <a:t> × (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𝒙</a:t>
            </a:r>
            <a:r>
              <a:rPr sz="1200" spc="-10" dirty="0">
                <a:solidFill>
                  <a:srgbClr val="A6A6A6"/>
                </a:solidFill>
                <a:latin typeface="Cambria Math"/>
                <a:cs typeface="Cambria Math"/>
              </a:rPr>
              <a:t> −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𝟐</a:t>
            </a:r>
            <a:r>
              <a:rPr sz="1200" spc="60" dirty="0">
                <a:solidFill>
                  <a:srgbClr val="A6A6A6"/>
                </a:solidFill>
                <a:latin typeface="Cambria Math"/>
                <a:cs typeface="Cambria Math"/>
              </a:rPr>
              <a:t>) </a:t>
            </a:r>
            <a:r>
              <a:rPr sz="1200" b="1" spc="-10" dirty="0">
                <a:solidFill>
                  <a:srgbClr val="A6A6A6"/>
                </a:solidFill>
                <a:latin typeface="メイリオ"/>
                <a:cs typeface="メイリオ"/>
              </a:rPr>
              <a:t>という意味。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8044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5" dirty="0"/>
              <a:t>“本章のゴール” を解こう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27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283207"/>
            <a:ext cx="12192000" cy="5575300"/>
          </a:xfrm>
          <a:custGeom>
            <a:avLst/>
            <a:gdLst/>
            <a:ahLst/>
            <a:cxnLst/>
            <a:rect l="l" t="t" r="r" b="b"/>
            <a:pathLst>
              <a:path w="12192000" h="5575300">
                <a:moveTo>
                  <a:pt x="12192000" y="0"/>
                </a:moveTo>
                <a:lnTo>
                  <a:pt x="0" y="0"/>
                </a:lnTo>
                <a:lnTo>
                  <a:pt x="0" y="5574792"/>
                </a:lnTo>
                <a:lnTo>
                  <a:pt x="12192000" y="55747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404040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47166" y="1929511"/>
            <a:ext cx="10541000" cy="1474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メイリオ"/>
                <a:cs typeface="メイリオ"/>
              </a:rPr>
              <a:t>太郎君はタクシーに乗車し、</a:t>
            </a:r>
            <a:r>
              <a:rPr sz="2000" b="1" dirty="0">
                <a:solidFill>
                  <a:srgbClr val="FFFFFF"/>
                </a:solidFill>
                <a:latin typeface="メイリオ"/>
                <a:cs typeface="メイリオ"/>
              </a:rPr>
              <a:t>1400</a:t>
            </a:r>
            <a:r>
              <a:rPr sz="2000" b="1" spc="-25" dirty="0">
                <a:solidFill>
                  <a:srgbClr val="FFFFFF"/>
                </a:solidFill>
                <a:latin typeface="メイリオ"/>
                <a:cs typeface="メイリオ"/>
              </a:rPr>
              <a:t> 円を支払いました。</a:t>
            </a:r>
            <a:endParaRPr sz="20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2000" b="1" spc="-10" dirty="0">
                <a:solidFill>
                  <a:srgbClr val="FFFFFF"/>
                </a:solidFill>
                <a:latin typeface="メイリオ"/>
                <a:cs typeface="メイリオ"/>
              </a:rPr>
              <a:t>このタクシーの初乗運賃が </a:t>
            </a:r>
            <a:r>
              <a:rPr sz="2000" b="1" dirty="0">
                <a:solidFill>
                  <a:srgbClr val="FFFFFF"/>
                </a:solidFill>
                <a:latin typeface="メイリオ"/>
                <a:cs typeface="メイリオ"/>
              </a:rPr>
              <a:t>500</a:t>
            </a: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 円であり、以降 </a:t>
            </a:r>
            <a:r>
              <a:rPr sz="2000" b="1" dirty="0">
                <a:solidFill>
                  <a:srgbClr val="FFFFFF"/>
                </a:solidFill>
                <a:latin typeface="メイリオ"/>
                <a:cs typeface="メイリオ"/>
              </a:rPr>
              <a:t>1km</a:t>
            </a: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 ごとに </a:t>
            </a:r>
            <a:r>
              <a:rPr sz="2000" b="1" dirty="0">
                <a:solidFill>
                  <a:srgbClr val="FFFFFF"/>
                </a:solidFill>
                <a:latin typeface="メイリオ"/>
                <a:cs typeface="メイリオ"/>
              </a:rPr>
              <a:t>100</a:t>
            </a:r>
            <a:r>
              <a:rPr sz="2000" b="1" spc="-20" dirty="0">
                <a:solidFill>
                  <a:srgbClr val="FFFFFF"/>
                </a:solidFill>
                <a:latin typeface="メイリオ"/>
                <a:cs typeface="メイリオ"/>
              </a:rPr>
              <a:t> 円が加算されるとき、彼</a:t>
            </a:r>
            <a:endParaRPr sz="20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solidFill>
                  <a:srgbClr val="FFFFFF"/>
                </a:solidFill>
                <a:latin typeface="メイリオ"/>
                <a:cs typeface="メイリオ"/>
              </a:rPr>
              <a:t>は何 </a:t>
            </a:r>
            <a:r>
              <a:rPr sz="2000" b="1" dirty="0">
                <a:solidFill>
                  <a:srgbClr val="FFFFFF"/>
                </a:solidFill>
                <a:latin typeface="メイリオ"/>
                <a:cs typeface="メイリオ"/>
              </a:rPr>
              <a:t>km</a:t>
            </a: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 乗車しましたか。</a:t>
            </a:r>
            <a:endParaRPr sz="2000">
              <a:latin typeface="メイリオ"/>
              <a:cs typeface="メイリオ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10436" y="4468367"/>
            <a:ext cx="10006330" cy="1710055"/>
            <a:chOff x="1210436" y="4468367"/>
            <a:chExt cx="10006330" cy="17100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5919" y="4468367"/>
              <a:ext cx="1950720" cy="17099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19961" y="5135117"/>
              <a:ext cx="6817359" cy="377190"/>
            </a:xfrm>
            <a:custGeom>
              <a:avLst/>
              <a:gdLst/>
              <a:ahLst/>
              <a:cxnLst/>
              <a:rect l="l" t="t" r="r" b="b"/>
              <a:pathLst>
                <a:path w="6817359" h="377189">
                  <a:moveTo>
                    <a:pt x="0" y="188975"/>
                  </a:moveTo>
                  <a:lnTo>
                    <a:pt x="6817359" y="188975"/>
                  </a:lnTo>
                </a:path>
                <a:path w="6817359" h="377189">
                  <a:moveTo>
                    <a:pt x="0" y="377189"/>
                  </a:moveTo>
                  <a:lnTo>
                    <a:pt x="0" y="0"/>
                  </a:lnTo>
                </a:path>
                <a:path w="6817359" h="377189">
                  <a:moveTo>
                    <a:pt x="1260348" y="377189"/>
                  </a:moveTo>
                  <a:lnTo>
                    <a:pt x="1260348" y="0"/>
                  </a:lnTo>
                </a:path>
                <a:path w="6817359" h="377189">
                  <a:moveTo>
                    <a:pt x="2520696" y="377189"/>
                  </a:moveTo>
                  <a:lnTo>
                    <a:pt x="2520696" y="0"/>
                  </a:lnTo>
                </a:path>
                <a:path w="6817359" h="377189">
                  <a:moveTo>
                    <a:pt x="3779520" y="377189"/>
                  </a:moveTo>
                  <a:lnTo>
                    <a:pt x="3779520" y="0"/>
                  </a:lnTo>
                </a:path>
                <a:path w="6817359" h="377189">
                  <a:moveTo>
                    <a:pt x="5039868" y="377189"/>
                  </a:moveTo>
                  <a:lnTo>
                    <a:pt x="5039868" y="0"/>
                  </a:lnTo>
                </a:path>
                <a:path w="6817359" h="377189">
                  <a:moveTo>
                    <a:pt x="6300216" y="377189"/>
                  </a:moveTo>
                  <a:lnTo>
                    <a:pt x="6300216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9683" y="4754117"/>
            <a:ext cx="558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0km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7011" y="5548376"/>
            <a:ext cx="64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メイリオ"/>
                <a:cs typeface="メイリオ"/>
              </a:rPr>
              <a:t>¥500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9733" y="4754117"/>
            <a:ext cx="558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1km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6807" y="5548376"/>
            <a:ext cx="64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メイリオ"/>
                <a:cs typeface="メイリオ"/>
              </a:rPr>
              <a:t>¥600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59226" y="4754117"/>
            <a:ext cx="558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2km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16553" y="5548376"/>
            <a:ext cx="64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メイリオ"/>
                <a:cs typeface="メイリオ"/>
              </a:rPr>
              <a:t>¥700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29098" y="4754117"/>
            <a:ext cx="558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3km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6427" y="5548376"/>
            <a:ext cx="64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メイリオ"/>
                <a:cs typeface="メイリオ"/>
              </a:rPr>
              <a:t>¥800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69889" y="4754117"/>
            <a:ext cx="558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4km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27216" y="5548376"/>
            <a:ext cx="64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メイリオ"/>
                <a:cs typeface="メイリオ"/>
              </a:rPr>
              <a:t>¥900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50430" y="4754117"/>
            <a:ext cx="558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5km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23303" y="5548376"/>
            <a:ext cx="80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メイリオ"/>
                <a:cs typeface="メイリオ"/>
              </a:rPr>
              <a:t>¥1000</a:t>
            </a:r>
            <a:endParaRPr sz="18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8044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5" dirty="0"/>
              <a:t>“本章のゴール” を解こう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28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340" y="1749932"/>
            <a:ext cx="6798945" cy="1332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b="1" spc="-5" dirty="0">
                <a:latin typeface="メイリオ"/>
                <a:cs typeface="メイリオ"/>
              </a:rPr>
              <a:t>まず、タクシーの移動距離を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b="1" dirty="0">
                <a:latin typeface="メイリオ"/>
                <a:cs typeface="メイリオ"/>
              </a:rPr>
              <a:t>(km</a:t>
            </a:r>
            <a:r>
              <a:rPr sz="2400" b="1" spc="-20" dirty="0">
                <a:latin typeface="メイリオ"/>
                <a:cs typeface="メイリオ"/>
              </a:rPr>
              <a:t>) とすると…</a:t>
            </a:r>
            <a:r>
              <a:rPr sz="2400" b="1" spc="-5" dirty="0">
                <a:latin typeface="メイリオ"/>
                <a:cs typeface="メイリオ"/>
              </a:rPr>
              <a:t>かかる値段は </a:t>
            </a:r>
            <a:r>
              <a:rPr sz="2400" dirty="0">
                <a:solidFill>
                  <a:srgbClr val="F43864"/>
                </a:solidFill>
                <a:latin typeface="Cambria Math"/>
                <a:cs typeface="Cambria Math"/>
              </a:rPr>
              <a:t>𝟏𝟎𝟎</a:t>
            </a:r>
            <a:r>
              <a:rPr sz="2400" u="sng" dirty="0">
                <a:solidFill>
                  <a:srgbClr val="F43864"/>
                </a:solidFill>
                <a:uFill>
                  <a:solidFill>
                    <a:srgbClr val="F43864"/>
                  </a:solidFill>
                </a:uFill>
                <a:latin typeface="Cambria Math"/>
                <a:cs typeface="Cambria Math"/>
              </a:rPr>
              <a:t>𝒙</a:t>
            </a:r>
            <a:r>
              <a:rPr sz="2400" u="none" spc="-2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400" u="none" spc="-425" dirty="0">
                <a:latin typeface="Cambria Math"/>
                <a:cs typeface="Cambria Math"/>
              </a:rPr>
              <a:t>+</a:t>
            </a:r>
            <a:r>
              <a:rPr sz="2400" u="sng" spc="330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none" dirty="0">
                <a:solidFill>
                  <a:srgbClr val="21379E"/>
                </a:solidFill>
                <a:latin typeface="Cambria Math"/>
                <a:cs typeface="Cambria Math"/>
              </a:rPr>
              <a:t>𝟓𝟎</a:t>
            </a:r>
            <a:r>
              <a:rPr sz="2400" u="sng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Cambria Math"/>
                <a:cs typeface="Cambria Math"/>
              </a:rPr>
              <a:t>𝟎</a:t>
            </a:r>
            <a:r>
              <a:rPr sz="2400" u="sng" spc="15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Cambria Math"/>
                <a:cs typeface="Cambria Math"/>
              </a:rPr>
              <a:t> </a:t>
            </a:r>
            <a:r>
              <a:rPr sz="2400" u="none" spc="-31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400" b="1" u="none" spc="-50" dirty="0">
                <a:latin typeface="メイリオ"/>
                <a:cs typeface="メイリオ"/>
              </a:rPr>
              <a:t>円</a:t>
            </a:r>
            <a:endParaRPr sz="2400">
              <a:latin typeface="メイリオ"/>
              <a:cs typeface="メイリオ"/>
            </a:endParaRPr>
          </a:p>
          <a:p>
            <a:pPr marL="2004060">
              <a:lnSpc>
                <a:spcPct val="100000"/>
              </a:lnSpc>
              <a:spcBef>
                <a:spcPts val="204"/>
              </a:spcBef>
              <a:tabLst>
                <a:tab pos="2969260" algn="l"/>
              </a:tabLst>
            </a:pPr>
            <a:r>
              <a:rPr sz="1200" b="1" dirty="0">
                <a:solidFill>
                  <a:srgbClr val="F43864"/>
                </a:solidFill>
                <a:latin typeface="メイリオ"/>
                <a:cs typeface="メイリオ"/>
              </a:rPr>
              <a:t>加算運</a:t>
            </a:r>
            <a:r>
              <a:rPr sz="1200" b="1" spc="-50" dirty="0">
                <a:solidFill>
                  <a:srgbClr val="F43864"/>
                </a:solidFill>
                <a:latin typeface="メイリオ"/>
                <a:cs typeface="メイリオ"/>
              </a:rPr>
              <a:t>賃</a:t>
            </a:r>
            <a:r>
              <a:rPr sz="1200" b="1" dirty="0">
                <a:solidFill>
                  <a:srgbClr val="F43864"/>
                </a:solidFill>
                <a:latin typeface="メイリオ"/>
                <a:cs typeface="メイリオ"/>
              </a:rPr>
              <a:t>	</a:t>
            </a:r>
            <a:r>
              <a:rPr sz="1200" b="1" dirty="0">
                <a:solidFill>
                  <a:srgbClr val="21379E"/>
                </a:solidFill>
                <a:latin typeface="メイリオ"/>
                <a:cs typeface="メイリオ"/>
              </a:rPr>
              <a:t>初乗運</a:t>
            </a:r>
            <a:r>
              <a:rPr sz="1200" b="1" spc="-50" dirty="0">
                <a:solidFill>
                  <a:srgbClr val="21379E"/>
                </a:solidFill>
                <a:latin typeface="メイリオ"/>
                <a:cs typeface="メイリオ"/>
              </a:rPr>
              <a:t>賃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8044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5" dirty="0"/>
              <a:t>“本章のゴール” を解こう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29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340" y="1749932"/>
            <a:ext cx="6798945" cy="1332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b="1" spc="-5" dirty="0">
                <a:latin typeface="メイリオ"/>
                <a:cs typeface="メイリオ"/>
              </a:rPr>
              <a:t>まず、タクシーの移動距離を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b="1" dirty="0">
                <a:latin typeface="メイリオ"/>
                <a:cs typeface="メイリオ"/>
              </a:rPr>
              <a:t>(km</a:t>
            </a:r>
            <a:r>
              <a:rPr sz="2400" b="1" spc="-20" dirty="0">
                <a:latin typeface="メイリオ"/>
                <a:cs typeface="メイリオ"/>
              </a:rPr>
              <a:t>) とすると…</a:t>
            </a:r>
            <a:r>
              <a:rPr sz="2400" b="1" spc="-5" dirty="0">
                <a:latin typeface="メイリオ"/>
                <a:cs typeface="メイリオ"/>
              </a:rPr>
              <a:t>かかる値段は </a:t>
            </a:r>
            <a:r>
              <a:rPr sz="2400" dirty="0">
                <a:solidFill>
                  <a:srgbClr val="F43864"/>
                </a:solidFill>
                <a:latin typeface="Cambria Math"/>
                <a:cs typeface="Cambria Math"/>
              </a:rPr>
              <a:t>𝟏𝟎𝟎</a:t>
            </a:r>
            <a:r>
              <a:rPr sz="2400" u="sng" dirty="0">
                <a:solidFill>
                  <a:srgbClr val="F43864"/>
                </a:solidFill>
                <a:uFill>
                  <a:solidFill>
                    <a:srgbClr val="F43864"/>
                  </a:solidFill>
                </a:uFill>
                <a:latin typeface="Cambria Math"/>
                <a:cs typeface="Cambria Math"/>
              </a:rPr>
              <a:t>𝒙</a:t>
            </a:r>
            <a:r>
              <a:rPr sz="2400" u="none" spc="-2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400" u="none" spc="-425" dirty="0">
                <a:latin typeface="Cambria Math"/>
                <a:cs typeface="Cambria Math"/>
              </a:rPr>
              <a:t>+</a:t>
            </a:r>
            <a:r>
              <a:rPr sz="2400" u="sng" spc="330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none" dirty="0">
                <a:solidFill>
                  <a:srgbClr val="21379E"/>
                </a:solidFill>
                <a:latin typeface="Cambria Math"/>
                <a:cs typeface="Cambria Math"/>
              </a:rPr>
              <a:t>𝟓𝟎</a:t>
            </a:r>
            <a:r>
              <a:rPr sz="2400" u="sng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Cambria Math"/>
                <a:cs typeface="Cambria Math"/>
              </a:rPr>
              <a:t>𝟎</a:t>
            </a:r>
            <a:r>
              <a:rPr sz="2400" u="sng" spc="15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Cambria Math"/>
                <a:cs typeface="Cambria Math"/>
              </a:rPr>
              <a:t> </a:t>
            </a:r>
            <a:r>
              <a:rPr sz="2400" u="none" spc="-31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400" b="1" u="none" spc="-50" dirty="0">
                <a:latin typeface="メイリオ"/>
                <a:cs typeface="メイリオ"/>
              </a:rPr>
              <a:t>円</a:t>
            </a:r>
            <a:endParaRPr sz="2400">
              <a:latin typeface="メイリオ"/>
              <a:cs typeface="メイリオ"/>
            </a:endParaRPr>
          </a:p>
          <a:p>
            <a:pPr marL="2004060">
              <a:lnSpc>
                <a:spcPct val="100000"/>
              </a:lnSpc>
              <a:spcBef>
                <a:spcPts val="204"/>
              </a:spcBef>
              <a:tabLst>
                <a:tab pos="2969260" algn="l"/>
              </a:tabLst>
            </a:pPr>
            <a:r>
              <a:rPr sz="1200" b="1" dirty="0">
                <a:solidFill>
                  <a:srgbClr val="F43864"/>
                </a:solidFill>
                <a:latin typeface="メイリオ"/>
                <a:cs typeface="メイリオ"/>
              </a:rPr>
              <a:t>加算運</a:t>
            </a:r>
            <a:r>
              <a:rPr sz="1200" b="1" spc="-50" dirty="0">
                <a:solidFill>
                  <a:srgbClr val="F43864"/>
                </a:solidFill>
                <a:latin typeface="メイリオ"/>
                <a:cs typeface="メイリオ"/>
              </a:rPr>
              <a:t>賃</a:t>
            </a:r>
            <a:r>
              <a:rPr sz="1200" b="1" dirty="0">
                <a:solidFill>
                  <a:srgbClr val="F43864"/>
                </a:solidFill>
                <a:latin typeface="メイリオ"/>
                <a:cs typeface="メイリオ"/>
              </a:rPr>
              <a:t>	</a:t>
            </a:r>
            <a:r>
              <a:rPr sz="1200" b="1" dirty="0">
                <a:solidFill>
                  <a:srgbClr val="21379E"/>
                </a:solidFill>
                <a:latin typeface="メイリオ"/>
                <a:cs typeface="メイリオ"/>
              </a:rPr>
              <a:t>初乗運</a:t>
            </a:r>
            <a:r>
              <a:rPr sz="1200" b="1" spc="-50" dirty="0">
                <a:solidFill>
                  <a:srgbClr val="21379E"/>
                </a:solidFill>
                <a:latin typeface="メイリオ"/>
                <a:cs typeface="メイリオ"/>
              </a:rPr>
              <a:t>賃</a:t>
            </a:r>
            <a:endParaRPr sz="12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9995" y="3429000"/>
            <a:ext cx="10741660" cy="2769235"/>
          </a:xfrm>
          <a:prstGeom prst="rect">
            <a:avLst/>
          </a:prstGeom>
          <a:solidFill>
            <a:srgbClr val="DDAB52">
              <a:alpha val="30195"/>
            </a:srgbClr>
          </a:solidFill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endParaRPr sz="1800">
              <a:latin typeface="Times New Roman"/>
              <a:cs typeface="Times New Roman"/>
            </a:endParaRPr>
          </a:p>
          <a:p>
            <a:pPr marL="367030">
              <a:lnSpc>
                <a:spcPct val="100000"/>
              </a:lnSpc>
            </a:pPr>
            <a:r>
              <a:rPr sz="1800" b="1" spc="-5" dirty="0">
                <a:latin typeface="メイリオ"/>
                <a:cs typeface="メイリオ"/>
              </a:rPr>
              <a:t>合計値段が </a:t>
            </a:r>
            <a:r>
              <a:rPr sz="1800" b="1" dirty="0">
                <a:latin typeface="メイリオ"/>
                <a:cs typeface="メイリオ"/>
              </a:rPr>
              <a:t>1400</a:t>
            </a:r>
            <a:r>
              <a:rPr sz="1800" b="1" spc="-15" dirty="0">
                <a:latin typeface="メイリオ"/>
                <a:cs typeface="メイリオ"/>
              </a:rPr>
              <a:t> 円なので、乗車距離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95" dirty="0">
                <a:latin typeface="Cambria Math"/>
                <a:cs typeface="Cambria Math"/>
              </a:rPr>
              <a:t> </a:t>
            </a:r>
            <a:r>
              <a:rPr sz="1800" b="1" spc="-5" dirty="0">
                <a:latin typeface="メイリオ"/>
                <a:cs typeface="メイリオ"/>
              </a:rPr>
              <a:t>は以下の方程式を満たさなければならない：</a:t>
            </a:r>
            <a:endParaRPr sz="1800">
              <a:latin typeface="メイリオ"/>
              <a:cs typeface="メイリオ"/>
            </a:endParaRPr>
          </a:p>
          <a:p>
            <a:pPr marL="1969770">
              <a:lnSpc>
                <a:spcPct val="100000"/>
              </a:lnSpc>
              <a:spcBef>
                <a:spcPts val="2570"/>
              </a:spcBef>
            </a:pP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𝟏𝟎𝟎𝒙</a:t>
            </a:r>
            <a:r>
              <a:rPr sz="1800" spc="-1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+ 𝟓𝟎𝟎</a:t>
            </a:r>
            <a:r>
              <a:rPr sz="1800" spc="8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AC1381"/>
                </a:solidFill>
                <a:latin typeface="Cambria Math"/>
                <a:cs typeface="Cambria Math"/>
              </a:rPr>
              <a:t>𝟏𝟒𝟎𝟎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AC1381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8044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z="4800" spc="-5" dirty="0"/>
              <a:t>“本章のゴール” を解こう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1046332" y="287909"/>
            <a:ext cx="7893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30</a:t>
            </a:r>
            <a:endParaRPr sz="1800">
              <a:latin typeface="メイリオ"/>
              <a:cs typeface="メイリオ"/>
            </a:endParaRPr>
          </a:p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9995" y="3429000"/>
            <a:ext cx="10741660" cy="2769235"/>
          </a:xfrm>
          <a:custGeom>
            <a:avLst/>
            <a:gdLst/>
            <a:ahLst/>
            <a:cxnLst/>
            <a:rect l="l" t="t" r="r" b="b"/>
            <a:pathLst>
              <a:path w="10741660" h="2769235">
                <a:moveTo>
                  <a:pt x="10741152" y="0"/>
                </a:moveTo>
                <a:lnTo>
                  <a:pt x="0" y="0"/>
                </a:lnTo>
                <a:lnTo>
                  <a:pt x="0" y="2769108"/>
                </a:lnTo>
                <a:lnTo>
                  <a:pt x="10741152" y="2769108"/>
                </a:lnTo>
                <a:lnTo>
                  <a:pt x="10741152" y="0"/>
                </a:lnTo>
                <a:close/>
              </a:path>
            </a:pathLst>
          </a:custGeom>
          <a:solidFill>
            <a:srgbClr val="DDAB52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8340" y="1749932"/>
            <a:ext cx="9246235" cy="228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52370">
              <a:lnSpc>
                <a:spcPct val="150000"/>
              </a:lnSpc>
              <a:spcBef>
                <a:spcPts val="100"/>
              </a:spcBef>
            </a:pPr>
            <a:r>
              <a:rPr sz="2400" b="1" spc="-5" dirty="0">
                <a:latin typeface="メイリオ"/>
                <a:cs typeface="メイリオ"/>
              </a:rPr>
              <a:t>まず、タクシーの移動距離を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b="1" dirty="0">
                <a:latin typeface="メイリオ"/>
                <a:cs typeface="メイリオ"/>
              </a:rPr>
              <a:t>(km</a:t>
            </a:r>
            <a:r>
              <a:rPr sz="2400" b="1" spc="-20" dirty="0">
                <a:latin typeface="メイリオ"/>
                <a:cs typeface="メイリオ"/>
              </a:rPr>
              <a:t>) とすると…</a:t>
            </a:r>
            <a:r>
              <a:rPr sz="2400" b="1" spc="-5" dirty="0">
                <a:latin typeface="メイリオ"/>
                <a:cs typeface="メイリオ"/>
              </a:rPr>
              <a:t>かかる値段は </a:t>
            </a:r>
            <a:r>
              <a:rPr sz="2400" dirty="0">
                <a:solidFill>
                  <a:srgbClr val="F43864"/>
                </a:solidFill>
                <a:latin typeface="Cambria Math"/>
                <a:cs typeface="Cambria Math"/>
              </a:rPr>
              <a:t>𝟏𝟎𝟎</a:t>
            </a:r>
            <a:r>
              <a:rPr sz="2400" u="sng" dirty="0">
                <a:solidFill>
                  <a:srgbClr val="F43864"/>
                </a:solidFill>
                <a:uFill>
                  <a:solidFill>
                    <a:srgbClr val="F43864"/>
                  </a:solidFill>
                </a:uFill>
                <a:latin typeface="Cambria Math"/>
                <a:cs typeface="Cambria Math"/>
              </a:rPr>
              <a:t>𝒙</a:t>
            </a:r>
            <a:r>
              <a:rPr sz="2400" u="none" spc="-25" dirty="0">
                <a:solidFill>
                  <a:srgbClr val="F43864"/>
                </a:solidFill>
                <a:latin typeface="Cambria Math"/>
                <a:cs typeface="Cambria Math"/>
              </a:rPr>
              <a:t> </a:t>
            </a:r>
            <a:r>
              <a:rPr sz="2400" u="none" spc="-425" dirty="0">
                <a:latin typeface="Cambria Math"/>
                <a:cs typeface="Cambria Math"/>
              </a:rPr>
              <a:t>+</a:t>
            </a:r>
            <a:r>
              <a:rPr sz="2400" u="sng" spc="330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none" dirty="0">
                <a:solidFill>
                  <a:srgbClr val="21379E"/>
                </a:solidFill>
                <a:latin typeface="Cambria Math"/>
                <a:cs typeface="Cambria Math"/>
              </a:rPr>
              <a:t>𝟓𝟎</a:t>
            </a:r>
            <a:r>
              <a:rPr sz="2400" u="sng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Cambria Math"/>
                <a:cs typeface="Cambria Math"/>
              </a:rPr>
              <a:t>𝟎</a:t>
            </a:r>
            <a:r>
              <a:rPr sz="2400" u="sng" spc="15" dirty="0">
                <a:solidFill>
                  <a:srgbClr val="21379E"/>
                </a:solidFill>
                <a:uFill>
                  <a:solidFill>
                    <a:srgbClr val="21379E"/>
                  </a:solidFill>
                </a:uFill>
                <a:latin typeface="Cambria Math"/>
                <a:cs typeface="Cambria Math"/>
              </a:rPr>
              <a:t> </a:t>
            </a:r>
            <a:r>
              <a:rPr sz="2400" u="none" spc="-31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400" b="1" u="none" spc="-50" dirty="0">
                <a:latin typeface="メイリオ"/>
                <a:cs typeface="メイリオ"/>
              </a:rPr>
              <a:t>円</a:t>
            </a:r>
            <a:endParaRPr sz="2400">
              <a:latin typeface="メイリオ"/>
              <a:cs typeface="メイリオ"/>
            </a:endParaRPr>
          </a:p>
          <a:p>
            <a:pPr marL="2004060">
              <a:lnSpc>
                <a:spcPct val="100000"/>
              </a:lnSpc>
              <a:spcBef>
                <a:spcPts val="204"/>
              </a:spcBef>
              <a:tabLst>
                <a:tab pos="2969260" algn="l"/>
              </a:tabLst>
            </a:pPr>
            <a:r>
              <a:rPr sz="1200" b="1" dirty="0">
                <a:solidFill>
                  <a:srgbClr val="F43864"/>
                </a:solidFill>
                <a:latin typeface="メイリオ"/>
                <a:cs typeface="メイリオ"/>
              </a:rPr>
              <a:t>加算運</a:t>
            </a:r>
            <a:r>
              <a:rPr sz="1200" b="1" spc="-50" dirty="0">
                <a:solidFill>
                  <a:srgbClr val="F43864"/>
                </a:solidFill>
                <a:latin typeface="メイリオ"/>
                <a:cs typeface="メイリオ"/>
              </a:rPr>
              <a:t>賃</a:t>
            </a:r>
            <a:r>
              <a:rPr sz="1200" b="1" dirty="0">
                <a:solidFill>
                  <a:srgbClr val="F43864"/>
                </a:solidFill>
                <a:latin typeface="メイリオ"/>
                <a:cs typeface="メイリオ"/>
              </a:rPr>
              <a:t>	</a:t>
            </a:r>
            <a:r>
              <a:rPr sz="1200" b="1" dirty="0">
                <a:solidFill>
                  <a:srgbClr val="21379E"/>
                </a:solidFill>
                <a:latin typeface="メイリオ"/>
                <a:cs typeface="メイリオ"/>
              </a:rPr>
              <a:t>初乗運</a:t>
            </a:r>
            <a:r>
              <a:rPr sz="1200" b="1" spc="-50" dirty="0">
                <a:solidFill>
                  <a:srgbClr val="21379E"/>
                </a:solidFill>
                <a:latin typeface="メイリオ"/>
                <a:cs typeface="メイリオ"/>
              </a:rPr>
              <a:t>賃</a:t>
            </a:r>
            <a:endParaRPr sz="12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</a:pPr>
            <a:endParaRPr sz="12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200">
              <a:latin typeface="メイリオ"/>
              <a:cs typeface="メイリオ"/>
            </a:endParaRPr>
          </a:p>
          <a:p>
            <a:pPr marL="408940">
              <a:lnSpc>
                <a:spcPct val="100000"/>
              </a:lnSpc>
            </a:pPr>
            <a:r>
              <a:rPr sz="1800" b="1" spc="-5" dirty="0">
                <a:latin typeface="メイリオ"/>
                <a:cs typeface="メイリオ"/>
              </a:rPr>
              <a:t>合計値段が </a:t>
            </a:r>
            <a:r>
              <a:rPr sz="1800" b="1" dirty="0">
                <a:latin typeface="メイリオ"/>
                <a:cs typeface="メイリオ"/>
              </a:rPr>
              <a:t>1400</a:t>
            </a:r>
            <a:r>
              <a:rPr sz="1800" b="1" spc="-15" dirty="0">
                <a:latin typeface="メイリオ"/>
                <a:cs typeface="メイリオ"/>
              </a:rPr>
              <a:t> 円なので、乗車距離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95" dirty="0">
                <a:latin typeface="Cambria Math"/>
                <a:cs typeface="Cambria Math"/>
              </a:rPr>
              <a:t> </a:t>
            </a:r>
            <a:r>
              <a:rPr sz="1800" b="1" spc="-5" dirty="0">
                <a:latin typeface="メイリオ"/>
                <a:cs typeface="メイリオ"/>
              </a:rPr>
              <a:t>は以下の方程式を満たさなければならない：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99892" y="4334636"/>
            <a:ext cx="20821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𝟏𝟎𝟎𝒙</a:t>
            </a:r>
            <a:r>
              <a:rPr sz="1800" spc="-1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+ 𝟓𝟎𝟎</a:t>
            </a:r>
            <a:r>
              <a:rPr sz="1800" spc="8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AC1381"/>
                </a:solidFill>
                <a:latin typeface="Cambria Math"/>
                <a:cs typeface="Cambria Math"/>
              </a:rPr>
              <a:t>𝟏𝟒𝟎𝟎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84169" y="4809490"/>
            <a:ext cx="1264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𝟏𝟎𝟎𝒙</a:t>
            </a:r>
            <a:r>
              <a:rPr sz="1800" spc="8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AC1381"/>
                </a:solidFill>
                <a:latin typeface="Cambria Math"/>
                <a:cs typeface="Cambria Math"/>
              </a:rPr>
              <a:t>𝟗𝟎𝟎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280" y="4832730"/>
            <a:ext cx="161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AC1381"/>
                </a:solidFill>
                <a:latin typeface="メイリオ"/>
                <a:cs typeface="メイリオ"/>
              </a:rPr>
              <a:t>これを解くと…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4158" y="5284978"/>
            <a:ext cx="57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𝒙</a:t>
            </a:r>
            <a:r>
              <a:rPr sz="1800" spc="90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AC1381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AC1381"/>
                </a:solidFill>
                <a:latin typeface="Cambria Math"/>
                <a:cs typeface="Cambria Math"/>
              </a:rPr>
              <a:t>𝟗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31123" y="4607052"/>
            <a:ext cx="2893060" cy="1432560"/>
            <a:chOff x="8231123" y="4607052"/>
            <a:chExt cx="2893060" cy="1432560"/>
          </a:xfrm>
        </p:grpSpPr>
        <p:sp>
          <p:nvSpPr>
            <p:cNvPr id="16" name="object 16"/>
            <p:cNvSpPr/>
            <p:nvPr/>
          </p:nvSpPr>
          <p:spPr>
            <a:xfrm>
              <a:off x="10367772" y="4828032"/>
              <a:ext cx="756285" cy="1211580"/>
            </a:xfrm>
            <a:custGeom>
              <a:avLst/>
              <a:gdLst/>
              <a:ahLst/>
              <a:cxnLst/>
              <a:rect l="l" t="t" r="r" b="b"/>
              <a:pathLst>
                <a:path w="756284" h="1211579">
                  <a:moveTo>
                    <a:pt x="755904" y="797052"/>
                  </a:moveTo>
                  <a:lnTo>
                    <a:pt x="753605" y="797052"/>
                  </a:lnTo>
                  <a:lnTo>
                    <a:pt x="748563" y="759460"/>
                  </a:lnTo>
                  <a:lnTo>
                    <a:pt x="736739" y="714540"/>
                  </a:lnTo>
                  <a:lnTo>
                    <a:pt x="719759" y="672109"/>
                  </a:lnTo>
                  <a:lnTo>
                    <a:pt x="698030" y="632485"/>
                  </a:lnTo>
                  <a:lnTo>
                    <a:pt x="671918" y="596011"/>
                  </a:lnTo>
                  <a:lnTo>
                    <a:pt x="641807" y="563003"/>
                  </a:lnTo>
                  <a:lnTo>
                    <a:pt x="608076" y="533806"/>
                  </a:lnTo>
                  <a:lnTo>
                    <a:pt x="571106" y="508723"/>
                  </a:lnTo>
                  <a:lnTo>
                    <a:pt x="565315" y="505739"/>
                  </a:lnTo>
                  <a:lnTo>
                    <a:pt x="581634" y="491731"/>
                  </a:lnTo>
                  <a:lnTo>
                    <a:pt x="610425" y="458177"/>
                  </a:lnTo>
                  <a:lnTo>
                    <a:pt x="633844" y="420433"/>
                  </a:lnTo>
                  <a:lnTo>
                    <a:pt x="651306" y="379107"/>
                  </a:lnTo>
                  <a:lnTo>
                    <a:pt x="662216" y="334772"/>
                  </a:lnTo>
                  <a:lnTo>
                    <a:pt x="665988" y="288036"/>
                  </a:lnTo>
                  <a:lnTo>
                    <a:pt x="662216" y="241312"/>
                  </a:lnTo>
                  <a:lnTo>
                    <a:pt x="651306" y="196977"/>
                  </a:lnTo>
                  <a:lnTo>
                    <a:pt x="633844" y="155651"/>
                  </a:lnTo>
                  <a:lnTo>
                    <a:pt x="610425" y="117906"/>
                  </a:lnTo>
                  <a:lnTo>
                    <a:pt x="581634" y="84353"/>
                  </a:lnTo>
                  <a:lnTo>
                    <a:pt x="548081" y="55562"/>
                  </a:lnTo>
                  <a:lnTo>
                    <a:pt x="510336" y="32143"/>
                  </a:lnTo>
                  <a:lnTo>
                    <a:pt x="469011" y="14681"/>
                  </a:lnTo>
                  <a:lnTo>
                    <a:pt x="424675" y="3771"/>
                  </a:lnTo>
                  <a:lnTo>
                    <a:pt x="377952" y="0"/>
                  </a:lnTo>
                  <a:lnTo>
                    <a:pt x="331216" y="3771"/>
                  </a:lnTo>
                  <a:lnTo>
                    <a:pt x="286880" y="14681"/>
                  </a:lnTo>
                  <a:lnTo>
                    <a:pt x="245554" y="32143"/>
                  </a:lnTo>
                  <a:lnTo>
                    <a:pt x="207810" y="55562"/>
                  </a:lnTo>
                  <a:lnTo>
                    <a:pt x="174256" y="84353"/>
                  </a:lnTo>
                  <a:lnTo>
                    <a:pt x="145465" y="117906"/>
                  </a:lnTo>
                  <a:lnTo>
                    <a:pt x="122047" y="155651"/>
                  </a:lnTo>
                  <a:lnTo>
                    <a:pt x="104584" y="196977"/>
                  </a:lnTo>
                  <a:lnTo>
                    <a:pt x="93675" y="241312"/>
                  </a:lnTo>
                  <a:lnTo>
                    <a:pt x="89916" y="288036"/>
                  </a:lnTo>
                  <a:lnTo>
                    <a:pt x="93675" y="334772"/>
                  </a:lnTo>
                  <a:lnTo>
                    <a:pt x="104584" y="379107"/>
                  </a:lnTo>
                  <a:lnTo>
                    <a:pt x="122047" y="420433"/>
                  </a:lnTo>
                  <a:lnTo>
                    <a:pt x="145465" y="458177"/>
                  </a:lnTo>
                  <a:lnTo>
                    <a:pt x="174256" y="491731"/>
                  </a:lnTo>
                  <a:lnTo>
                    <a:pt x="190754" y="505904"/>
                  </a:lnTo>
                  <a:lnTo>
                    <a:pt x="176809" y="513549"/>
                  </a:lnTo>
                  <a:lnTo>
                    <a:pt x="140335" y="539661"/>
                  </a:lnTo>
                  <a:lnTo>
                    <a:pt x="107327" y="569772"/>
                  </a:lnTo>
                  <a:lnTo>
                    <a:pt x="78117" y="603504"/>
                  </a:lnTo>
                  <a:lnTo>
                    <a:pt x="53035" y="640486"/>
                  </a:lnTo>
                  <a:lnTo>
                    <a:pt x="32410" y="680326"/>
                  </a:lnTo>
                  <a:lnTo>
                    <a:pt x="16573" y="722642"/>
                  </a:lnTo>
                  <a:lnTo>
                    <a:pt x="5842" y="767067"/>
                  </a:lnTo>
                  <a:lnTo>
                    <a:pt x="2400" y="797052"/>
                  </a:lnTo>
                  <a:lnTo>
                    <a:pt x="0" y="797052"/>
                  </a:lnTo>
                  <a:lnTo>
                    <a:pt x="0" y="1211580"/>
                  </a:lnTo>
                  <a:lnTo>
                    <a:pt x="755904" y="1211580"/>
                  </a:lnTo>
                  <a:lnTo>
                    <a:pt x="755904" y="797052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31123" y="4607052"/>
              <a:ext cx="1931035" cy="718185"/>
            </a:xfrm>
            <a:custGeom>
              <a:avLst/>
              <a:gdLst/>
              <a:ahLst/>
              <a:cxnLst/>
              <a:rect l="l" t="t" r="r" b="b"/>
              <a:pathLst>
                <a:path w="1931034" h="718185">
                  <a:moveTo>
                    <a:pt x="1775332" y="0"/>
                  </a:moveTo>
                  <a:lnTo>
                    <a:pt x="155448" y="0"/>
                  </a:lnTo>
                  <a:lnTo>
                    <a:pt x="106314" y="7924"/>
                  </a:lnTo>
                  <a:lnTo>
                    <a:pt x="63642" y="29992"/>
                  </a:lnTo>
                  <a:lnTo>
                    <a:pt x="29992" y="63642"/>
                  </a:lnTo>
                  <a:lnTo>
                    <a:pt x="7924" y="106314"/>
                  </a:lnTo>
                  <a:lnTo>
                    <a:pt x="0" y="155448"/>
                  </a:lnTo>
                  <a:lnTo>
                    <a:pt x="0" y="562229"/>
                  </a:lnTo>
                  <a:lnTo>
                    <a:pt x="7924" y="611424"/>
                  </a:lnTo>
                  <a:lnTo>
                    <a:pt x="29992" y="654134"/>
                  </a:lnTo>
                  <a:lnTo>
                    <a:pt x="63642" y="687803"/>
                  </a:lnTo>
                  <a:lnTo>
                    <a:pt x="106314" y="709878"/>
                  </a:lnTo>
                  <a:lnTo>
                    <a:pt x="155448" y="717804"/>
                  </a:lnTo>
                  <a:lnTo>
                    <a:pt x="1775332" y="717804"/>
                  </a:lnTo>
                  <a:lnTo>
                    <a:pt x="1824528" y="709878"/>
                  </a:lnTo>
                  <a:lnTo>
                    <a:pt x="1867238" y="687803"/>
                  </a:lnTo>
                  <a:lnTo>
                    <a:pt x="1900907" y="654134"/>
                  </a:lnTo>
                  <a:lnTo>
                    <a:pt x="1922982" y="611424"/>
                  </a:lnTo>
                  <a:lnTo>
                    <a:pt x="1930907" y="562229"/>
                  </a:lnTo>
                  <a:lnTo>
                    <a:pt x="1930907" y="155448"/>
                  </a:lnTo>
                  <a:lnTo>
                    <a:pt x="1922982" y="106314"/>
                  </a:lnTo>
                  <a:lnTo>
                    <a:pt x="1900907" y="63642"/>
                  </a:lnTo>
                  <a:lnTo>
                    <a:pt x="1867238" y="29992"/>
                  </a:lnTo>
                  <a:lnTo>
                    <a:pt x="1824528" y="7924"/>
                  </a:lnTo>
                  <a:lnTo>
                    <a:pt x="1775332" y="0"/>
                  </a:lnTo>
                  <a:close/>
                </a:path>
              </a:pathLst>
            </a:custGeom>
            <a:solidFill>
              <a:srgbClr val="AC1381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49640" y="4782692"/>
            <a:ext cx="1307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メイリオ"/>
                <a:cs typeface="メイリオ"/>
              </a:rPr>
              <a:t>答えは </a:t>
            </a: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9km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98314" y="4517263"/>
            <a:ext cx="5612130" cy="909955"/>
            <a:chOff x="4798314" y="4517263"/>
            <a:chExt cx="5612130" cy="909955"/>
          </a:xfrm>
        </p:grpSpPr>
        <p:sp>
          <p:nvSpPr>
            <p:cNvPr id="20" name="object 20"/>
            <p:cNvSpPr/>
            <p:nvPr/>
          </p:nvSpPr>
          <p:spPr>
            <a:xfrm>
              <a:off x="10162032" y="4983480"/>
              <a:ext cx="248920" cy="187960"/>
            </a:xfrm>
            <a:custGeom>
              <a:avLst/>
              <a:gdLst/>
              <a:ahLst/>
              <a:cxnLst/>
              <a:rect l="l" t="t" r="r" b="b"/>
              <a:pathLst>
                <a:path w="248920" h="187960">
                  <a:moveTo>
                    <a:pt x="0" y="0"/>
                  </a:moveTo>
                  <a:lnTo>
                    <a:pt x="0" y="187452"/>
                  </a:lnTo>
                  <a:lnTo>
                    <a:pt x="248412" y="93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1381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98314" y="4517262"/>
              <a:ext cx="267335" cy="909955"/>
            </a:xfrm>
            <a:custGeom>
              <a:avLst/>
              <a:gdLst/>
              <a:ahLst/>
              <a:cxnLst/>
              <a:rect l="l" t="t" r="r" b="b"/>
              <a:pathLst>
                <a:path w="267335" h="909954">
                  <a:moveTo>
                    <a:pt x="26416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235585" y="28575"/>
                  </a:lnTo>
                  <a:lnTo>
                    <a:pt x="235585" y="286016"/>
                  </a:lnTo>
                  <a:lnTo>
                    <a:pt x="111175" y="280797"/>
                  </a:lnTo>
                  <a:lnTo>
                    <a:pt x="109385" y="280797"/>
                  </a:lnTo>
                  <a:lnTo>
                    <a:pt x="109512" y="280733"/>
                  </a:lnTo>
                  <a:lnTo>
                    <a:pt x="113715" y="278511"/>
                  </a:lnTo>
                  <a:lnTo>
                    <a:pt x="157480" y="255397"/>
                  </a:lnTo>
                  <a:lnTo>
                    <a:pt x="160020" y="246634"/>
                  </a:lnTo>
                  <a:lnTo>
                    <a:pt x="156337" y="239776"/>
                  </a:lnTo>
                  <a:lnTo>
                    <a:pt x="152654" y="232791"/>
                  </a:lnTo>
                  <a:lnTo>
                    <a:pt x="144018" y="230124"/>
                  </a:lnTo>
                  <a:lnTo>
                    <a:pt x="27686" y="291592"/>
                  </a:lnTo>
                  <a:lnTo>
                    <a:pt x="138557" y="362585"/>
                  </a:lnTo>
                  <a:lnTo>
                    <a:pt x="147320" y="360680"/>
                  </a:lnTo>
                  <a:lnTo>
                    <a:pt x="151638" y="354076"/>
                  </a:lnTo>
                  <a:lnTo>
                    <a:pt x="155956" y="347345"/>
                  </a:lnTo>
                  <a:lnTo>
                    <a:pt x="153924" y="338582"/>
                  </a:lnTo>
                  <a:lnTo>
                    <a:pt x="147320" y="334264"/>
                  </a:lnTo>
                  <a:lnTo>
                    <a:pt x="108254" y="309270"/>
                  </a:lnTo>
                  <a:lnTo>
                    <a:pt x="264160" y="315722"/>
                  </a:lnTo>
                  <a:lnTo>
                    <a:pt x="264160" y="300863"/>
                  </a:lnTo>
                  <a:lnTo>
                    <a:pt x="264160" y="28575"/>
                  </a:lnTo>
                  <a:lnTo>
                    <a:pt x="264160" y="14351"/>
                  </a:lnTo>
                  <a:lnTo>
                    <a:pt x="264160" y="0"/>
                  </a:lnTo>
                  <a:close/>
                </a:path>
                <a:path w="267335" h="909954">
                  <a:moveTo>
                    <a:pt x="267208" y="548640"/>
                  </a:moveTo>
                  <a:lnTo>
                    <a:pt x="3048" y="548640"/>
                  </a:lnTo>
                  <a:lnTo>
                    <a:pt x="3048" y="577215"/>
                  </a:lnTo>
                  <a:lnTo>
                    <a:pt x="238633" y="577215"/>
                  </a:lnTo>
                  <a:lnTo>
                    <a:pt x="238633" y="833132"/>
                  </a:lnTo>
                  <a:lnTo>
                    <a:pt x="114223" y="827913"/>
                  </a:lnTo>
                  <a:lnTo>
                    <a:pt x="112420" y="827913"/>
                  </a:lnTo>
                  <a:lnTo>
                    <a:pt x="112547" y="827849"/>
                  </a:lnTo>
                  <a:lnTo>
                    <a:pt x="116751" y="825627"/>
                  </a:lnTo>
                  <a:lnTo>
                    <a:pt x="160401" y="802513"/>
                  </a:lnTo>
                  <a:lnTo>
                    <a:pt x="163068" y="793877"/>
                  </a:lnTo>
                  <a:lnTo>
                    <a:pt x="155702" y="779907"/>
                  </a:lnTo>
                  <a:lnTo>
                    <a:pt x="147066" y="777240"/>
                  </a:lnTo>
                  <a:lnTo>
                    <a:pt x="30734" y="838835"/>
                  </a:lnTo>
                  <a:lnTo>
                    <a:pt x="141605" y="909701"/>
                  </a:lnTo>
                  <a:lnTo>
                    <a:pt x="150495" y="907796"/>
                  </a:lnTo>
                  <a:lnTo>
                    <a:pt x="154686" y="901192"/>
                  </a:lnTo>
                  <a:lnTo>
                    <a:pt x="159004" y="894461"/>
                  </a:lnTo>
                  <a:lnTo>
                    <a:pt x="156972" y="885698"/>
                  </a:lnTo>
                  <a:lnTo>
                    <a:pt x="150368" y="881380"/>
                  </a:lnTo>
                  <a:lnTo>
                    <a:pt x="111302" y="856386"/>
                  </a:lnTo>
                  <a:lnTo>
                    <a:pt x="267208" y="862838"/>
                  </a:lnTo>
                  <a:lnTo>
                    <a:pt x="267208" y="847979"/>
                  </a:lnTo>
                  <a:lnTo>
                    <a:pt x="267208" y="577215"/>
                  </a:lnTo>
                  <a:lnTo>
                    <a:pt x="267208" y="562991"/>
                  </a:lnTo>
                  <a:lnTo>
                    <a:pt x="267208" y="54864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167629" y="4485258"/>
            <a:ext cx="22034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AC1381"/>
                </a:solidFill>
                <a:latin typeface="メイリオ"/>
                <a:cs typeface="メイリオ"/>
              </a:rPr>
              <a:t>合計が </a:t>
            </a:r>
            <a:r>
              <a:rPr sz="1200" b="1" dirty="0">
                <a:solidFill>
                  <a:srgbClr val="AC1381"/>
                </a:solidFill>
                <a:latin typeface="メイリオ"/>
                <a:cs typeface="メイリオ"/>
              </a:rPr>
              <a:t>1400</a:t>
            </a:r>
            <a:r>
              <a:rPr sz="1200" b="1" spc="-15" dirty="0">
                <a:solidFill>
                  <a:srgbClr val="AC1381"/>
                </a:solidFill>
                <a:latin typeface="メイリオ"/>
                <a:cs typeface="メイリオ"/>
              </a:rPr>
              <a:t> 円なら加算運賃は</a:t>
            </a:r>
            <a:endParaRPr sz="12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</a:pPr>
            <a:r>
              <a:rPr sz="1200" b="1" dirty="0">
                <a:solidFill>
                  <a:srgbClr val="AC1381"/>
                </a:solidFill>
                <a:latin typeface="メイリオ"/>
                <a:cs typeface="メイリオ"/>
              </a:rPr>
              <a:t>900</a:t>
            </a:r>
            <a:r>
              <a:rPr sz="1200" b="1" spc="-15" dirty="0">
                <a:solidFill>
                  <a:srgbClr val="AC1381"/>
                </a:solidFill>
                <a:latin typeface="メイリオ"/>
                <a:cs typeface="メイリオ"/>
              </a:rPr>
              <a:t> 円でなければならない！</a:t>
            </a:r>
            <a:endParaRPr sz="1200">
              <a:latin typeface="メイリオ"/>
              <a:cs typeface="メイリオ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70042" y="5125339"/>
            <a:ext cx="990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AC1381"/>
                </a:solidFill>
                <a:latin typeface="メイリオ"/>
                <a:cs typeface="メイリオ"/>
              </a:rPr>
              <a:t>900÷100=9</a:t>
            </a:r>
            <a:endParaRPr sz="12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1175</Words>
  <Application>Microsoft Office PowerPoint</Application>
  <PresentationFormat>ワイド画面</PresentationFormat>
  <Paragraphs>348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6" baseType="lpstr">
      <vt:lpstr>メイリオ</vt:lpstr>
      <vt:lpstr>Arial</vt:lpstr>
      <vt:lpstr>Cambria Math</vt:lpstr>
      <vt:lpstr>Lucida Sans</vt:lpstr>
      <vt:lpstr>Times New Roman</vt:lpstr>
      <vt:lpstr>Office Theme</vt:lpstr>
      <vt:lpstr>150 分で学ぶ 高校数学の基礎</vt:lpstr>
      <vt:lpstr>序</vt:lpstr>
      <vt:lpstr>序</vt:lpstr>
      <vt:lpstr>PowerPoint プレゼンテーション</vt:lpstr>
      <vt:lpstr>CHAPTER 1 数学の基礎知識</vt:lpstr>
      <vt:lpstr>1</vt:lpstr>
      <vt:lpstr>PowerPoint プレゼンテーション</vt:lpstr>
      <vt:lpstr>1</vt:lpstr>
      <vt:lpstr>1</vt:lpstr>
      <vt:lpstr>1</vt:lpstr>
      <vt:lpstr>1</vt:lpstr>
      <vt:lpstr>PowerPoint プレゼンテーション</vt:lpstr>
      <vt:lpstr>1 文字式の前に</vt:lpstr>
      <vt:lpstr>1 文字式の前に</vt:lpstr>
      <vt:lpstr>1 文字式の前に</vt:lpstr>
      <vt:lpstr>1 文字式の前に</vt:lpstr>
      <vt:lpstr>1</vt:lpstr>
      <vt:lpstr>1 文字式のルール</vt:lpstr>
      <vt:lpstr>1</vt:lpstr>
      <vt:lpstr>1</vt:lpstr>
      <vt:lpstr>PowerPoint プレゼンテーション</vt:lpstr>
      <vt:lpstr>1</vt:lpstr>
      <vt:lpstr>1</vt:lpstr>
      <vt:lpstr>1</vt:lpstr>
      <vt:lpstr>1</vt:lpstr>
      <vt:lpstr>1</vt:lpstr>
      <vt:lpstr>1 “本章のゴール” を解こう</vt:lpstr>
      <vt:lpstr>1 “本章のゴール” を解こう</vt:lpstr>
      <vt:lpstr>1 “本章のゴール” を解こう</vt:lpstr>
      <vt:lpstr>1 “本章のゴール” を解こう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米田 優峻</dc:creator>
  <cp:lastModifiedBy>内藤 真広</cp:lastModifiedBy>
  <cp:revision>3</cp:revision>
  <dcterms:created xsi:type="dcterms:W3CDTF">2024-12-02T00:16:03Z</dcterms:created>
  <dcterms:modified xsi:type="dcterms:W3CDTF">2026-03-29T10:01:32Z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2024-12-02T00:00:00Z</vt:filetime>
  </property>
  <property fmtid="{D5CDD505-2E9C-101B-9397-08002B2CF9AE}" pid="5" name="Producer">
    <vt:lpwstr>Microsoft® PowerPoint® 2016</vt:lpwstr>
  </property>
</Properties>
</file>