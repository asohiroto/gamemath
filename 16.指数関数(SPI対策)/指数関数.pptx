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4" r:id="rId2"/>
    <p:sldId id="375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6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95400" y="0"/>
            <a:ext cx="10896600" cy="1295400"/>
          </a:xfrm>
          <a:custGeom>
            <a:avLst/>
            <a:gdLst/>
            <a:ahLst/>
            <a:cxnLst/>
            <a:rect l="l" t="t" r="r" b="b"/>
            <a:pathLst>
              <a:path w="10896600" h="1295400">
                <a:moveTo>
                  <a:pt x="10896600" y="0"/>
                </a:moveTo>
                <a:lnTo>
                  <a:pt x="0" y="0"/>
                </a:lnTo>
                <a:lnTo>
                  <a:pt x="0" y="1295400"/>
                </a:lnTo>
                <a:lnTo>
                  <a:pt x="10896600" y="1295400"/>
                </a:lnTo>
                <a:lnTo>
                  <a:pt x="10896600" y="0"/>
                </a:lnTo>
                <a:close/>
              </a:path>
            </a:pathLst>
          </a:custGeom>
          <a:solidFill>
            <a:srgbClr val="AC1381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779252" y="216408"/>
            <a:ext cx="1161415" cy="862965"/>
          </a:xfrm>
          <a:custGeom>
            <a:avLst/>
            <a:gdLst/>
            <a:ahLst/>
            <a:cxnLst/>
            <a:rect l="l" t="t" r="r" b="b"/>
            <a:pathLst>
              <a:path w="1161415" h="862965">
                <a:moveTo>
                  <a:pt x="796036" y="0"/>
                </a:moveTo>
                <a:lnTo>
                  <a:pt x="365251" y="0"/>
                </a:lnTo>
                <a:lnTo>
                  <a:pt x="315699" y="3335"/>
                </a:lnTo>
                <a:lnTo>
                  <a:pt x="268169" y="13050"/>
                </a:lnTo>
                <a:lnTo>
                  <a:pt x="223099" y="28709"/>
                </a:lnTo>
                <a:lnTo>
                  <a:pt x="180923" y="49878"/>
                </a:lnTo>
                <a:lnTo>
                  <a:pt x="142077" y="76119"/>
                </a:lnTo>
                <a:lnTo>
                  <a:pt x="106997" y="106997"/>
                </a:lnTo>
                <a:lnTo>
                  <a:pt x="76119" y="142077"/>
                </a:lnTo>
                <a:lnTo>
                  <a:pt x="49878" y="180923"/>
                </a:lnTo>
                <a:lnTo>
                  <a:pt x="28709" y="223099"/>
                </a:lnTo>
                <a:lnTo>
                  <a:pt x="13050" y="268169"/>
                </a:lnTo>
                <a:lnTo>
                  <a:pt x="3335" y="315699"/>
                </a:lnTo>
                <a:lnTo>
                  <a:pt x="0" y="365252"/>
                </a:lnTo>
                <a:lnTo>
                  <a:pt x="0" y="497332"/>
                </a:lnTo>
                <a:lnTo>
                  <a:pt x="3335" y="546884"/>
                </a:lnTo>
                <a:lnTo>
                  <a:pt x="13050" y="594414"/>
                </a:lnTo>
                <a:lnTo>
                  <a:pt x="28709" y="639484"/>
                </a:lnTo>
                <a:lnTo>
                  <a:pt x="49878" y="681660"/>
                </a:lnTo>
                <a:lnTo>
                  <a:pt x="76119" y="720506"/>
                </a:lnTo>
                <a:lnTo>
                  <a:pt x="106997" y="755586"/>
                </a:lnTo>
                <a:lnTo>
                  <a:pt x="142077" y="786464"/>
                </a:lnTo>
                <a:lnTo>
                  <a:pt x="180923" y="812705"/>
                </a:lnTo>
                <a:lnTo>
                  <a:pt x="223099" y="833874"/>
                </a:lnTo>
                <a:lnTo>
                  <a:pt x="268169" y="849533"/>
                </a:lnTo>
                <a:lnTo>
                  <a:pt x="315699" y="859248"/>
                </a:lnTo>
                <a:lnTo>
                  <a:pt x="365251" y="862584"/>
                </a:lnTo>
                <a:lnTo>
                  <a:pt x="796036" y="862584"/>
                </a:lnTo>
                <a:lnTo>
                  <a:pt x="845588" y="859248"/>
                </a:lnTo>
                <a:lnTo>
                  <a:pt x="893118" y="849533"/>
                </a:lnTo>
                <a:lnTo>
                  <a:pt x="938188" y="833874"/>
                </a:lnTo>
                <a:lnTo>
                  <a:pt x="980364" y="812705"/>
                </a:lnTo>
                <a:lnTo>
                  <a:pt x="1019210" y="786464"/>
                </a:lnTo>
                <a:lnTo>
                  <a:pt x="1054290" y="755586"/>
                </a:lnTo>
                <a:lnTo>
                  <a:pt x="1085168" y="720506"/>
                </a:lnTo>
                <a:lnTo>
                  <a:pt x="1111409" y="681660"/>
                </a:lnTo>
                <a:lnTo>
                  <a:pt x="1132578" y="639484"/>
                </a:lnTo>
                <a:lnTo>
                  <a:pt x="1148237" y="594414"/>
                </a:lnTo>
                <a:lnTo>
                  <a:pt x="1157952" y="546884"/>
                </a:lnTo>
                <a:lnTo>
                  <a:pt x="1161288" y="497332"/>
                </a:lnTo>
                <a:lnTo>
                  <a:pt x="1161288" y="365252"/>
                </a:lnTo>
                <a:lnTo>
                  <a:pt x="1157952" y="315699"/>
                </a:lnTo>
                <a:lnTo>
                  <a:pt x="1148237" y="268169"/>
                </a:lnTo>
                <a:lnTo>
                  <a:pt x="1132578" y="223099"/>
                </a:lnTo>
                <a:lnTo>
                  <a:pt x="1111409" y="180923"/>
                </a:lnTo>
                <a:lnTo>
                  <a:pt x="1085168" y="142077"/>
                </a:lnTo>
                <a:lnTo>
                  <a:pt x="1054290" y="106997"/>
                </a:lnTo>
                <a:lnTo>
                  <a:pt x="1019210" y="76119"/>
                </a:lnTo>
                <a:lnTo>
                  <a:pt x="980364" y="49878"/>
                </a:lnTo>
                <a:lnTo>
                  <a:pt x="938188" y="28709"/>
                </a:lnTo>
                <a:lnTo>
                  <a:pt x="893118" y="13050"/>
                </a:lnTo>
                <a:lnTo>
                  <a:pt x="845588" y="3335"/>
                </a:lnTo>
                <a:lnTo>
                  <a:pt x="796036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029950" y="371093"/>
            <a:ext cx="649605" cy="554355"/>
          </a:xfrm>
          <a:custGeom>
            <a:avLst/>
            <a:gdLst/>
            <a:ahLst/>
            <a:cxnLst/>
            <a:rect l="l" t="t" r="r" b="b"/>
            <a:pathLst>
              <a:path w="649604" h="554355">
                <a:moveTo>
                  <a:pt x="0" y="554227"/>
                </a:moveTo>
                <a:lnTo>
                  <a:pt x="64947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300" y="205866"/>
            <a:ext cx="25146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621786" y="3486353"/>
            <a:ext cx="4948427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67510" cy="6858000"/>
          </a:xfrm>
          <a:custGeom>
            <a:avLst/>
            <a:gdLst/>
            <a:ahLst/>
            <a:cxnLst/>
            <a:rect l="l" t="t" r="r" b="b"/>
            <a:pathLst>
              <a:path w="1667510" h="6858000">
                <a:moveTo>
                  <a:pt x="0" y="6858000"/>
                </a:moveTo>
                <a:lnTo>
                  <a:pt x="1667256" y="6858000"/>
                </a:lnTo>
                <a:lnTo>
                  <a:pt x="16672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69948" y="0"/>
            <a:ext cx="10322560" cy="6858000"/>
          </a:xfrm>
          <a:custGeom>
            <a:avLst/>
            <a:gdLst/>
            <a:ahLst/>
            <a:cxnLst/>
            <a:rect l="l" t="t" r="r" b="b"/>
            <a:pathLst>
              <a:path w="10322560" h="6858000">
                <a:moveTo>
                  <a:pt x="0" y="6858000"/>
                </a:moveTo>
                <a:lnTo>
                  <a:pt x="10322052" y="6858000"/>
                </a:lnTo>
                <a:lnTo>
                  <a:pt x="103220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AC1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504" y="205866"/>
            <a:ext cx="6350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025" y="1993519"/>
            <a:ext cx="10388600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メイリオ"/>
                <a:cs typeface="メイリオ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429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</a:t>
            </a:r>
            <a:endParaRPr sz="4800" dirty="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119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7940" y="3474211"/>
            <a:ext cx="551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メイリオ"/>
                <a:cs typeface="メイリオ"/>
              </a:rPr>
              <a:t>3</a:t>
            </a:r>
            <a:r>
              <a:rPr sz="5400" b="1" spc="-15" dirty="0">
                <a:latin typeface="メイリオ"/>
                <a:cs typeface="メイリオ"/>
              </a:rPr>
              <a:t> 個目：指数関数</a:t>
            </a:r>
            <a:endParaRPr sz="5400" dirty="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120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755" y="1993392"/>
            <a:ext cx="7103745" cy="4211320"/>
            <a:chOff x="4143755" y="1993392"/>
            <a:chExt cx="7103745" cy="4211320"/>
          </a:xfrm>
        </p:grpSpPr>
        <p:sp>
          <p:nvSpPr>
            <p:cNvPr id="11" name="object 11"/>
            <p:cNvSpPr/>
            <p:nvPr/>
          </p:nvSpPr>
          <p:spPr>
            <a:xfrm>
              <a:off x="4143755" y="1993392"/>
              <a:ext cx="7103745" cy="4211320"/>
            </a:xfrm>
            <a:custGeom>
              <a:avLst/>
              <a:gdLst/>
              <a:ahLst/>
              <a:cxnLst/>
              <a:rect l="l" t="t" r="r" b="b"/>
              <a:pathLst>
                <a:path w="7103745" h="4211320">
                  <a:moveTo>
                    <a:pt x="7103364" y="0"/>
                  </a:moveTo>
                  <a:lnTo>
                    <a:pt x="0" y="0"/>
                  </a:lnTo>
                  <a:lnTo>
                    <a:pt x="0" y="4210812"/>
                  </a:lnTo>
                  <a:lnTo>
                    <a:pt x="7103364" y="4210812"/>
                  </a:lnTo>
                  <a:lnTo>
                    <a:pt x="7103364" y="0"/>
                  </a:lnTo>
                  <a:close/>
                </a:path>
              </a:pathLst>
            </a:custGeom>
            <a:solidFill>
              <a:srgbClr val="CE860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5" y="2007108"/>
              <a:ext cx="2871470" cy="612775"/>
            </a:xfrm>
            <a:custGeom>
              <a:avLst/>
              <a:gdLst/>
              <a:ahLst/>
              <a:cxnLst/>
              <a:rect l="l" t="t" r="r" b="b"/>
              <a:pathLst>
                <a:path w="2871470" h="612775">
                  <a:moveTo>
                    <a:pt x="2871216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2871216" y="612648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CE86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37888" y="2109038"/>
            <a:ext cx="2297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指数関数の前に </a:t>
            </a:r>
            <a:r>
              <a:rPr sz="2000" b="1" spc="-25" dirty="0">
                <a:solidFill>
                  <a:srgbClr val="FFFFFF"/>
                </a:solidFill>
                <a:latin typeface="メイリオ"/>
                <a:cs typeface="メイリオ"/>
              </a:rPr>
              <a:t>(1)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4408" y="2957576"/>
            <a:ext cx="4396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メイリオ"/>
                <a:cs typeface="メイリオ"/>
              </a:rPr>
              <a:t>累乗 </a:t>
            </a:r>
            <a:r>
              <a:rPr sz="2000" dirty="0">
                <a:latin typeface="Cambria Math"/>
                <a:cs typeface="Cambria Math"/>
              </a:rPr>
              <a:t>𝒂</a:t>
            </a:r>
            <a:r>
              <a:rPr sz="2175" baseline="28735" dirty="0">
                <a:latin typeface="Cambria Math"/>
                <a:cs typeface="Cambria Math"/>
              </a:rPr>
              <a:t>𝒃</a:t>
            </a:r>
            <a:r>
              <a:rPr sz="2175" spc="622" baseline="2873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は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spc="-5" dirty="0">
                <a:latin typeface="メイリオ"/>
                <a:cs typeface="メイリオ"/>
              </a:rPr>
              <a:t>が負の数でも計算できる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68367" y="3429000"/>
            <a:ext cx="1449705" cy="508000"/>
          </a:xfrm>
          <a:custGeom>
            <a:avLst/>
            <a:gdLst/>
            <a:ahLst/>
            <a:cxnLst/>
            <a:rect l="l" t="t" r="r" b="b"/>
            <a:pathLst>
              <a:path w="1449704" h="508000">
                <a:moveTo>
                  <a:pt x="1195578" y="0"/>
                </a:moveTo>
                <a:lnTo>
                  <a:pt x="0" y="0"/>
                </a:lnTo>
                <a:lnTo>
                  <a:pt x="0" y="507492"/>
                </a:lnTo>
                <a:lnTo>
                  <a:pt x="1195578" y="507492"/>
                </a:lnTo>
                <a:lnTo>
                  <a:pt x="1449324" y="253745"/>
                </a:lnTo>
                <a:lnTo>
                  <a:pt x="1195578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20133" y="3479038"/>
            <a:ext cx="1031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計算方法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5520" y="3507485"/>
            <a:ext cx="3704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𝒃</a:t>
            </a:r>
            <a:r>
              <a:rPr sz="2000" spc="2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21379E"/>
                </a:solidFill>
                <a:latin typeface="メイリオ"/>
                <a:cs typeface="メイリオ"/>
              </a:rPr>
              <a:t>を </a:t>
            </a:r>
            <a:r>
              <a:rPr sz="2000" b="1" dirty="0">
                <a:solidFill>
                  <a:srgbClr val="21379E"/>
                </a:solidFill>
                <a:latin typeface="メイリオ"/>
                <a:cs typeface="メイリオ"/>
              </a:rPr>
              <a:t>1</a:t>
            </a:r>
            <a:r>
              <a:rPr sz="2000" b="1" spc="-10" dirty="0">
                <a:solidFill>
                  <a:srgbClr val="21379E"/>
                </a:solidFill>
                <a:latin typeface="メイリオ"/>
                <a:cs typeface="メイリオ"/>
              </a:rPr>
              <a:t> 減らすときには </a:t>
            </a: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÷ 𝒂</a:t>
            </a:r>
            <a:r>
              <a:rPr sz="2000" spc="2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000" b="1" spc="-25" dirty="0">
                <a:solidFill>
                  <a:srgbClr val="21379E"/>
                </a:solidFill>
                <a:latin typeface="メイリオ"/>
                <a:cs typeface="メイリオ"/>
              </a:rPr>
              <a:t>する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121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755" y="1993392"/>
            <a:ext cx="7103745" cy="4211320"/>
            <a:chOff x="4143755" y="1993392"/>
            <a:chExt cx="7103745" cy="4211320"/>
          </a:xfrm>
        </p:grpSpPr>
        <p:sp>
          <p:nvSpPr>
            <p:cNvPr id="11" name="object 11"/>
            <p:cNvSpPr/>
            <p:nvPr/>
          </p:nvSpPr>
          <p:spPr>
            <a:xfrm>
              <a:off x="4143755" y="1993392"/>
              <a:ext cx="7103745" cy="4211320"/>
            </a:xfrm>
            <a:custGeom>
              <a:avLst/>
              <a:gdLst/>
              <a:ahLst/>
              <a:cxnLst/>
              <a:rect l="l" t="t" r="r" b="b"/>
              <a:pathLst>
                <a:path w="7103745" h="4211320">
                  <a:moveTo>
                    <a:pt x="7103364" y="0"/>
                  </a:moveTo>
                  <a:lnTo>
                    <a:pt x="0" y="0"/>
                  </a:lnTo>
                  <a:lnTo>
                    <a:pt x="0" y="4210812"/>
                  </a:lnTo>
                  <a:lnTo>
                    <a:pt x="7103364" y="4210812"/>
                  </a:lnTo>
                  <a:lnTo>
                    <a:pt x="7103364" y="0"/>
                  </a:lnTo>
                  <a:close/>
                </a:path>
              </a:pathLst>
            </a:custGeom>
            <a:solidFill>
              <a:srgbClr val="CE860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5" y="2007108"/>
              <a:ext cx="2871470" cy="612775"/>
            </a:xfrm>
            <a:custGeom>
              <a:avLst/>
              <a:gdLst/>
              <a:ahLst/>
              <a:cxnLst/>
              <a:rect l="l" t="t" r="r" b="b"/>
              <a:pathLst>
                <a:path w="2871470" h="612775">
                  <a:moveTo>
                    <a:pt x="2871216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2871216" y="612648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CE86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37888" y="2109038"/>
            <a:ext cx="2297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指数関数の前に </a:t>
            </a:r>
            <a:r>
              <a:rPr sz="2000" b="1" spc="-25" dirty="0">
                <a:solidFill>
                  <a:srgbClr val="FFFFFF"/>
                </a:solidFill>
                <a:latin typeface="メイリオ"/>
                <a:cs typeface="メイリオ"/>
              </a:rPr>
              <a:t>(1)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4408" y="2957576"/>
            <a:ext cx="4396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メイリオ"/>
                <a:cs typeface="メイリオ"/>
              </a:rPr>
              <a:t>累乗 </a:t>
            </a:r>
            <a:r>
              <a:rPr sz="2000" dirty="0">
                <a:latin typeface="Cambria Math"/>
                <a:cs typeface="Cambria Math"/>
              </a:rPr>
              <a:t>𝒂</a:t>
            </a:r>
            <a:r>
              <a:rPr sz="2175" baseline="28735" dirty="0">
                <a:latin typeface="Cambria Math"/>
                <a:cs typeface="Cambria Math"/>
              </a:rPr>
              <a:t>𝒃</a:t>
            </a:r>
            <a:r>
              <a:rPr sz="2175" spc="622" baseline="2873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は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spc="-5" dirty="0">
                <a:latin typeface="メイリオ"/>
                <a:cs typeface="メイリオ"/>
              </a:rPr>
              <a:t>が負の数でも計算できる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68367" y="3429000"/>
            <a:ext cx="1449705" cy="508000"/>
          </a:xfrm>
          <a:custGeom>
            <a:avLst/>
            <a:gdLst/>
            <a:ahLst/>
            <a:cxnLst/>
            <a:rect l="l" t="t" r="r" b="b"/>
            <a:pathLst>
              <a:path w="1449704" h="508000">
                <a:moveTo>
                  <a:pt x="1195578" y="0"/>
                </a:moveTo>
                <a:lnTo>
                  <a:pt x="0" y="0"/>
                </a:lnTo>
                <a:lnTo>
                  <a:pt x="0" y="507492"/>
                </a:lnTo>
                <a:lnTo>
                  <a:pt x="1195578" y="507492"/>
                </a:lnTo>
                <a:lnTo>
                  <a:pt x="1449324" y="253745"/>
                </a:lnTo>
                <a:lnTo>
                  <a:pt x="1195578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20133" y="3479038"/>
            <a:ext cx="1031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計算方法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65520" y="3507485"/>
            <a:ext cx="3704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𝒃</a:t>
            </a:r>
            <a:r>
              <a:rPr sz="2000" spc="2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21379E"/>
                </a:solidFill>
                <a:latin typeface="メイリオ"/>
                <a:cs typeface="メイリオ"/>
              </a:rPr>
              <a:t>を </a:t>
            </a:r>
            <a:r>
              <a:rPr sz="2000" b="1" dirty="0">
                <a:solidFill>
                  <a:srgbClr val="21379E"/>
                </a:solidFill>
                <a:latin typeface="メイリオ"/>
                <a:cs typeface="メイリオ"/>
              </a:rPr>
              <a:t>1</a:t>
            </a:r>
            <a:r>
              <a:rPr sz="2000" b="1" spc="-10" dirty="0">
                <a:solidFill>
                  <a:srgbClr val="21379E"/>
                </a:solidFill>
                <a:latin typeface="メイリオ"/>
                <a:cs typeface="メイリオ"/>
              </a:rPr>
              <a:t> 減らすときには </a:t>
            </a: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÷ 𝒂</a:t>
            </a:r>
            <a:r>
              <a:rPr sz="2000" spc="210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000" b="1" spc="-25" dirty="0">
                <a:solidFill>
                  <a:srgbClr val="21379E"/>
                </a:solidFill>
                <a:latin typeface="メイリオ"/>
                <a:cs typeface="メイリオ"/>
              </a:rPr>
              <a:t>する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69764" y="4794503"/>
            <a:ext cx="1899285" cy="723900"/>
          </a:xfrm>
          <a:custGeom>
            <a:avLst/>
            <a:gdLst/>
            <a:ahLst/>
            <a:cxnLst/>
            <a:rect l="l" t="t" r="r" b="b"/>
            <a:pathLst>
              <a:path w="1899284" h="723900">
                <a:moveTo>
                  <a:pt x="719328" y="360426"/>
                </a:moveTo>
                <a:lnTo>
                  <a:pt x="716038" y="311531"/>
                </a:lnTo>
                <a:lnTo>
                  <a:pt x="706475" y="264629"/>
                </a:lnTo>
                <a:lnTo>
                  <a:pt x="691057" y="220154"/>
                </a:lnTo>
                <a:lnTo>
                  <a:pt x="670217" y="178536"/>
                </a:lnTo>
                <a:lnTo>
                  <a:pt x="644372" y="140208"/>
                </a:lnTo>
                <a:lnTo>
                  <a:pt x="613981" y="105587"/>
                </a:lnTo>
                <a:lnTo>
                  <a:pt x="579437" y="75120"/>
                </a:lnTo>
                <a:lnTo>
                  <a:pt x="541185" y="49225"/>
                </a:lnTo>
                <a:lnTo>
                  <a:pt x="499656" y="28333"/>
                </a:lnTo>
                <a:lnTo>
                  <a:pt x="455269" y="12890"/>
                </a:lnTo>
                <a:lnTo>
                  <a:pt x="408457" y="3302"/>
                </a:lnTo>
                <a:lnTo>
                  <a:pt x="359664" y="0"/>
                </a:lnTo>
                <a:lnTo>
                  <a:pt x="310857" y="3302"/>
                </a:lnTo>
                <a:lnTo>
                  <a:pt x="264045" y="12890"/>
                </a:lnTo>
                <a:lnTo>
                  <a:pt x="219659" y="28333"/>
                </a:lnTo>
                <a:lnTo>
                  <a:pt x="178130" y="49225"/>
                </a:lnTo>
                <a:lnTo>
                  <a:pt x="139877" y="75120"/>
                </a:lnTo>
                <a:lnTo>
                  <a:pt x="105346" y="105587"/>
                </a:lnTo>
                <a:lnTo>
                  <a:pt x="74942" y="140208"/>
                </a:lnTo>
                <a:lnTo>
                  <a:pt x="49098" y="178536"/>
                </a:lnTo>
                <a:lnTo>
                  <a:pt x="28257" y="220154"/>
                </a:lnTo>
                <a:lnTo>
                  <a:pt x="12839" y="264629"/>
                </a:lnTo>
                <a:lnTo>
                  <a:pt x="3276" y="311531"/>
                </a:lnTo>
                <a:lnTo>
                  <a:pt x="0" y="360426"/>
                </a:lnTo>
                <a:lnTo>
                  <a:pt x="3276" y="409333"/>
                </a:lnTo>
                <a:lnTo>
                  <a:pt x="12839" y="456234"/>
                </a:lnTo>
                <a:lnTo>
                  <a:pt x="28257" y="500710"/>
                </a:lnTo>
                <a:lnTo>
                  <a:pt x="49098" y="542328"/>
                </a:lnTo>
                <a:lnTo>
                  <a:pt x="74942" y="580656"/>
                </a:lnTo>
                <a:lnTo>
                  <a:pt x="105333" y="615276"/>
                </a:lnTo>
                <a:lnTo>
                  <a:pt x="139877" y="645744"/>
                </a:lnTo>
                <a:lnTo>
                  <a:pt x="178130" y="671639"/>
                </a:lnTo>
                <a:lnTo>
                  <a:pt x="219659" y="692531"/>
                </a:lnTo>
                <a:lnTo>
                  <a:pt x="264045" y="707974"/>
                </a:lnTo>
                <a:lnTo>
                  <a:pt x="310857" y="717562"/>
                </a:lnTo>
                <a:lnTo>
                  <a:pt x="359664" y="720852"/>
                </a:lnTo>
                <a:lnTo>
                  <a:pt x="408457" y="717562"/>
                </a:lnTo>
                <a:lnTo>
                  <a:pt x="455269" y="707974"/>
                </a:lnTo>
                <a:lnTo>
                  <a:pt x="499656" y="692531"/>
                </a:lnTo>
                <a:lnTo>
                  <a:pt x="541185" y="671639"/>
                </a:lnTo>
                <a:lnTo>
                  <a:pt x="579437" y="645744"/>
                </a:lnTo>
                <a:lnTo>
                  <a:pt x="613968" y="615276"/>
                </a:lnTo>
                <a:lnTo>
                  <a:pt x="644372" y="580656"/>
                </a:lnTo>
                <a:lnTo>
                  <a:pt x="670217" y="542328"/>
                </a:lnTo>
                <a:lnTo>
                  <a:pt x="691057" y="500710"/>
                </a:lnTo>
                <a:lnTo>
                  <a:pt x="706475" y="456234"/>
                </a:lnTo>
                <a:lnTo>
                  <a:pt x="716038" y="409333"/>
                </a:lnTo>
                <a:lnTo>
                  <a:pt x="719328" y="360426"/>
                </a:lnTo>
                <a:close/>
              </a:path>
              <a:path w="1899284" h="723900">
                <a:moveTo>
                  <a:pt x="1898904" y="363474"/>
                </a:moveTo>
                <a:lnTo>
                  <a:pt x="1895614" y="314579"/>
                </a:lnTo>
                <a:lnTo>
                  <a:pt x="1886051" y="267677"/>
                </a:lnTo>
                <a:lnTo>
                  <a:pt x="1870633" y="223202"/>
                </a:lnTo>
                <a:lnTo>
                  <a:pt x="1849793" y="181584"/>
                </a:lnTo>
                <a:lnTo>
                  <a:pt x="1823948" y="143256"/>
                </a:lnTo>
                <a:lnTo>
                  <a:pt x="1793557" y="108635"/>
                </a:lnTo>
                <a:lnTo>
                  <a:pt x="1759013" y="78168"/>
                </a:lnTo>
                <a:lnTo>
                  <a:pt x="1720761" y="52273"/>
                </a:lnTo>
                <a:lnTo>
                  <a:pt x="1679232" y="31381"/>
                </a:lnTo>
                <a:lnTo>
                  <a:pt x="1634845" y="15938"/>
                </a:lnTo>
                <a:lnTo>
                  <a:pt x="1588033" y="6350"/>
                </a:lnTo>
                <a:lnTo>
                  <a:pt x="1539240" y="3048"/>
                </a:lnTo>
                <a:lnTo>
                  <a:pt x="1490433" y="6350"/>
                </a:lnTo>
                <a:lnTo>
                  <a:pt x="1443621" y="15938"/>
                </a:lnTo>
                <a:lnTo>
                  <a:pt x="1399235" y="31381"/>
                </a:lnTo>
                <a:lnTo>
                  <a:pt x="1357706" y="52273"/>
                </a:lnTo>
                <a:lnTo>
                  <a:pt x="1319453" y="78168"/>
                </a:lnTo>
                <a:lnTo>
                  <a:pt x="1284922" y="108635"/>
                </a:lnTo>
                <a:lnTo>
                  <a:pt x="1254518" y="143256"/>
                </a:lnTo>
                <a:lnTo>
                  <a:pt x="1228674" y="181584"/>
                </a:lnTo>
                <a:lnTo>
                  <a:pt x="1207833" y="223202"/>
                </a:lnTo>
                <a:lnTo>
                  <a:pt x="1192415" y="267677"/>
                </a:lnTo>
                <a:lnTo>
                  <a:pt x="1182852" y="314579"/>
                </a:lnTo>
                <a:lnTo>
                  <a:pt x="1179576" y="363474"/>
                </a:lnTo>
                <a:lnTo>
                  <a:pt x="1182852" y="412381"/>
                </a:lnTo>
                <a:lnTo>
                  <a:pt x="1192415" y="459282"/>
                </a:lnTo>
                <a:lnTo>
                  <a:pt x="1207833" y="503758"/>
                </a:lnTo>
                <a:lnTo>
                  <a:pt x="1228674" y="545376"/>
                </a:lnTo>
                <a:lnTo>
                  <a:pt x="1254518" y="583704"/>
                </a:lnTo>
                <a:lnTo>
                  <a:pt x="1284909" y="618324"/>
                </a:lnTo>
                <a:lnTo>
                  <a:pt x="1319453" y="648792"/>
                </a:lnTo>
                <a:lnTo>
                  <a:pt x="1357706" y="674687"/>
                </a:lnTo>
                <a:lnTo>
                  <a:pt x="1399235" y="695579"/>
                </a:lnTo>
                <a:lnTo>
                  <a:pt x="1443621" y="711022"/>
                </a:lnTo>
                <a:lnTo>
                  <a:pt x="1490433" y="720610"/>
                </a:lnTo>
                <a:lnTo>
                  <a:pt x="1539240" y="723900"/>
                </a:lnTo>
                <a:lnTo>
                  <a:pt x="1588033" y="720610"/>
                </a:lnTo>
                <a:lnTo>
                  <a:pt x="1634845" y="711022"/>
                </a:lnTo>
                <a:lnTo>
                  <a:pt x="1679232" y="695579"/>
                </a:lnTo>
                <a:lnTo>
                  <a:pt x="1720761" y="674687"/>
                </a:lnTo>
                <a:lnTo>
                  <a:pt x="1759013" y="648792"/>
                </a:lnTo>
                <a:lnTo>
                  <a:pt x="1793557" y="618324"/>
                </a:lnTo>
                <a:lnTo>
                  <a:pt x="1823948" y="583704"/>
                </a:lnTo>
                <a:lnTo>
                  <a:pt x="1849793" y="545376"/>
                </a:lnTo>
                <a:lnTo>
                  <a:pt x="1870633" y="503758"/>
                </a:lnTo>
                <a:lnTo>
                  <a:pt x="1886051" y="459282"/>
                </a:lnTo>
                <a:lnTo>
                  <a:pt x="1895614" y="412381"/>
                </a:lnTo>
                <a:lnTo>
                  <a:pt x="1898904" y="3634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061711" y="4905502"/>
            <a:ext cx="172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204595" algn="l"/>
              </a:tabLst>
            </a:pPr>
            <a:r>
              <a:rPr sz="2700" b="1" baseline="-15432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1200" b="1" dirty="0">
                <a:solidFill>
                  <a:srgbClr val="FFFFFF"/>
                </a:solidFill>
                <a:latin typeface="メイリオ"/>
                <a:cs typeface="メイリオ"/>
              </a:rPr>
              <a:t>-</a:t>
            </a:r>
            <a:r>
              <a:rPr sz="12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r>
              <a:rPr sz="1200" b="1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2700" b="1" baseline="-1697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1200" b="1" dirty="0">
                <a:solidFill>
                  <a:srgbClr val="FFFFFF"/>
                </a:solidFill>
                <a:latin typeface="メイリオ"/>
                <a:cs typeface="メイリオ"/>
              </a:rPr>
              <a:t>-</a:t>
            </a:r>
            <a:r>
              <a:rPr sz="12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1200">
              <a:latin typeface="メイリオ"/>
              <a:cs typeface="メイリオ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33488" y="4794503"/>
            <a:ext cx="721360" cy="721360"/>
          </a:xfrm>
          <a:custGeom>
            <a:avLst/>
            <a:gdLst/>
            <a:ahLst/>
            <a:cxnLst/>
            <a:rect l="l" t="t" r="r" b="b"/>
            <a:pathLst>
              <a:path w="721359" h="721360">
                <a:moveTo>
                  <a:pt x="360425" y="0"/>
                </a:moveTo>
                <a:lnTo>
                  <a:pt x="311528" y="3291"/>
                </a:lnTo>
                <a:lnTo>
                  <a:pt x="264627" y="12878"/>
                </a:lnTo>
                <a:lnTo>
                  <a:pt x="220152" y="28330"/>
                </a:lnTo>
                <a:lnTo>
                  <a:pt x="178533" y="49219"/>
                </a:lnTo>
                <a:lnTo>
                  <a:pt x="140201" y="75114"/>
                </a:lnTo>
                <a:lnTo>
                  <a:pt x="105584" y="105584"/>
                </a:lnTo>
                <a:lnTo>
                  <a:pt x="75114" y="140201"/>
                </a:lnTo>
                <a:lnTo>
                  <a:pt x="49219" y="178533"/>
                </a:lnTo>
                <a:lnTo>
                  <a:pt x="28330" y="220152"/>
                </a:lnTo>
                <a:lnTo>
                  <a:pt x="12878" y="264627"/>
                </a:lnTo>
                <a:lnTo>
                  <a:pt x="3291" y="311528"/>
                </a:lnTo>
                <a:lnTo>
                  <a:pt x="0" y="360426"/>
                </a:lnTo>
                <a:lnTo>
                  <a:pt x="3291" y="409323"/>
                </a:lnTo>
                <a:lnTo>
                  <a:pt x="12878" y="456224"/>
                </a:lnTo>
                <a:lnTo>
                  <a:pt x="28330" y="500699"/>
                </a:lnTo>
                <a:lnTo>
                  <a:pt x="49219" y="542318"/>
                </a:lnTo>
                <a:lnTo>
                  <a:pt x="75114" y="580650"/>
                </a:lnTo>
                <a:lnTo>
                  <a:pt x="105584" y="615267"/>
                </a:lnTo>
                <a:lnTo>
                  <a:pt x="140201" y="645737"/>
                </a:lnTo>
                <a:lnTo>
                  <a:pt x="178533" y="671632"/>
                </a:lnTo>
                <a:lnTo>
                  <a:pt x="220152" y="692521"/>
                </a:lnTo>
                <a:lnTo>
                  <a:pt x="264627" y="707973"/>
                </a:lnTo>
                <a:lnTo>
                  <a:pt x="311528" y="717560"/>
                </a:lnTo>
                <a:lnTo>
                  <a:pt x="360425" y="720852"/>
                </a:lnTo>
                <a:lnTo>
                  <a:pt x="409323" y="717560"/>
                </a:lnTo>
                <a:lnTo>
                  <a:pt x="456224" y="707973"/>
                </a:lnTo>
                <a:lnTo>
                  <a:pt x="500699" y="692521"/>
                </a:lnTo>
                <a:lnTo>
                  <a:pt x="542318" y="671632"/>
                </a:lnTo>
                <a:lnTo>
                  <a:pt x="580650" y="645737"/>
                </a:lnTo>
                <a:lnTo>
                  <a:pt x="615267" y="615267"/>
                </a:lnTo>
                <a:lnTo>
                  <a:pt x="645737" y="580650"/>
                </a:lnTo>
                <a:lnTo>
                  <a:pt x="671632" y="542318"/>
                </a:lnTo>
                <a:lnTo>
                  <a:pt x="692521" y="500699"/>
                </a:lnTo>
                <a:lnTo>
                  <a:pt x="707973" y="456224"/>
                </a:lnTo>
                <a:lnTo>
                  <a:pt x="717560" y="409323"/>
                </a:lnTo>
                <a:lnTo>
                  <a:pt x="720851" y="360426"/>
                </a:lnTo>
                <a:lnTo>
                  <a:pt x="717560" y="311528"/>
                </a:lnTo>
                <a:lnTo>
                  <a:pt x="707973" y="264627"/>
                </a:lnTo>
                <a:lnTo>
                  <a:pt x="692521" y="220152"/>
                </a:lnTo>
                <a:lnTo>
                  <a:pt x="671632" y="178533"/>
                </a:lnTo>
                <a:lnTo>
                  <a:pt x="645737" y="140201"/>
                </a:lnTo>
                <a:lnTo>
                  <a:pt x="615267" y="105584"/>
                </a:lnTo>
                <a:lnTo>
                  <a:pt x="580650" y="75114"/>
                </a:lnTo>
                <a:lnTo>
                  <a:pt x="542318" y="49219"/>
                </a:lnTo>
                <a:lnTo>
                  <a:pt x="500699" y="28330"/>
                </a:lnTo>
                <a:lnTo>
                  <a:pt x="456224" y="12878"/>
                </a:lnTo>
                <a:lnTo>
                  <a:pt x="409323" y="3291"/>
                </a:lnTo>
                <a:lnTo>
                  <a:pt x="360425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61122" y="4971415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1800" b="1" spc="-37" baseline="25462" dirty="0">
                <a:solidFill>
                  <a:srgbClr val="FFFFFF"/>
                </a:solidFill>
                <a:latin typeface="メイリオ"/>
                <a:cs typeface="メイリオ"/>
              </a:rPr>
              <a:t>0</a:t>
            </a:r>
            <a:endParaRPr sz="1800" baseline="25462">
              <a:latin typeface="メイリオ"/>
              <a:cs typeface="メイリオ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513064" y="4797552"/>
            <a:ext cx="719455" cy="721360"/>
          </a:xfrm>
          <a:custGeom>
            <a:avLst/>
            <a:gdLst/>
            <a:ahLst/>
            <a:cxnLst/>
            <a:rect l="l" t="t" r="r" b="b"/>
            <a:pathLst>
              <a:path w="719454" h="721360">
                <a:moveTo>
                  <a:pt x="359663" y="0"/>
                </a:moveTo>
                <a:lnTo>
                  <a:pt x="310861" y="3291"/>
                </a:lnTo>
                <a:lnTo>
                  <a:pt x="264054" y="12878"/>
                </a:lnTo>
                <a:lnTo>
                  <a:pt x="219670" y="28330"/>
                </a:lnTo>
                <a:lnTo>
                  <a:pt x="178138" y="49219"/>
                </a:lnTo>
                <a:lnTo>
                  <a:pt x="139887" y="75114"/>
                </a:lnTo>
                <a:lnTo>
                  <a:pt x="105346" y="105584"/>
                </a:lnTo>
                <a:lnTo>
                  <a:pt x="74943" y="140201"/>
                </a:lnTo>
                <a:lnTo>
                  <a:pt x="49106" y="178533"/>
                </a:lnTo>
                <a:lnTo>
                  <a:pt x="28265" y="220152"/>
                </a:lnTo>
                <a:lnTo>
                  <a:pt x="12848" y="264627"/>
                </a:lnTo>
                <a:lnTo>
                  <a:pt x="3283" y="311528"/>
                </a:lnTo>
                <a:lnTo>
                  <a:pt x="0" y="360425"/>
                </a:lnTo>
                <a:lnTo>
                  <a:pt x="3283" y="409323"/>
                </a:lnTo>
                <a:lnTo>
                  <a:pt x="12848" y="456224"/>
                </a:lnTo>
                <a:lnTo>
                  <a:pt x="28265" y="500699"/>
                </a:lnTo>
                <a:lnTo>
                  <a:pt x="49106" y="542318"/>
                </a:lnTo>
                <a:lnTo>
                  <a:pt x="74943" y="580650"/>
                </a:lnTo>
                <a:lnTo>
                  <a:pt x="105346" y="615267"/>
                </a:lnTo>
                <a:lnTo>
                  <a:pt x="139887" y="645737"/>
                </a:lnTo>
                <a:lnTo>
                  <a:pt x="178138" y="671632"/>
                </a:lnTo>
                <a:lnTo>
                  <a:pt x="219670" y="692521"/>
                </a:lnTo>
                <a:lnTo>
                  <a:pt x="264054" y="707973"/>
                </a:lnTo>
                <a:lnTo>
                  <a:pt x="310861" y="717560"/>
                </a:lnTo>
                <a:lnTo>
                  <a:pt x="359663" y="720852"/>
                </a:lnTo>
                <a:lnTo>
                  <a:pt x="408466" y="717560"/>
                </a:lnTo>
                <a:lnTo>
                  <a:pt x="455273" y="707973"/>
                </a:lnTo>
                <a:lnTo>
                  <a:pt x="499657" y="692521"/>
                </a:lnTo>
                <a:lnTo>
                  <a:pt x="541189" y="671632"/>
                </a:lnTo>
                <a:lnTo>
                  <a:pt x="579440" y="645737"/>
                </a:lnTo>
                <a:lnTo>
                  <a:pt x="613981" y="615267"/>
                </a:lnTo>
                <a:lnTo>
                  <a:pt x="644384" y="580650"/>
                </a:lnTo>
                <a:lnTo>
                  <a:pt x="670221" y="542318"/>
                </a:lnTo>
                <a:lnTo>
                  <a:pt x="691062" y="500699"/>
                </a:lnTo>
                <a:lnTo>
                  <a:pt x="706479" y="456224"/>
                </a:lnTo>
                <a:lnTo>
                  <a:pt x="716044" y="409323"/>
                </a:lnTo>
                <a:lnTo>
                  <a:pt x="719327" y="360425"/>
                </a:lnTo>
                <a:lnTo>
                  <a:pt x="716044" y="311528"/>
                </a:lnTo>
                <a:lnTo>
                  <a:pt x="706479" y="264627"/>
                </a:lnTo>
                <a:lnTo>
                  <a:pt x="691062" y="220152"/>
                </a:lnTo>
                <a:lnTo>
                  <a:pt x="670221" y="178533"/>
                </a:lnTo>
                <a:lnTo>
                  <a:pt x="644384" y="140201"/>
                </a:lnTo>
                <a:lnTo>
                  <a:pt x="613981" y="105584"/>
                </a:lnTo>
                <a:lnTo>
                  <a:pt x="579440" y="75114"/>
                </a:lnTo>
                <a:lnTo>
                  <a:pt x="541189" y="49219"/>
                </a:lnTo>
                <a:lnTo>
                  <a:pt x="499657" y="28330"/>
                </a:lnTo>
                <a:lnTo>
                  <a:pt x="455273" y="12878"/>
                </a:lnTo>
                <a:lnTo>
                  <a:pt x="408466" y="3291"/>
                </a:lnTo>
                <a:lnTo>
                  <a:pt x="35966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640318" y="4974082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1800" b="1" spc="-37" baseline="25462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1800" baseline="25462">
              <a:latin typeface="メイリオ"/>
              <a:cs typeface="メイリオ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97211" y="4794503"/>
            <a:ext cx="721360" cy="721360"/>
          </a:xfrm>
          <a:custGeom>
            <a:avLst/>
            <a:gdLst/>
            <a:ahLst/>
            <a:cxnLst/>
            <a:rect l="l" t="t" r="r" b="b"/>
            <a:pathLst>
              <a:path w="721359" h="721360">
                <a:moveTo>
                  <a:pt x="360426" y="0"/>
                </a:moveTo>
                <a:lnTo>
                  <a:pt x="311528" y="3291"/>
                </a:lnTo>
                <a:lnTo>
                  <a:pt x="264627" y="12878"/>
                </a:lnTo>
                <a:lnTo>
                  <a:pt x="220152" y="28330"/>
                </a:lnTo>
                <a:lnTo>
                  <a:pt x="178533" y="49219"/>
                </a:lnTo>
                <a:lnTo>
                  <a:pt x="140201" y="75114"/>
                </a:lnTo>
                <a:lnTo>
                  <a:pt x="105584" y="105584"/>
                </a:lnTo>
                <a:lnTo>
                  <a:pt x="75114" y="140201"/>
                </a:lnTo>
                <a:lnTo>
                  <a:pt x="49219" y="178533"/>
                </a:lnTo>
                <a:lnTo>
                  <a:pt x="28330" y="220152"/>
                </a:lnTo>
                <a:lnTo>
                  <a:pt x="12878" y="264627"/>
                </a:lnTo>
                <a:lnTo>
                  <a:pt x="3291" y="311528"/>
                </a:lnTo>
                <a:lnTo>
                  <a:pt x="0" y="360426"/>
                </a:lnTo>
                <a:lnTo>
                  <a:pt x="3291" y="409323"/>
                </a:lnTo>
                <a:lnTo>
                  <a:pt x="12878" y="456224"/>
                </a:lnTo>
                <a:lnTo>
                  <a:pt x="28330" y="500699"/>
                </a:lnTo>
                <a:lnTo>
                  <a:pt x="49219" y="542318"/>
                </a:lnTo>
                <a:lnTo>
                  <a:pt x="75114" y="580650"/>
                </a:lnTo>
                <a:lnTo>
                  <a:pt x="105584" y="615267"/>
                </a:lnTo>
                <a:lnTo>
                  <a:pt x="140201" y="645737"/>
                </a:lnTo>
                <a:lnTo>
                  <a:pt x="178533" y="671632"/>
                </a:lnTo>
                <a:lnTo>
                  <a:pt x="220152" y="692521"/>
                </a:lnTo>
                <a:lnTo>
                  <a:pt x="264627" y="707973"/>
                </a:lnTo>
                <a:lnTo>
                  <a:pt x="311528" y="717560"/>
                </a:lnTo>
                <a:lnTo>
                  <a:pt x="360426" y="720852"/>
                </a:lnTo>
                <a:lnTo>
                  <a:pt x="409323" y="717560"/>
                </a:lnTo>
                <a:lnTo>
                  <a:pt x="456224" y="707973"/>
                </a:lnTo>
                <a:lnTo>
                  <a:pt x="500699" y="692521"/>
                </a:lnTo>
                <a:lnTo>
                  <a:pt x="542318" y="671632"/>
                </a:lnTo>
                <a:lnTo>
                  <a:pt x="580650" y="645737"/>
                </a:lnTo>
                <a:lnTo>
                  <a:pt x="615267" y="615267"/>
                </a:lnTo>
                <a:lnTo>
                  <a:pt x="645737" y="580650"/>
                </a:lnTo>
                <a:lnTo>
                  <a:pt x="671632" y="542318"/>
                </a:lnTo>
                <a:lnTo>
                  <a:pt x="692521" y="500699"/>
                </a:lnTo>
                <a:lnTo>
                  <a:pt x="707973" y="456224"/>
                </a:lnTo>
                <a:lnTo>
                  <a:pt x="717560" y="409323"/>
                </a:lnTo>
                <a:lnTo>
                  <a:pt x="720852" y="360426"/>
                </a:lnTo>
                <a:lnTo>
                  <a:pt x="717560" y="311528"/>
                </a:lnTo>
                <a:lnTo>
                  <a:pt x="707973" y="264627"/>
                </a:lnTo>
                <a:lnTo>
                  <a:pt x="692521" y="220152"/>
                </a:lnTo>
                <a:lnTo>
                  <a:pt x="671632" y="178533"/>
                </a:lnTo>
                <a:lnTo>
                  <a:pt x="645737" y="140201"/>
                </a:lnTo>
                <a:lnTo>
                  <a:pt x="615267" y="105584"/>
                </a:lnTo>
                <a:lnTo>
                  <a:pt x="580650" y="75114"/>
                </a:lnTo>
                <a:lnTo>
                  <a:pt x="542318" y="49219"/>
                </a:lnTo>
                <a:lnTo>
                  <a:pt x="500699" y="28330"/>
                </a:lnTo>
                <a:lnTo>
                  <a:pt x="456224" y="12878"/>
                </a:lnTo>
                <a:lnTo>
                  <a:pt x="409323" y="3291"/>
                </a:lnTo>
                <a:lnTo>
                  <a:pt x="36042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25481" y="4971415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1800" b="1" spc="-37" baseline="25462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1800" baseline="25462">
              <a:latin typeface="メイリオ"/>
              <a:cs typeface="メイリオ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56632" y="5580684"/>
            <a:ext cx="16598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56665" algn="l"/>
              </a:tabLst>
            </a:pPr>
            <a:r>
              <a:rPr sz="1800" b="1" spc="-20" dirty="0">
                <a:solidFill>
                  <a:srgbClr val="585858"/>
                </a:solidFill>
                <a:latin typeface="メイリオ"/>
                <a:cs typeface="メイリオ"/>
              </a:rPr>
              <a:t>0.01</a:t>
            </a:r>
            <a:r>
              <a:rPr sz="1800" b="1" dirty="0">
                <a:solidFill>
                  <a:srgbClr val="585858"/>
                </a:solidFill>
                <a:latin typeface="メイリオ"/>
                <a:cs typeface="メイリオ"/>
              </a:rPr>
              <a:t>	</a:t>
            </a:r>
            <a:r>
              <a:rPr sz="1800" b="1" spc="-25" dirty="0">
                <a:solidFill>
                  <a:srgbClr val="585858"/>
                </a:solidFill>
                <a:latin typeface="メイリオ"/>
                <a:cs typeface="メイリオ"/>
              </a:rPr>
              <a:t>0.1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0602" y="5586476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85858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17915" y="5575808"/>
            <a:ext cx="323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85858"/>
                </a:solidFill>
                <a:latin typeface="メイリオ"/>
                <a:cs typeface="メイリオ"/>
              </a:rPr>
              <a:t>10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20402" y="5575808"/>
            <a:ext cx="479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85858"/>
                </a:solidFill>
                <a:latin typeface="メイリオ"/>
                <a:cs typeface="メイリオ"/>
              </a:rPr>
              <a:t>100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756147" y="4989576"/>
            <a:ext cx="3876040" cy="304800"/>
            <a:chOff x="5756147" y="4989576"/>
            <a:chExt cx="3876040" cy="304800"/>
          </a:xfrm>
        </p:grpSpPr>
        <p:sp>
          <p:nvSpPr>
            <p:cNvPr id="31" name="object 31"/>
            <p:cNvSpPr/>
            <p:nvPr/>
          </p:nvSpPr>
          <p:spPr>
            <a:xfrm>
              <a:off x="5756148" y="4989575"/>
              <a:ext cx="1503045" cy="304800"/>
            </a:xfrm>
            <a:custGeom>
              <a:avLst/>
              <a:gdLst/>
              <a:ahLst/>
              <a:cxnLst/>
              <a:rect l="l" t="t" r="r" b="b"/>
              <a:pathLst>
                <a:path w="1503045" h="304800">
                  <a:moveTo>
                    <a:pt x="32004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320040" y="228600"/>
                  </a:lnTo>
                  <a:lnTo>
                    <a:pt x="320040" y="76200"/>
                  </a:lnTo>
                  <a:close/>
                </a:path>
                <a:path w="1503045" h="304800">
                  <a:moveTo>
                    <a:pt x="1502664" y="76200"/>
                  </a:moveTo>
                  <a:lnTo>
                    <a:pt x="1335024" y="76200"/>
                  </a:lnTo>
                  <a:lnTo>
                    <a:pt x="1335024" y="0"/>
                  </a:lnTo>
                  <a:lnTo>
                    <a:pt x="1182624" y="152400"/>
                  </a:lnTo>
                  <a:lnTo>
                    <a:pt x="1335024" y="304800"/>
                  </a:lnTo>
                  <a:lnTo>
                    <a:pt x="1335024" y="228600"/>
                  </a:lnTo>
                  <a:lnTo>
                    <a:pt x="1502664" y="228600"/>
                  </a:lnTo>
                  <a:lnTo>
                    <a:pt x="1502664" y="76200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29016" y="4989575"/>
              <a:ext cx="1503045" cy="304800"/>
            </a:xfrm>
            <a:custGeom>
              <a:avLst/>
              <a:gdLst/>
              <a:ahLst/>
              <a:cxnLst/>
              <a:rect l="l" t="t" r="r" b="b"/>
              <a:pathLst>
                <a:path w="1503045" h="304800">
                  <a:moveTo>
                    <a:pt x="320040" y="152400"/>
                  </a:moveTo>
                  <a:lnTo>
                    <a:pt x="167640" y="0"/>
                  </a:lnTo>
                  <a:lnTo>
                    <a:pt x="16764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167640" y="228600"/>
                  </a:lnTo>
                  <a:lnTo>
                    <a:pt x="167640" y="304800"/>
                  </a:lnTo>
                  <a:lnTo>
                    <a:pt x="320040" y="152400"/>
                  </a:lnTo>
                  <a:close/>
                </a:path>
                <a:path w="1503045" h="304800">
                  <a:moveTo>
                    <a:pt x="1502664" y="152400"/>
                  </a:moveTo>
                  <a:lnTo>
                    <a:pt x="1350264" y="0"/>
                  </a:lnTo>
                  <a:lnTo>
                    <a:pt x="1350264" y="76200"/>
                  </a:lnTo>
                  <a:lnTo>
                    <a:pt x="1182624" y="76200"/>
                  </a:lnTo>
                  <a:lnTo>
                    <a:pt x="1182624" y="228600"/>
                  </a:lnTo>
                  <a:lnTo>
                    <a:pt x="1350264" y="228600"/>
                  </a:lnTo>
                  <a:lnTo>
                    <a:pt x="1350264" y="304800"/>
                  </a:lnTo>
                  <a:lnTo>
                    <a:pt x="1502664" y="152400"/>
                  </a:lnTo>
                  <a:close/>
                </a:path>
              </a:pathLst>
            </a:custGeom>
            <a:solidFill>
              <a:srgbClr val="E90D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721984" y="4702251"/>
            <a:ext cx="4013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AC1381"/>
                </a:solidFill>
                <a:latin typeface="メイリオ"/>
                <a:cs typeface="メイリオ"/>
              </a:rPr>
              <a:t>÷10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01560" y="4702251"/>
            <a:ext cx="4013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AC1381"/>
                </a:solidFill>
                <a:latin typeface="メイリオ"/>
                <a:cs typeface="メイリオ"/>
              </a:rPr>
              <a:t>÷10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71739" y="4708652"/>
            <a:ext cx="401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×10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62236" y="4700777"/>
            <a:ext cx="401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×10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122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755" y="1993392"/>
            <a:ext cx="7103745" cy="4211320"/>
            <a:chOff x="4143755" y="1993392"/>
            <a:chExt cx="7103745" cy="4211320"/>
          </a:xfrm>
        </p:grpSpPr>
        <p:sp>
          <p:nvSpPr>
            <p:cNvPr id="11" name="object 11"/>
            <p:cNvSpPr/>
            <p:nvPr/>
          </p:nvSpPr>
          <p:spPr>
            <a:xfrm>
              <a:off x="4143755" y="1993392"/>
              <a:ext cx="7103745" cy="4211320"/>
            </a:xfrm>
            <a:custGeom>
              <a:avLst/>
              <a:gdLst/>
              <a:ahLst/>
              <a:cxnLst/>
              <a:rect l="l" t="t" r="r" b="b"/>
              <a:pathLst>
                <a:path w="7103745" h="4211320">
                  <a:moveTo>
                    <a:pt x="7103364" y="0"/>
                  </a:moveTo>
                  <a:lnTo>
                    <a:pt x="0" y="0"/>
                  </a:lnTo>
                  <a:lnTo>
                    <a:pt x="0" y="4210812"/>
                  </a:lnTo>
                  <a:lnTo>
                    <a:pt x="7103364" y="4210812"/>
                  </a:lnTo>
                  <a:lnTo>
                    <a:pt x="7103364" y="0"/>
                  </a:lnTo>
                  <a:close/>
                </a:path>
              </a:pathLst>
            </a:custGeom>
            <a:solidFill>
              <a:srgbClr val="CE860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5" y="2007108"/>
              <a:ext cx="2871470" cy="612775"/>
            </a:xfrm>
            <a:custGeom>
              <a:avLst/>
              <a:gdLst/>
              <a:ahLst/>
              <a:cxnLst/>
              <a:rect l="l" t="t" r="r" b="b"/>
              <a:pathLst>
                <a:path w="2871470" h="612775">
                  <a:moveTo>
                    <a:pt x="2871216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2871216" y="612648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CE86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37888" y="2109038"/>
            <a:ext cx="2297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指数関数の前に </a:t>
            </a:r>
            <a:r>
              <a:rPr sz="2000" b="1" spc="-25" dirty="0">
                <a:solidFill>
                  <a:srgbClr val="FFFFFF"/>
                </a:solidFill>
                <a:latin typeface="メイリオ"/>
                <a:cs typeface="メイリオ"/>
              </a:rPr>
              <a:t>(2)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4408" y="2957576"/>
            <a:ext cx="4904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メイリオ"/>
                <a:cs typeface="メイリオ"/>
              </a:rPr>
              <a:t>累乗 </a:t>
            </a:r>
            <a:r>
              <a:rPr sz="2000" dirty="0">
                <a:latin typeface="Cambria Math"/>
                <a:cs typeface="Cambria Math"/>
              </a:rPr>
              <a:t>𝒂</a:t>
            </a:r>
            <a:r>
              <a:rPr sz="2175" baseline="28735" dirty="0">
                <a:latin typeface="Cambria Math"/>
                <a:cs typeface="Cambria Math"/>
              </a:rPr>
              <a:t>𝒃</a:t>
            </a:r>
            <a:r>
              <a:rPr sz="2175" spc="622" baseline="2873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は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が整数でなくても計算できる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68367" y="3429000"/>
            <a:ext cx="1449705" cy="508000"/>
          </a:xfrm>
          <a:custGeom>
            <a:avLst/>
            <a:gdLst/>
            <a:ahLst/>
            <a:cxnLst/>
            <a:rect l="l" t="t" r="r" b="b"/>
            <a:pathLst>
              <a:path w="1449704" h="508000">
                <a:moveTo>
                  <a:pt x="1195578" y="0"/>
                </a:moveTo>
                <a:lnTo>
                  <a:pt x="0" y="0"/>
                </a:lnTo>
                <a:lnTo>
                  <a:pt x="0" y="507492"/>
                </a:lnTo>
                <a:lnTo>
                  <a:pt x="1195578" y="507492"/>
                </a:lnTo>
                <a:lnTo>
                  <a:pt x="1449324" y="253745"/>
                </a:lnTo>
                <a:lnTo>
                  <a:pt x="1195578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20133" y="3479038"/>
            <a:ext cx="1031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計算方法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0120" y="3363315"/>
            <a:ext cx="4625340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>
              <a:lnSpc>
                <a:spcPct val="147500"/>
              </a:lnSpc>
              <a:spcBef>
                <a:spcPts val="100"/>
              </a:spcBef>
            </a:pP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𝒃 </a:t>
            </a:r>
            <a:r>
              <a:rPr sz="2000" b="1" spc="-15" dirty="0">
                <a:solidFill>
                  <a:srgbClr val="21379E"/>
                </a:solidFill>
                <a:latin typeface="メイリオ"/>
                <a:cs typeface="メイリオ"/>
              </a:rPr>
              <a:t>が一定だけ増えると、答えも一定だけ</a:t>
            </a:r>
            <a:r>
              <a:rPr sz="2000" b="1" spc="-5" dirty="0">
                <a:solidFill>
                  <a:srgbClr val="21379E"/>
                </a:solidFill>
                <a:latin typeface="メイリオ"/>
                <a:cs typeface="メイリオ"/>
              </a:rPr>
              <a:t>掛けられるように上手くやる</a:t>
            </a:r>
            <a:r>
              <a:rPr sz="1950" b="1" spc="-75" baseline="25641" dirty="0">
                <a:solidFill>
                  <a:srgbClr val="21379E"/>
                </a:solidFill>
                <a:latin typeface="メイリオ"/>
                <a:cs typeface="メイリオ"/>
              </a:rPr>
              <a:t>※</a:t>
            </a:r>
            <a:endParaRPr sz="1950" baseline="25641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31514" y="6521957"/>
            <a:ext cx="8460740" cy="0"/>
          </a:xfrm>
          <a:custGeom>
            <a:avLst/>
            <a:gdLst/>
            <a:ahLst/>
            <a:cxnLst/>
            <a:rect l="l" t="t" r="r" b="b"/>
            <a:pathLst>
              <a:path w="8460740">
                <a:moveTo>
                  <a:pt x="0" y="0"/>
                </a:moveTo>
                <a:lnTo>
                  <a:pt x="8460486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14082" y="6591274"/>
            <a:ext cx="271780" cy="146685"/>
          </a:xfrm>
          <a:custGeom>
            <a:avLst/>
            <a:gdLst/>
            <a:ahLst/>
            <a:cxnLst/>
            <a:rect l="l" t="t" r="r" b="b"/>
            <a:pathLst>
              <a:path w="271779" h="146684">
                <a:moveTo>
                  <a:pt x="271652" y="126"/>
                </a:moveTo>
                <a:lnTo>
                  <a:pt x="87375" y="0"/>
                </a:lnTo>
                <a:lnTo>
                  <a:pt x="50673" y="127025"/>
                </a:lnTo>
                <a:lnTo>
                  <a:pt x="24384" y="69278"/>
                </a:lnTo>
                <a:lnTo>
                  <a:pt x="0" y="80441"/>
                </a:lnTo>
                <a:lnTo>
                  <a:pt x="2286" y="86017"/>
                </a:lnTo>
                <a:lnTo>
                  <a:pt x="14859" y="80441"/>
                </a:lnTo>
                <a:lnTo>
                  <a:pt x="45720" y="146664"/>
                </a:lnTo>
                <a:lnTo>
                  <a:pt x="52832" y="146664"/>
                </a:lnTo>
                <a:lnTo>
                  <a:pt x="92964" y="9893"/>
                </a:lnTo>
                <a:lnTo>
                  <a:pt x="97917" y="9893"/>
                </a:lnTo>
                <a:lnTo>
                  <a:pt x="97917" y="10794"/>
                </a:lnTo>
                <a:lnTo>
                  <a:pt x="271652" y="10794"/>
                </a:lnTo>
                <a:lnTo>
                  <a:pt x="271652" y="12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88091" y="6580606"/>
            <a:ext cx="260985" cy="146685"/>
          </a:xfrm>
          <a:custGeom>
            <a:avLst/>
            <a:gdLst/>
            <a:ahLst/>
            <a:cxnLst/>
            <a:rect l="l" t="t" r="r" b="b"/>
            <a:pathLst>
              <a:path w="260984" h="146684">
                <a:moveTo>
                  <a:pt x="260984" y="126"/>
                </a:moveTo>
                <a:lnTo>
                  <a:pt x="87375" y="0"/>
                </a:lnTo>
                <a:lnTo>
                  <a:pt x="50673" y="127025"/>
                </a:lnTo>
                <a:lnTo>
                  <a:pt x="24383" y="69278"/>
                </a:lnTo>
                <a:lnTo>
                  <a:pt x="0" y="80441"/>
                </a:lnTo>
                <a:lnTo>
                  <a:pt x="2285" y="86017"/>
                </a:lnTo>
                <a:lnTo>
                  <a:pt x="14858" y="80441"/>
                </a:lnTo>
                <a:lnTo>
                  <a:pt x="45719" y="146659"/>
                </a:lnTo>
                <a:lnTo>
                  <a:pt x="52831" y="146659"/>
                </a:lnTo>
                <a:lnTo>
                  <a:pt x="92963" y="9893"/>
                </a:lnTo>
                <a:lnTo>
                  <a:pt x="97916" y="9893"/>
                </a:lnTo>
                <a:lnTo>
                  <a:pt x="97916" y="10794"/>
                </a:lnTo>
                <a:lnTo>
                  <a:pt x="260984" y="10794"/>
                </a:lnTo>
                <a:lnTo>
                  <a:pt x="260984" y="12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351386" y="6589750"/>
            <a:ext cx="369570" cy="146685"/>
          </a:xfrm>
          <a:custGeom>
            <a:avLst/>
            <a:gdLst/>
            <a:ahLst/>
            <a:cxnLst/>
            <a:rect l="l" t="t" r="r" b="b"/>
            <a:pathLst>
              <a:path w="369570" h="146684">
                <a:moveTo>
                  <a:pt x="87376" y="0"/>
                </a:moveTo>
                <a:lnTo>
                  <a:pt x="50673" y="127025"/>
                </a:lnTo>
                <a:lnTo>
                  <a:pt x="24384" y="69278"/>
                </a:lnTo>
                <a:lnTo>
                  <a:pt x="0" y="80441"/>
                </a:lnTo>
                <a:lnTo>
                  <a:pt x="2286" y="86017"/>
                </a:lnTo>
                <a:lnTo>
                  <a:pt x="14859" y="80441"/>
                </a:lnTo>
                <a:lnTo>
                  <a:pt x="45720" y="146665"/>
                </a:lnTo>
                <a:lnTo>
                  <a:pt x="52832" y="146665"/>
                </a:lnTo>
                <a:lnTo>
                  <a:pt x="92964" y="9893"/>
                </a:lnTo>
                <a:lnTo>
                  <a:pt x="97917" y="9893"/>
                </a:lnTo>
                <a:lnTo>
                  <a:pt x="97917" y="10794"/>
                </a:lnTo>
                <a:lnTo>
                  <a:pt x="369189" y="10794"/>
                </a:lnTo>
                <a:lnTo>
                  <a:pt x="369189" y="126"/>
                </a:lnTo>
                <a:lnTo>
                  <a:pt x="8737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71059" y="6560311"/>
            <a:ext cx="7470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315710" algn="l"/>
                <a:tab pos="6779259" algn="l"/>
              </a:tabLst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※少し難しいが、実際は</a:t>
            </a:r>
            <a:r>
              <a:rPr sz="1200" b="1" spc="5" dirty="0">
                <a:solidFill>
                  <a:srgbClr val="A6A6A6"/>
                </a:solidFill>
                <a:latin typeface="メイリオ"/>
                <a:cs typeface="メイリオ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r>
              <a:rPr sz="1275" baseline="29411" dirty="0">
                <a:solidFill>
                  <a:srgbClr val="A6A6A6"/>
                </a:solidFill>
                <a:latin typeface="Cambria Math"/>
                <a:cs typeface="Cambria Math"/>
              </a:rPr>
              <a:t>𝒏/𝒎</a:t>
            </a:r>
            <a:r>
              <a:rPr sz="1275" spc="300" baseline="2941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spc="15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050" baseline="51587" dirty="0">
                <a:solidFill>
                  <a:srgbClr val="A6A6A6"/>
                </a:solidFill>
                <a:latin typeface="Cambria Math"/>
                <a:cs typeface="Cambria Math"/>
              </a:rPr>
              <a:t>𝒎</a:t>
            </a:r>
            <a:r>
              <a:rPr sz="1050" spc="382" baseline="51587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r>
              <a:rPr sz="1275" baseline="22875" dirty="0">
                <a:solidFill>
                  <a:srgbClr val="A6A6A6"/>
                </a:solidFill>
                <a:latin typeface="Cambria Math"/>
                <a:cs typeface="Cambria Math"/>
              </a:rPr>
              <a:t>𝒏</a:t>
            </a:r>
            <a:r>
              <a:rPr sz="1275" spc="412" baseline="2287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という式にしたがって計算できる。たとえば</a:t>
            </a:r>
            <a:r>
              <a:rPr sz="1200" b="1" spc="10" dirty="0">
                <a:solidFill>
                  <a:srgbClr val="A6A6A6"/>
                </a:solidFill>
                <a:latin typeface="メイリオ"/>
                <a:cs typeface="メイリオ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𝟗</a:t>
            </a:r>
            <a:r>
              <a:rPr sz="1275" baseline="29411" dirty="0">
                <a:solidFill>
                  <a:srgbClr val="A6A6A6"/>
                </a:solidFill>
                <a:latin typeface="Cambria Math"/>
                <a:cs typeface="Cambria Math"/>
              </a:rPr>
              <a:t>𝟏.𝟓</a:t>
            </a:r>
            <a:r>
              <a:rPr sz="1275" spc="270" baseline="2941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5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	𝟗</a:t>
            </a:r>
            <a:r>
              <a:rPr sz="1275" baseline="22875" dirty="0">
                <a:solidFill>
                  <a:srgbClr val="A6A6A6"/>
                </a:solidFill>
                <a:latin typeface="Cambria Math"/>
                <a:cs typeface="Cambria Math"/>
              </a:rPr>
              <a:t>𝟑</a:t>
            </a:r>
            <a:r>
              <a:rPr sz="1275" spc="292" baseline="2287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5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	𝟕𝟐𝟗</a:t>
            </a:r>
            <a:r>
              <a:rPr sz="1200" spc="3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spc="6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25" dirty="0">
                <a:solidFill>
                  <a:srgbClr val="A6A6A6"/>
                </a:solidFill>
                <a:latin typeface="Cambria Math"/>
                <a:cs typeface="Cambria Math"/>
              </a:rPr>
              <a:t>𝟐𝟕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123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755" y="1993392"/>
            <a:ext cx="7103745" cy="4211320"/>
            <a:chOff x="4143755" y="1993392"/>
            <a:chExt cx="7103745" cy="4211320"/>
          </a:xfrm>
        </p:grpSpPr>
        <p:sp>
          <p:nvSpPr>
            <p:cNvPr id="11" name="object 11"/>
            <p:cNvSpPr/>
            <p:nvPr/>
          </p:nvSpPr>
          <p:spPr>
            <a:xfrm>
              <a:off x="4143755" y="1993392"/>
              <a:ext cx="7103745" cy="4211320"/>
            </a:xfrm>
            <a:custGeom>
              <a:avLst/>
              <a:gdLst/>
              <a:ahLst/>
              <a:cxnLst/>
              <a:rect l="l" t="t" r="r" b="b"/>
              <a:pathLst>
                <a:path w="7103745" h="4211320">
                  <a:moveTo>
                    <a:pt x="7103364" y="0"/>
                  </a:moveTo>
                  <a:lnTo>
                    <a:pt x="0" y="0"/>
                  </a:lnTo>
                  <a:lnTo>
                    <a:pt x="0" y="4210812"/>
                  </a:lnTo>
                  <a:lnTo>
                    <a:pt x="7103364" y="4210812"/>
                  </a:lnTo>
                  <a:lnTo>
                    <a:pt x="7103364" y="0"/>
                  </a:lnTo>
                  <a:close/>
                </a:path>
              </a:pathLst>
            </a:custGeom>
            <a:solidFill>
              <a:srgbClr val="CE8608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5" y="2007108"/>
              <a:ext cx="2871470" cy="612775"/>
            </a:xfrm>
            <a:custGeom>
              <a:avLst/>
              <a:gdLst/>
              <a:ahLst/>
              <a:cxnLst/>
              <a:rect l="l" t="t" r="r" b="b"/>
              <a:pathLst>
                <a:path w="2871470" h="612775">
                  <a:moveTo>
                    <a:pt x="2871216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2871216" y="612648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CE86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25188" y="2109038"/>
            <a:ext cx="23101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指数関数の前に </a:t>
            </a:r>
            <a:r>
              <a:rPr sz="2000" b="1" spc="-25" dirty="0">
                <a:solidFill>
                  <a:srgbClr val="FFFFFF"/>
                </a:solidFill>
                <a:latin typeface="メイリオ"/>
                <a:cs typeface="メイリオ"/>
              </a:rPr>
              <a:t>(2)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1708" y="2957576"/>
            <a:ext cx="49168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メイリオ"/>
                <a:cs typeface="メイリオ"/>
              </a:rPr>
              <a:t>累乗 </a:t>
            </a:r>
            <a:r>
              <a:rPr sz="2000" dirty="0">
                <a:latin typeface="Cambria Math"/>
                <a:cs typeface="Cambria Math"/>
              </a:rPr>
              <a:t>𝒂</a:t>
            </a:r>
            <a:r>
              <a:rPr sz="2175" baseline="28735" dirty="0">
                <a:latin typeface="Cambria Math"/>
                <a:cs typeface="Cambria Math"/>
              </a:rPr>
              <a:t>𝒃</a:t>
            </a:r>
            <a:r>
              <a:rPr sz="2175" spc="622" baseline="2873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は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が整数でなくても計算できる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9764" y="4794503"/>
            <a:ext cx="719455" cy="721360"/>
          </a:xfrm>
          <a:custGeom>
            <a:avLst/>
            <a:gdLst/>
            <a:ahLst/>
            <a:cxnLst/>
            <a:rect l="l" t="t" r="r" b="b"/>
            <a:pathLst>
              <a:path w="719454" h="721360">
                <a:moveTo>
                  <a:pt x="359663" y="0"/>
                </a:moveTo>
                <a:lnTo>
                  <a:pt x="310861" y="3291"/>
                </a:lnTo>
                <a:lnTo>
                  <a:pt x="264054" y="12878"/>
                </a:lnTo>
                <a:lnTo>
                  <a:pt x="219670" y="28330"/>
                </a:lnTo>
                <a:lnTo>
                  <a:pt x="178138" y="49219"/>
                </a:lnTo>
                <a:lnTo>
                  <a:pt x="139887" y="75114"/>
                </a:lnTo>
                <a:lnTo>
                  <a:pt x="105346" y="105584"/>
                </a:lnTo>
                <a:lnTo>
                  <a:pt x="74943" y="140201"/>
                </a:lnTo>
                <a:lnTo>
                  <a:pt x="49106" y="178533"/>
                </a:lnTo>
                <a:lnTo>
                  <a:pt x="28265" y="220152"/>
                </a:lnTo>
                <a:lnTo>
                  <a:pt x="12848" y="264627"/>
                </a:lnTo>
                <a:lnTo>
                  <a:pt x="3283" y="311528"/>
                </a:lnTo>
                <a:lnTo>
                  <a:pt x="0" y="360426"/>
                </a:lnTo>
                <a:lnTo>
                  <a:pt x="3283" y="409323"/>
                </a:lnTo>
                <a:lnTo>
                  <a:pt x="12848" y="456224"/>
                </a:lnTo>
                <a:lnTo>
                  <a:pt x="28265" y="500699"/>
                </a:lnTo>
                <a:lnTo>
                  <a:pt x="49106" y="542318"/>
                </a:lnTo>
                <a:lnTo>
                  <a:pt x="74943" y="580650"/>
                </a:lnTo>
                <a:lnTo>
                  <a:pt x="105346" y="615267"/>
                </a:lnTo>
                <a:lnTo>
                  <a:pt x="139887" y="645737"/>
                </a:lnTo>
                <a:lnTo>
                  <a:pt x="178138" y="671632"/>
                </a:lnTo>
                <a:lnTo>
                  <a:pt x="219670" y="692521"/>
                </a:lnTo>
                <a:lnTo>
                  <a:pt x="264054" y="707973"/>
                </a:lnTo>
                <a:lnTo>
                  <a:pt x="310861" y="717560"/>
                </a:lnTo>
                <a:lnTo>
                  <a:pt x="359663" y="720852"/>
                </a:lnTo>
                <a:lnTo>
                  <a:pt x="408466" y="717560"/>
                </a:lnTo>
                <a:lnTo>
                  <a:pt x="455273" y="707973"/>
                </a:lnTo>
                <a:lnTo>
                  <a:pt x="499657" y="692521"/>
                </a:lnTo>
                <a:lnTo>
                  <a:pt x="541189" y="671632"/>
                </a:lnTo>
                <a:lnTo>
                  <a:pt x="579440" y="645737"/>
                </a:lnTo>
                <a:lnTo>
                  <a:pt x="613981" y="615267"/>
                </a:lnTo>
                <a:lnTo>
                  <a:pt x="644384" y="580650"/>
                </a:lnTo>
                <a:lnTo>
                  <a:pt x="670221" y="542318"/>
                </a:lnTo>
                <a:lnTo>
                  <a:pt x="691062" y="500699"/>
                </a:lnTo>
                <a:lnTo>
                  <a:pt x="706479" y="456224"/>
                </a:lnTo>
                <a:lnTo>
                  <a:pt x="716044" y="409323"/>
                </a:lnTo>
                <a:lnTo>
                  <a:pt x="719327" y="360426"/>
                </a:lnTo>
                <a:lnTo>
                  <a:pt x="716044" y="311528"/>
                </a:lnTo>
                <a:lnTo>
                  <a:pt x="706479" y="264627"/>
                </a:lnTo>
                <a:lnTo>
                  <a:pt x="691062" y="220152"/>
                </a:lnTo>
                <a:lnTo>
                  <a:pt x="670221" y="178533"/>
                </a:lnTo>
                <a:lnTo>
                  <a:pt x="644384" y="140201"/>
                </a:lnTo>
                <a:lnTo>
                  <a:pt x="613981" y="105584"/>
                </a:lnTo>
                <a:lnTo>
                  <a:pt x="579440" y="75114"/>
                </a:lnTo>
                <a:lnTo>
                  <a:pt x="541189" y="49219"/>
                </a:lnTo>
                <a:lnTo>
                  <a:pt x="499657" y="28330"/>
                </a:lnTo>
                <a:lnTo>
                  <a:pt x="455273" y="12878"/>
                </a:lnTo>
                <a:lnTo>
                  <a:pt x="408466" y="3291"/>
                </a:lnTo>
                <a:lnTo>
                  <a:pt x="35966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108447" y="4930266"/>
            <a:ext cx="444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30" baseline="-1736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1050" b="1" spc="-20" dirty="0">
                <a:solidFill>
                  <a:srgbClr val="FFFFFF"/>
                </a:solidFill>
                <a:latin typeface="メイリオ"/>
                <a:cs typeface="メイリオ"/>
              </a:rPr>
              <a:t>0.0</a:t>
            </a:r>
            <a:endParaRPr sz="1050">
              <a:latin typeface="メイリオ"/>
              <a:cs typeface="メイリオ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49340" y="4797552"/>
            <a:ext cx="719455" cy="721360"/>
          </a:xfrm>
          <a:custGeom>
            <a:avLst/>
            <a:gdLst/>
            <a:ahLst/>
            <a:cxnLst/>
            <a:rect l="l" t="t" r="r" b="b"/>
            <a:pathLst>
              <a:path w="719454" h="721360">
                <a:moveTo>
                  <a:pt x="359663" y="0"/>
                </a:moveTo>
                <a:lnTo>
                  <a:pt x="310861" y="3291"/>
                </a:lnTo>
                <a:lnTo>
                  <a:pt x="264054" y="12878"/>
                </a:lnTo>
                <a:lnTo>
                  <a:pt x="219670" y="28330"/>
                </a:lnTo>
                <a:lnTo>
                  <a:pt x="178138" y="49219"/>
                </a:lnTo>
                <a:lnTo>
                  <a:pt x="139887" y="75114"/>
                </a:lnTo>
                <a:lnTo>
                  <a:pt x="105346" y="105584"/>
                </a:lnTo>
                <a:lnTo>
                  <a:pt x="74943" y="140201"/>
                </a:lnTo>
                <a:lnTo>
                  <a:pt x="49106" y="178533"/>
                </a:lnTo>
                <a:lnTo>
                  <a:pt x="28265" y="220152"/>
                </a:lnTo>
                <a:lnTo>
                  <a:pt x="12848" y="264627"/>
                </a:lnTo>
                <a:lnTo>
                  <a:pt x="3283" y="311528"/>
                </a:lnTo>
                <a:lnTo>
                  <a:pt x="0" y="360425"/>
                </a:lnTo>
                <a:lnTo>
                  <a:pt x="3283" y="409323"/>
                </a:lnTo>
                <a:lnTo>
                  <a:pt x="12848" y="456224"/>
                </a:lnTo>
                <a:lnTo>
                  <a:pt x="28265" y="500699"/>
                </a:lnTo>
                <a:lnTo>
                  <a:pt x="49106" y="542318"/>
                </a:lnTo>
                <a:lnTo>
                  <a:pt x="74943" y="580650"/>
                </a:lnTo>
                <a:lnTo>
                  <a:pt x="105346" y="615267"/>
                </a:lnTo>
                <a:lnTo>
                  <a:pt x="139887" y="645737"/>
                </a:lnTo>
                <a:lnTo>
                  <a:pt x="178138" y="671632"/>
                </a:lnTo>
                <a:lnTo>
                  <a:pt x="219670" y="692521"/>
                </a:lnTo>
                <a:lnTo>
                  <a:pt x="264054" y="707973"/>
                </a:lnTo>
                <a:lnTo>
                  <a:pt x="310861" y="717560"/>
                </a:lnTo>
                <a:lnTo>
                  <a:pt x="359663" y="720852"/>
                </a:lnTo>
                <a:lnTo>
                  <a:pt x="408466" y="717560"/>
                </a:lnTo>
                <a:lnTo>
                  <a:pt x="455273" y="707973"/>
                </a:lnTo>
                <a:lnTo>
                  <a:pt x="499657" y="692521"/>
                </a:lnTo>
                <a:lnTo>
                  <a:pt x="541189" y="671632"/>
                </a:lnTo>
                <a:lnTo>
                  <a:pt x="579440" y="645737"/>
                </a:lnTo>
                <a:lnTo>
                  <a:pt x="613981" y="615267"/>
                </a:lnTo>
                <a:lnTo>
                  <a:pt x="644384" y="580650"/>
                </a:lnTo>
                <a:lnTo>
                  <a:pt x="670221" y="542318"/>
                </a:lnTo>
                <a:lnTo>
                  <a:pt x="691062" y="500699"/>
                </a:lnTo>
                <a:lnTo>
                  <a:pt x="706479" y="456224"/>
                </a:lnTo>
                <a:lnTo>
                  <a:pt x="716044" y="409323"/>
                </a:lnTo>
                <a:lnTo>
                  <a:pt x="719328" y="360425"/>
                </a:lnTo>
                <a:lnTo>
                  <a:pt x="716044" y="311528"/>
                </a:lnTo>
                <a:lnTo>
                  <a:pt x="706479" y="264627"/>
                </a:lnTo>
                <a:lnTo>
                  <a:pt x="691062" y="220152"/>
                </a:lnTo>
                <a:lnTo>
                  <a:pt x="670221" y="178533"/>
                </a:lnTo>
                <a:lnTo>
                  <a:pt x="644384" y="140201"/>
                </a:lnTo>
                <a:lnTo>
                  <a:pt x="613981" y="105584"/>
                </a:lnTo>
                <a:lnTo>
                  <a:pt x="579440" y="75114"/>
                </a:lnTo>
                <a:lnTo>
                  <a:pt x="541189" y="49219"/>
                </a:lnTo>
                <a:lnTo>
                  <a:pt x="499657" y="28330"/>
                </a:lnTo>
                <a:lnTo>
                  <a:pt x="455273" y="12878"/>
                </a:lnTo>
                <a:lnTo>
                  <a:pt x="408466" y="3291"/>
                </a:lnTo>
                <a:lnTo>
                  <a:pt x="35966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87770" y="4932934"/>
            <a:ext cx="444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30" baseline="-1736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1050" b="1" spc="-20" dirty="0">
                <a:solidFill>
                  <a:srgbClr val="FFFFFF"/>
                </a:solidFill>
                <a:latin typeface="メイリオ"/>
                <a:cs typeface="メイリオ"/>
              </a:rPr>
              <a:t>0.5</a:t>
            </a:r>
            <a:endParaRPr sz="1050">
              <a:latin typeface="メイリオ"/>
              <a:cs typeface="メイリオ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33488" y="4794503"/>
            <a:ext cx="721360" cy="721360"/>
          </a:xfrm>
          <a:custGeom>
            <a:avLst/>
            <a:gdLst/>
            <a:ahLst/>
            <a:cxnLst/>
            <a:rect l="l" t="t" r="r" b="b"/>
            <a:pathLst>
              <a:path w="721359" h="721360">
                <a:moveTo>
                  <a:pt x="360425" y="0"/>
                </a:moveTo>
                <a:lnTo>
                  <a:pt x="311528" y="3291"/>
                </a:lnTo>
                <a:lnTo>
                  <a:pt x="264627" y="12878"/>
                </a:lnTo>
                <a:lnTo>
                  <a:pt x="220152" y="28330"/>
                </a:lnTo>
                <a:lnTo>
                  <a:pt x="178533" y="49219"/>
                </a:lnTo>
                <a:lnTo>
                  <a:pt x="140201" y="75114"/>
                </a:lnTo>
                <a:lnTo>
                  <a:pt x="105584" y="105584"/>
                </a:lnTo>
                <a:lnTo>
                  <a:pt x="75114" y="140201"/>
                </a:lnTo>
                <a:lnTo>
                  <a:pt x="49219" y="178533"/>
                </a:lnTo>
                <a:lnTo>
                  <a:pt x="28330" y="220152"/>
                </a:lnTo>
                <a:lnTo>
                  <a:pt x="12878" y="264627"/>
                </a:lnTo>
                <a:lnTo>
                  <a:pt x="3291" y="311528"/>
                </a:lnTo>
                <a:lnTo>
                  <a:pt x="0" y="360426"/>
                </a:lnTo>
                <a:lnTo>
                  <a:pt x="3291" y="409323"/>
                </a:lnTo>
                <a:lnTo>
                  <a:pt x="12878" y="456224"/>
                </a:lnTo>
                <a:lnTo>
                  <a:pt x="28330" y="500699"/>
                </a:lnTo>
                <a:lnTo>
                  <a:pt x="49219" y="542318"/>
                </a:lnTo>
                <a:lnTo>
                  <a:pt x="75114" y="580650"/>
                </a:lnTo>
                <a:lnTo>
                  <a:pt x="105584" y="615267"/>
                </a:lnTo>
                <a:lnTo>
                  <a:pt x="140201" y="645737"/>
                </a:lnTo>
                <a:lnTo>
                  <a:pt x="178533" y="671632"/>
                </a:lnTo>
                <a:lnTo>
                  <a:pt x="220152" y="692521"/>
                </a:lnTo>
                <a:lnTo>
                  <a:pt x="264627" y="707973"/>
                </a:lnTo>
                <a:lnTo>
                  <a:pt x="311528" y="717560"/>
                </a:lnTo>
                <a:lnTo>
                  <a:pt x="360425" y="720852"/>
                </a:lnTo>
                <a:lnTo>
                  <a:pt x="409323" y="717560"/>
                </a:lnTo>
                <a:lnTo>
                  <a:pt x="456224" y="707973"/>
                </a:lnTo>
                <a:lnTo>
                  <a:pt x="500699" y="692521"/>
                </a:lnTo>
                <a:lnTo>
                  <a:pt x="542318" y="671632"/>
                </a:lnTo>
                <a:lnTo>
                  <a:pt x="580650" y="645737"/>
                </a:lnTo>
                <a:lnTo>
                  <a:pt x="615267" y="615267"/>
                </a:lnTo>
                <a:lnTo>
                  <a:pt x="645737" y="580650"/>
                </a:lnTo>
                <a:lnTo>
                  <a:pt x="671632" y="542318"/>
                </a:lnTo>
                <a:lnTo>
                  <a:pt x="692521" y="500699"/>
                </a:lnTo>
                <a:lnTo>
                  <a:pt x="707973" y="456224"/>
                </a:lnTo>
                <a:lnTo>
                  <a:pt x="717560" y="409323"/>
                </a:lnTo>
                <a:lnTo>
                  <a:pt x="720851" y="360426"/>
                </a:lnTo>
                <a:lnTo>
                  <a:pt x="717560" y="311528"/>
                </a:lnTo>
                <a:lnTo>
                  <a:pt x="707973" y="264627"/>
                </a:lnTo>
                <a:lnTo>
                  <a:pt x="692521" y="220152"/>
                </a:lnTo>
                <a:lnTo>
                  <a:pt x="671632" y="178533"/>
                </a:lnTo>
                <a:lnTo>
                  <a:pt x="645737" y="140201"/>
                </a:lnTo>
                <a:lnTo>
                  <a:pt x="615267" y="105584"/>
                </a:lnTo>
                <a:lnTo>
                  <a:pt x="580650" y="75114"/>
                </a:lnTo>
                <a:lnTo>
                  <a:pt x="542318" y="49219"/>
                </a:lnTo>
                <a:lnTo>
                  <a:pt x="500699" y="28330"/>
                </a:lnTo>
                <a:lnTo>
                  <a:pt x="456224" y="12878"/>
                </a:lnTo>
                <a:lnTo>
                  <a:pt x="409323" y="3291"/>
                </a:lnTo>
                <a:lnTo>
                  <a:pt x="360425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72806" y="4930266"/>
            <a:ext cx="444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30" baseline="-1736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1050" b="1" spc="-20" dirty="0">
                <a:solidFill>
                  <a:srgbClr val="FFFFFF"/>
                </a:solidFill>
                <a:latin typeface="メイリオ"/>
                <a:cs typeface="メイリオ"/>
              </a:rPr>
              <a:t>1.0</a:t>
            </a:r>
            <a:endParaRPr sz="1050">
              <a:latin typeface="メイリオ"/>
              <a:cs typeface="メイリオ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513064" y="4797552"/>
            <a:ext cx="719455" cy="721360"/>
          </a:xfrm>
          <a:custGeom>
            <a:avLst/>
            <a:gdLst/>
            <a:ahLst/>
            <a:cxnLst/>
            <a:rect l="l" t="t" r="r" b="b"/>
            <a:pathLst>
              <a:path w="719454" h="721360">
                <a:moveTo>
                  <a:pt x="359663" y="0"/>
                </a:moveTo>
                <a:lnTo>
                  <a:pt x="310861" y="3291"/>
                </a:lnTo>
                <a:lnTo>
                  <a:pt x="264054" y="12878"/>
                </a:lnTo>
                <a:lnTo>
                  <a:pt x="219670" y="28330"/>
                </a:lnTo>
                <a:lnTo>
                  <a:pt x="178138" y="49219"/>
                </a:lnTo>
                <a:lnTo>
                  <a:pt x="139887" y="75114"/>
                </a:lnTo>
                <a:lnTo>
                  <a:pt x="105346" y="105584"/>
                </a:lnTo>
                <a:lnTo>
                  <a:pt x="74943" y="140201"/>
                </a:lnTo>
                <a:lnTo>
                  <a:pt x="49106" y="178533"/>
                </a:lnTo>
                <a:lnTo>
                  <a:pt x="28265" y="220152"/>
                </a:lnTo>
                <a:lnTo>
                  <a:pt x="12848" y="264627"/>
                </a:lnTo>
                <a:lnTo>
                  <a:pt x="3283" y="311528"/>
                </a:lnTo>
                <a:lnTo>
                  <a:pt x="0" y="360425"/>
                </a:lnTo>
                <a:lnTo>
                  <a:pt x="3283" y="409323"/>
                </a:lnTo>
                <a:lnTo>
                  <a:pt x="12848" y="456224"/>
                </a:lnTo>
                <a:lnTo>
                  <a:pt x="28265" y="500699"/>
                </a:lnTo>
                <a:lnTo>
                  <a:pt x="49106" y="542318"/>
                </a:lnTo>
                <a:lnTo>
                  <a:pt x="74943" y="580650"/>
                </a:lnTo>
                <a:lnTo>
                  <a:pt x="105346" y="615267"/>
                </a:lnTo>
                <a:lnTo>
                  <a:pt x="139887" y="645737"/>
                </a:lnTo>
                <a:lnTo>
                  <a:pt x="178138" y="671632"/>
                </a:lnTo>
                <a:lnTo>
                  <a:pt x="219670" y="692521"/>
                </a:lnTo>
                <a:lnTo>
                  <a:pt x="264054" y="707973"/>
                </a:lnTo>
                <a:lnTo>
                  <a:pt x="310861" y="717560"/>
                </a:lnTo>
                <a:lnTo>
                  <a:pt x="359663" y="720852"/>
                </a:lnTo>
                <a:lnTo>
                  <a:pt x="408466" y="717560"/>
                </a:lnTo>
                <a:lnTo>
                  <a:pt x="455273" y="707973"/>
                </a:lnTo>
                <a:lnTo>
                  <a:pt x="499657" y="692521"/>
                </a:lnTo>
                <a:lnTo>
                  <a:pt x="541189" y="671632"/>
                </a:lnTo>
                <a:lnTo>
                  <a:pt x="579440" y="645737"/>
                </a:lnTo>
                <a:lnTo>
                  <a:pt x="613981" y="615267"/>
                </a:lnTo>
                <a:lnTo>
                  <a:pt x="644384" y="580650"/>
                </a:lnTo>
                <a:lnTo>
                  <a:pt x="670221" y="542318"/>
                </a:lnTo>
                <a:lnTo>
                  <a:pt x="691062" y="500699"/>
                </a:lnTo>
                <a:lnTo>
                  <a:pt x="706479" y="456224"/>
                </a:lnTo>
                <a:lnTo>
                  <a:pt x="716044" y="409323"/>
                </a:lnTo>
                <a:lnTo>
                  <a:pt x="719327" y="360425"/>
                </a:lnTo>
                <a:lnTo>
                  <a:pt x="716044" y="311528"/>
                </a:lnTo>
                <a:lnTo>
                  <a:pt x="706479" y="264627"/>
                </a:lnTo>
                <a:lnTo>
                  <a:pt x="691062" y="220152"/>
                </a:lnTo>
                <a:lnTo>
                  <a:pt x="670221" y="178533"/>
                </a:lnTo>
                <a:lnTo>
                  <a:pt x="644384" y="140201"/>
                </a:lnTo>
                <a:lnTo>
                  <a:pt x="613981" y="105584"/>
                </a:lnTo>
                <a:lnTo>
                  <a:pt x="579440" y="75114"/>
                </a:lnTo>
                <a:lnTo>
                  <a:pt x="541189" y="49219"/>
                </a:lnTo>
                <a:lnTo>
                  <a:pt x="499657" y="28330"/>
                </a:lnTo>
                <a:lnTo>
                  <a:pt x="455273" y="12878"/>
                </a:lnTo>
                <a:lnTo>
                  <a:pt x="408466" y="3291"/>
                </a:lnTo>
                <a:lnTo>
                  <a:pt x="35966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652002" y="4932934"/>
            <a:ext cx="444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30" baseline="-1736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1050" b="1" spc="-20" dirty="0">
                <a:solidFill>
                  <a:srgbClr val="FFFFFF"/>
                </a:solidFill>
                <a:latin typeface="メイリオ"/>
                <a:cs typeface="メイリオ"/>
              </a:rPr>
              <a:t>1.5</a:t>
            </a:r>
            <a:endParaRPr sz="1050">
              <a:latin typeface="メイリオ"/>
              <a:cs typeface="メイリオ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97211" y="4794503"/>
            <a:ext cx="721360" cy="721360"/>
          </a:xfrm>
          <a:custGeom>
            <a:avLst/>
            <a:gdLst/>
            <a:ahLst/>
            <a:cxnLst/>
            <a:rect l="l" t="t" r="r" b="b"/>
            <a:pathLst>
              <a:path w="721359" h="721360">
                <a:moveTo>
                  <a:pt x="360426" y="0"/>
                </a:moveTo>
                <a:lnTo>
                  <a:pt x="311528" y="3291"/>
                </a:lnTo>
                <a:lnTo>
                  <a:pt x="264627" y="12878"/>
                </a:lnTo>
                <a:lnTo>
                  <a:pt x="220152" y="28330"/>
                </a:lnTo>
                <a:lnTo>
                  <a:pt x="178533" y="49219"/>
                </a:lnTo>
                <a:lnTo>
                  <a:pt x="140201" y="75114"/>
                </a:lnTo>
                <a:lnTo>
                  <a:pt x="105584" y="105584"/>
                </a:lnTo>
                <a:lnTo>
                  <a:pt x="75114" y="140201"/>
                </a:lnTo>
                <a:lnTo>
                  <a:pt x="49219" y="178533"/>
                </a:lnTo>
                <a:lnTo>
                  <a:pt x="28330" y="220152"/>
                </a:lnTo>
                <a:lnTo>
                  <a:pt x="12878" y="264627"/>
                </a:lnTo>
                <a:lnTo>
                  <a:pt x="3291" y="311528"/>
                </a:lnTo>
                <a:lnTo>
                  <a:pt x="0" y="360426"/>
                </a:lnTo>
                <a:lnTo>
                  <a:pt x="3291" y="409323"/>
                </a:lnTo>
                <a:lnTo>
                  <a:pt x="12878" y="456224"/>
                </a:lnTo>
                <a:lnTo>
                  <a:pt x="28330" y="500699"/>
                </a:lnTo>
                <a:lnTo>
                  <a:pt x="49219" y="542318"/>
                </a:lnTo>
                <a:lnTo>
                  <a:pt x="75114" y="580650"/>
                </a:lnTo>
                <a:lnTo>
                  <a:pt x="105584" y="615267"/>
                </a:lnTo>
                <a:lnTo>
                  <a:pt x="140201" y="645737"/>
                </a:lnTo>
                <a:lnTo>
                  <a:pt x="178533" y="671632"/>
                </a:lnTo>
                <a:lnTo>
                  <a:pt x="220152" y="692521"/>
                </a:lnTo>
                <a:lnTo>
                  <a:pt x="264627" y="707973"/>
                </a:lnTo>
                <a:lnTo>
                  <a:pt x="311528" y="717560"/>
                </a:lnTo>
                <a:lnTo>
                  <a:pt x="360426" y="720852"/>
                </a:lnTo>
                <a:lnTo>
                  <a:pt x="409323" y="717560"/>
                </a:lnTo>
                <a:lnTo>
                  <a:pt x="456224" y="707973"/>
                </a:lnTo>
                <a:lnTo>
                  <a:pt x="500699" y="692521"/>
                </a:lnTo>
                <a:lnTo>
                  <a:pt x="542318" y="671632"/>
                </a:lnTo>
                <a:lnTo>
                  <a:pt x="580650" y="645737"/>
                </a:lnTo>
                <a:lnTo>
                  <a:pt x="615267" y="615267"/>
                </a:lnTo>
                <a:lnTo>
                  <a:pt x="645737" y="580650"/>
                </a:lnTo>
                <a:lnTo>
                  <a:pt x="671632" y="542318"/>
                </a:lnTo>
                <a:lnTo>
                  <a:pt x="692521" y="500699"/>
                </a:lnTo>
                <a:lnTo>
                  <a:pt x="707973" y="456224"/>
                </a:lnTo>
                <a:lnTo>
                  <a:pt x="717560" y="409323"/>
                </a:lnTo>
                <a:lnTo>
                  <a:pt x="720852" y="360426"/>
                </a:lnTo>
                <a:lnTo>
                  <a:pt x="717560" y="311528"/>
                </a:lnTo>
                <a:lnTo>
                  <a:pt x="707973" y="264627"/>
                </a:lnTo>
                <a:lnTo>
                  <a:pt x="692521" y="220152"/>
                </a:lnTo>
                <a:lnTo>
                  <a:pt x="671632" y="178533"/>
                </a:lnTo>
                <a:lnTo>
                  <a:pt x="645737" y="140201"/>
                </a:lnTo>
                <a:lnTo>
                  <a:pt x="615267" y="105584"/>
                </a:lnTo>
                <a:lnTo>
                  <a:pt x="580650" y="75114"/>
                </a:lnTo>
                <a:lnTo>
                  <a:pt x="542318" y="49219"/>
                </a:lnTo>
                <a:lnTo>
                  <a:pt x="500699" y="28330"/>
                </a:lnTo>
                <a:lnTo>
                  <a:pt x="456224" y="12878"/>
                </a:lnTo>
                <a:lnTo>
                  <a:pt x="409323" y="3291"/>
                </a:lnTo>
                <a:lnTo>
                  <a:pt x="36042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837166" y="4930266"/>
            <a:ext cx="444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30" baseline="-17361" dirty="0">
                <a:solidFill>
                  <a:srgbClr val="FFFFFF"/>
                </a:solidFill>
                <a:latin typeface="メイリオ"/>
                <a:cs typeface="メイリオ"/>
              </a:rPr>
              <a:t>9</a:t>
            </a:r>
            <a:r>
              <a:rPr sz="1050" b="1" spc="-20" dirty="0">
                <a:solidFill>
                  <a:srgbClr val="FFFFFF"/>
                </a:solidFill>
                <a:latin typeface="メイリオ"/>
                <a:cs typeface="メイリオ"/>
              </a:rPr>
              <a:t>2.0</a:t>
            </a:r>
            <a:endParaRPr sz="1050">
              <a:latin typeface="メイリオ"/>
              <a:cs typeface="メイリオ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39003" y="5580684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85858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18579" y="5580684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85858"/>
                </a:solidFill>
                <a:latin typeface="メイリオ"/>
                <a:cs typeface="メイリオ"/>
              </a:rPr>
              <a:t>3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97902" y="5586476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85858"/>
                </a:solidFill>
                <a:latin typeface="メイリオ"/>
                <a:cs typeface="メイリオ"/>
              </a:rPr>
              <a:t>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05215" y="5575808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85858"/>
                </a:solidFill>
                <a:latin typeface="メイリオ"/>
                <a:cs typeface="メイリオ"/>
              </a:rPr>
              <a:t>27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85426" y="5575808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85858"/>
                </a:solidFill>
                <a:latin typeface="メイリオ"/>
                <a:cs typeface="メイリオ"/>
              </a:rPr>
              <a:t>81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129016" y="4989576"/>
            <a:ext cx="1503045" cy="304800"/>
          </a:xfrm>
          <a:custGeom>
            <a:avLst/>
            <a:gdLst/>
            <a:ahLst/>
            <a:cxnLst/>
            <a:rect l="l" t="t" r="r" b="b"/>
            <a:pathLst>
              <a:path w="1503045" h="304800">
                <a:moveTo>
                  <a:pt x="320040" y="152400"/>
                </a:moveTo>
                <a:lnTo>
                  <a:pt x="167640" y="0"/>
                </a:lnTo>
                <a:lnTo>
                  <a:pt x="16764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167640" y="228600"/>
                </a:lnTo>
                <a:lnTo>
                  <a:pt x="167640" y="304800"/>
                </a:lnTo>
                <a:lnTo>
                  <a:pt x="320040" y="152400"/>
                </a:lnTo>
                <a:close/>
              </a:path>
              <a:path w="1503045" h="304800">
                <a:moveTo>
                  <a:pt x="1502664" y="152400"/>
                </a:moveTo>
                <a:lnTo>
                  <a:pt x="1350264" y="0"/>
                </a:lnTo>
                <a:lnTo>
                  <a:pt x="1350264" y="76200"/>
                </a:lnTo>
                <a:lnTo>
                  <a:pt x="1182624" y="76200"/>
                </a:lnTo>
                <a:lnTo>
                  <a:pt x="1182624" y="228600"/>
                </a:lnTo>
                <a:lnTo>
                  <a:pt x="1350264" y="228600"/>
                </a:lnTo>
                <a:lnTo>
                  <a:pt x="1350264" y="304800"/>
                </a:lnTo>
                <a:lnTo>
                  <a:pt x="1502664" y="152400"/>
                </a:lnTo>
                <a:close/>
              </a:path>
            </a:pathLst>
          </a:custGeom>
          <a:solidFill>
            <a:srgbClr val="E90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119998" y="4708652"/>
            <a:ext cx="294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×3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10496" y="4700777"/>
            <a:ext cx="294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×3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66816" y="4985003"/>
            <a:ext cx="1499870" cy="304800"/>
          </a:xfrm>
          <a:custGeom>
            <a:avLst/>
            <a:gdLst/>
            <a:ahLst/>
            <a:cxnLst/>
            <a:rect l="l" t="t" r="r" b="b"/>
            <a:pathLst>
              <a:path w="1499870" h="304800">
                <a:moveTo>
                  <a:pt x="320040" y="152400"/>
                </a:moveTo>
                <a:lnTo>
                  <a:pt x="167640" y="0"/>
                </a:lnTo>
                <a:lnTo>
                  <a:pt x="167640" y="76200"/>
                </a:lnTo>
                <a:lnTo>
                  <a:pt x="0" y="76200"/>
                </a:lnTo>
                <a:lnTo>
                  <a:pt x="0" y="228612"/>
                </a:lnTo>
                <a:lnTo>
                  <a:pt x="167640" y="228612"/>
                </a:lnTo>
                <a:lnTo>
                  <a:pt x="167640" y="304800"/>
                </a:lnTo>
                <a:lnTo>
                  <a:pt x="320040" y="152400"/>
                </a:lnTo>
                <a:close/>
              </a:path>
              <a:path w="1499870" h="304800">
                <a:moveTo>
                  <a:pt x="1499616" y="152400"/>
                </a:moveTo>
                <a:lnTo>
                  <a:pt x="1347216" y="0"/>
                </a:lnTo>
                <a:lnTo>
                  <a:pt x="1347216" y="76200"/>
                </a:lnTo>
                <a:lnTo>
                  <a:pt x="1179576" y="76200"/>
                </a:lnTo>
                <a:lnTo>
                  <a:pt x="1179576" y="228612"/>
                </a:lnTo>
                <a:lnTo>
                  <a:pt x="1347216" y="228612"/>
                </a:lnTo>
                <a:lnTo>
                  <a:pt x="1347216" y="304800"/>
                </a:lnTo>
                <a:lnTo>
                  <a:pt x="1499616" y="152400"/>
                </a:lnTo>
                <a:close/>
              </a:path>
            </a:pathLst>
          </a:custGeom>
          <a:solidFill>
            <a:srgbClr val="E90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76086" y="4708652"/>
            <a:ext cx="294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×3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66584" y="4700777"/>
            <a:ext cx="294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E90D41"/>
                </a:solidFill>
                <a:latin typeface="メイリオ"/>
                <a:cs typeface="メイリオ"/>
              </a:rPr>
              <a:t>×3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31514" y="6521957"/>
            <a:ext cx="8460740" cy="0"/>
          </a:xfrm>
          <a:custGeom>
            <a:avLst/>
            <a:gdLst/>
            <a:ahLst/>
            <a:cxnLst/>
            <a:rect l="l" t="t" r="r" b="b"/>
            <a:pathLst>
              <a:path w="8460740">
                <a:moveTo>
                  <a:pt x="0" y="0"/>
                </a:moveTo>
                <a:lnTo>
                  <a:pt x="8460486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14082" y="6591274"/>
            <a:ext cx="271780" cy="146685"/>
          </a:xfrm>
          <a:custGeom>
            <a:avLst/>
            <a:gdLst/>
            <a:ahLst/>
            <a:cxnLst/>
            <a:rect l="l" t="t" r="r" b="b"/>
            <a:pathLst>
              <a:path w="271779" h="146684">
                <a:moveTo>
                  <a:pt x="271652" y="126"/>
                </a:moveTo>
                <a:lnTo>
                  <a:pt x="87375" y="0"/>
                </a:lnTo>
                <a:lnTo>
                  <a:pt x="50673" y="127025"/>
                </a:lnTo>
                <a:lnTo>
                  <a:pt x="24384" y="69278"/>
                </a:lnTo>
                <a:lnTo>
                  <a:pt x="0" y="80441"/>
                </a:lnTo>
                <a:lnTo>
                  <a:pt x="2286" y="86017"/>
                </a:lnTo>
                <a:lnTo>
                  <a:pt x="14859" y="80441"/>
                </a:lnTo>
                <a:lnTo>
                  <a:pt x="45720" y="146664"/>
                </a:lnTo>
                <a:lnTo>
                  <a:pt x="52832" y="146664"/>
                </a:lnTo>
                <a:lnTo>
                  <a:pt x="92964" y="9893"/>
                </a:lnTo>
                <a:lnTo>
                  <a:pt x="97917" y="9893"/>
                </a:lnTo>
                <a:lnTo>
                  <a:pt x="97917" y="10794"/>
                </a:lnTo>
                <a:lnTo>
                  <a:pt x="271652" y="10794"/>
                </a:lnTo>
                <a:lnTo>
                  <a:pt x="271652" y="12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888091" y="6580606"/>
            <a:ext cx="260985" cy="146685"/>
          </a:xfrm>
          <a:custGeom>
            <a:avLst/>
            <a:gdLst/>
            <a:ahLst/>
            <a:cxnLst/>
            <a:rect l="l" t="t" r="r" b="b"/>
            <a:pathLst>
              <a:path w="260984" h="146684">
                <a:moveTo>
                  <a:pt x="260984" y="126"/>
                </a:moveTo>
                <a:lnTo>
                  <a:pt x="87375" y="0"/>
                </a:lnTo>
                <a:lnTo>
                  <a:pt x="50673" y="127025"/>
                </a:lnTo>
                <a:lnTo>
                  <a:pt x="24383" y="69278"/>
                </a:lnTo>
                <a:lnTo>
                  <a:pt x="0" y="80441"/>
                </a:lnTo>
                <a:lnTo>
                  <a:pt x="2285" y="86017"/>
                </a:lnTo>
                <a:lnTo>
                  <a:pt x="14858" y="80441"/>
                </a:lnTo>
                <a:lnTo>
                  <a:pt x="45719" y="146659"/>
                </a:lnTo>
                <a:lnTo>
                  <a:pt x="52831" y="146659"/>
                </a:lnTo>
                <a:lnTo>
                  <a:pt x="92963" y="9893"/>
                </a:lnTo>
                <a:lnTo>
                  <a:pt x="97916" y="9893"/>
                </a:lnTo>
                <a:lnTo>
                  <a:pt x="97916" y="10794"/>
                </a:lnTo>
                <a:lnTo>
                  <a:pt x="260984" y="10794"/>
                </a:lnTo>
                <a:lnTo>
                  <a:pt x="260984" y="12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351386" y="6589750"/>
            <a:ext cx="369570" cy="146685"/>
          </a:xfrm>
          <a:custGeom>
            <a:avLst/>
            <a:gdLst/>
            <a:ahLst/>
            <a:cxnLst/>
            <a:rect l="l" t="t" r="r" b="b"/>
            <a:pathLst>
              <a:path w="369570" h="146684">
                <a:moveTo>
                  <a:pt x="87376" y="0"/>
                </a:moveTo>
                <a:lnTo>
                  <a:pt x="50673" y="127025"/>
                </a:lnTo>
                <a:lnTo>
                  <a:pt x="24384" y="69278"/>
                </a:lnTo>
                <a:lnTo>
                  <a:pt x="0" y="80441"/>
                </a:lnTo>
                <a:lnTo>
                  <a:pt x="2286" y="86017"/>
                </a:lnTo>
                <a:lnTo>
                  <a:pt x="14859" y="80441"/>
                </a:lnTo>
                <a:lnTo>
                  <a:pt x="45720" y="146665"/>
                </a:lnTo>
                <a:lnTo>
                  <a:pt x="52832" y="146665"/>
                </a:lnTo>
                <a:lnTo>
                  <a:pt x="92964" y="9893"/>
                </a:lnTo>
                <a:lnTo>
                  <a:pt x="97917" y="9893"/>
                </a:lnTo>
                <a:lnTo>
                  <a:pt x="97917" y="10794"/>
                </a:lnTo>
                <a:lnTo>
                  <a:pt x="369189" y="10794"/>
                </a:lnTo>
                <a:lnTo>
                  <a:pt x="369189" y="126"/>
                </a:lnTo>
                <a:lnTo>
                  <a:pt x="8737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658359" y="6560311"/>
            <a:ext cx="7482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328410" algn="l"/>
                <a:tab pos="6791959" algn="l"/>
              </a:tabLst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※少し難しいが、実際は</a:t>
            </a:r>
            <a:r>
              <a:rPr sz="1200" b="1" spc="5" dirty="0">
                <a:solidFill>
                  <a:srgbClr val="A6A6A6"/>
                </a:solidFill>
                <a:latin typeface="メイリオ"/>
                <a:cs typeface="メイリオ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r>
              <a:rPr sz="1275" baseline="29411" dirty="0">
                <a:solidFill>
                  <a:srgbClr val="A6A6A6"/>
                </a:solidFill>
                <a:latin typeface="Cambria Math"/>
                <a:cs typeface="Cambria Math"/>
              </a:rPr>
              <a:t>𝒏/𝒎</a:t>
            </a:r>
            <a:r>
              <a:rPr sz="1275" spc="300" baseline="2941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spc="15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050" baseline="51587" dirty="0">
                <a:solidFill>
                  <a:srgbClr val="A6A6A6"/>
                </a:solidFill>
                <a:latin typeface="Cambria Math"/>
                <a:cs typeface="Cambria Math"/>
              </a:rPr>
              <a:t>𝒎</a:t>
            </a:r>
            <a:r>
              <a:rPr sz="1050" spc="382" baseline="51587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r>
              <a:rPr sz="1275" baseline="22875" dirty="0">
                <a:solidFill>
                  <a:srgbClr val="A6A6A6"/>
                </a:solidFill>
                <a:latin typeface="Cambria Math"/>
                <a:cs typeface="Cambria Math"/>
              </a:rPr>
              <a:t>𝒏</a:t>
            </a:r>
            <a:r>
              <a:rPr sz="1275" spc="412" baseline="2287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という式にしたがって計算できる。たとえば</a:t>
            </a:r>
            <a:r>
              <a:rPr sz="1200" b="1" spc="10" dirty="0">
                <a:solidFill>
                  <a:srgbClr val="A6A6A6"/>
                </a:solidFill>
                <a:latin typeface="メイリオ"/>
                <a:cs typeface="メイリオ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𝟗</a:t>
            </a:r>
            <a:r>
              <a:rPr sz="1275" baseline="29411" dirty="0">
                <a:solidFill>
                  <a:srgbClr val="A6A6A6"/>
                </a:solidFill>
                <a:latin typeface="Cambria Math"/>
                <a:cs typeface="Cambria Math"/>
              </a:rPr>
              <a:t>𝟏.𝟓</a:t>
            </a:r>
            <a:r>
              <a:rPr sz="1275" spc="270" baseline="2941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5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	𝟗</a:t>
            </a:r>
            <a:r>
              <a:rPr sz="1275" baseline="22875" dirty="0">
                <a:solidFill>
                  <a:srgbClr val="A6A6A6"/>
                </a:solidFill>
                <a:latin typeface="Cambria Math"/>
                <a:cs typeface="Cambria Math"/>
              </a:rPr>
              <a:t>𝟑</a:t>
            </a:r>
            <a:r>
              <a:rPr sz="1275" spc="292" baseline="2287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5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	𝟕𝟐𝟗</a:t>
            </a:r>
            <a:r>
              <a:rPr sz="1200" spc="3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=</a:t>
            </a:r>
            <a:r>
              <a:rPr sz="1200" spc="65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spc="-25" dirty="0">
                <a:solidFill>
                  <a:srgbClr val="A6A6A6"/>
                </a:solidFill>
                <a:latin typeface="Cambria Math"/>
                <a:cs typeface="Cambria Math"/>
              </a:rPr>
              <a:t>𝟐𝟕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468367" y="3429000"/>
            <a:ext cx="1449705" cy="508000"/>
          </a:xfrm>
          <a:custGeom>
            <a:avLst/>
            <a:gdLst/>
            <a:ahLst/>
            <a:cxnLst/>
            <a:rect l="l" t="t" r="r" b="b"/>
            <a:pathLst>
              <a:path w="1449704" h="508000">
                <a:moveTo>
                  <a:pt x="1195578" y="0"/>
                </a:moveTo>
                <a:lnTo>
                  <a:pt x="0" y="0"/>
                </a:lnTo>
                <a:lnTo>
                  <a:pt x="0" y="507492"/>
                </a:lnTo>
                <a:lnTo>
                  <a:pt x="1195578" y="507492"/>
                </a:lnTo>
                <a:lnTo>
                  <a:pt x="1449324" y="253745"/>
                </a:lnTo>
                <a:lnTo>
                  <a:pt x="1195578" y="0"/>
                </a:lnTo>
                <a:close/>
              </a:path>
            </a:pathLst>
          </a:custGeom>
          <a:solidFill>
            <a:srgbClr val="213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607433" y="3479038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計算方法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52820" y="3507485"/>
            <a:ext cx="4587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1379E"/>
                </a:solidFill>
                <a:latin typeface="Cambria Math"/>
                <a:cs typeface="Cambria Math"/>
              </a:rPr>
              <a:t>𝒃</a:t>
            </a:r>
            <a:r>
              <a:rPr sz="2000" spc="215" dirty="0">
                <a:solidFill>
                  <a:srgbClr val="21379E"/>
                </a:solidFill>
                <a:latin typeface="Cambria Math"/>
                <a:cs typeface="Cambria Math"/>
              </a:rPr>
              <a:t> </a:t>
            </a:r>
            <a:r>
              <a:rPr sz="2000" b="1" spc="-15" dirty="0">
                <a:solidFill>
                  <a:srgbClr val="21379E"/>
                </a:solidFill>
                <a:latin typeface="メイリオ"/>
                <a:cs typeface="メイリオ"/>
              </a:rPr>
              <a:t>が一定だけ増えると、答えも一定だけ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486900" y="3787140"/>
            <a:ext cx="1923414" cy="944244"/>
          </a:xfrm>
          <a:custGeom>
            <a:avLst/>
            <a:gdLst/>
            <a:ahLst/>
            <a:cxnLst/>
            <a:rect l="l" t="t" r="r" b="b"/>
            <a:pathLst>
              <a:path w="1923415" h="944245">
                <a:moveTo>
                  <a:pt x="1923288" y="0"/>
                </a:moveTo>
                <a:lnTo>
                  <a:pt x="0" y="0"/>
                </a:lnTo>
                <a:lnTo>
                  <a:pt x="0" y="696468"/>
                </a:lnTo>
                <a:lnTo>
                  <a:pt x="320548" y="696468"/>
                </a:lnTo>
                <a:lnTo>
                  <a:pt x="571373" y="943737"/>
                </a:lnTo>
                <a:lnTo>
                  <a:pt x="801370" y="696468"/>
                </a:lnTo>
                <a:lnTo>
                  <a:pt x="1923288" y="696468"/>
                </a:lnTo>
                <a:lnTo>
                  <a:pt x="1923288" y="0"/>
                </a:lnTo>
                <a:close/>
              </a:path>
            </a:pathLst>
          </a:custGeom>
          <a:solidFill>
            <a:srgbClr val="E90D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6027420" y="3957065"/>
            <a:ext cx="5305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1379E"/>
                </a:solidFill>
                <a:latin typeface="メイリオ"/>
                <a:cs typeface="メイリオ"/>
              </a:rPr>
              <a:t>掛けられるように上手くやる</a:t>
            </a:r>
            <a:r>
              <a:rPr sz="1950" b="1" spc="44" baseline="25641" dirty="0">
                <a:solidFill>
                  <a:srgbClr val="21379E"/>
                </a:solidFill>
                <a:latin typeface="メイリオ"/>
                <a:cs typeface="メイリオ"/>
              </a:rPr>
              <a:t>※ </a:t>
            </a:r>
            <a:r>
              <a:rPr sz="2400" baseline="41666" dirty="0">
                <a:solidFill>
                  <a:srgbClr val="FFFFFF"/>
                </a:solidFill>
                <a:latin typeface="Cambria Math"/>
                <a:cs typeface="Cambria Math"/>
              </a:rPr>
              <a:t>𝒃</a:t>
            </a:r>
            <a:r>
              <a:rPr sz="2400" spc="277" baseline="41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b="1" baseline="41666" dirty="0">
                <a:solidFill>
                  <a:srgbClr val="FFFFFF"/>
                </a:solidFill>
                <a:latin typeface="メイリオ"/>
                <a:cs typeface="メイリオ"/>
              </a:rPr>
              <a:t>が 0.5</a:t>
            </a:r>
            <a:r>
              <a:rPr sz="2400" b="1" spc="-44" baseline="41666" dirty="0">
                <a:solidFill>
                  <a:srgbClr val="FFFFFF"/>
                </a:solidFill>
                <a:latin typeface="メイリオ"/>
                <a:cs typeface="メイリオ"/>
              </a:rPr>
              <a:t> 増えると</a:t>
            </a:r>
            <a:endParaRPr sz="2400" baseline="41666">
              <a:latin typeface="メイリオ"/>
              <a:cs typeface="メイリオ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030459" y="4093845"/>
            <a:ext cx="8394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r>
              <a:rPr sz="1600" b="1" spc="-25" dirty="0">
                <a:solidFill>
                  <a:srgbClr val="FFFFFF"/>
                </a:solidFill>
                <a:latin typeface="メイリオ"/>
                <a:cs typeface="メイリオ"/>
              </a:rPr>
              <a:t> 倍に！</a:t>
            </a:r>
            <a:endParaRPr sz="16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124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3755" y="1993392"/>
            <a:ext cx="7103745" cy="1172210"/>
          </a:xfrm>
          <a:prstGeom prst="rect">
            <a:avLst/>
          </a:prstGeom>
          <a:solidFill>
            <a:srgbClr val="21379E">
              <a:alpha val="14901"/>
            </a:srgbClr>
          </a:solidFill>
        </p:spPr>
        <p:txBody>
          <a:bodyPr vert="horz" wrap="square" lIns="0" tIns="39370" rIns="0" bIns="0" rtlCol="0">
            <a:spAutoFit/>
          </a:bodyPr>
          <a:lstStyle/>
          <a:p>
            <a:pPr marL="295275" marR="1890395">
              <a:lnSpc>
                <a:spcPct val="150000"/>
              </a:lnSpc>
              <a:spcBef>
                <a:spcPts val="310"/>
              </a:spcBef>
            </a:pPr>
            <a:r>
              <a:rPr sz="2000" b="1" dirty="0">
                <a:latin typeface="メイリオ"/>
                <a:cs typeface="メイリオ"/>
              </a:rPr>
              <a:t>指数関数とは、</a:t>
            </a:r>
            <a:r>
              <a:rPr sz="2000" dirty="0">
                <a:latin typeface="Cambria Math"/>
                <a:cs typeface="Cambria Math"/>
              </a:rPr>
              <a:t>𝒚 = 𝒂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540" baseline="28735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の形で表される関数</a:t>
            </a:r>
            <a:r>
              <a:rPr sz="2000" b="1" dirty="0">
                <a:latin typeface="メイリオ"/>
                <a:cs typeface="メイリオ"/>
              </a:rPr>
              <a:t>例：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70" dirty="0">
                <a:latin typeface="Cambria Math"/>
                <a:cs typeface="Cambria Math"/>
              </a:rPr>
              <a:t> = </a:t>
            </a:r>
            <a:r>
              <a:rPr sz="2000" dirty="0">
                <a:latin typeface="Cambria Math"/>
                <a:cs typeface="Cambria Math"/>
              </a:rPr>
              <a:t>𝟐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592" baseline="28735" dirty="0">
                <a:latin typeface="Cambria Math"/>
                <a:cs typeface="Cambria Math"/>
              </a:rPr>
              <a:t> </a:t>
            </a:r>
            <a:r>
              <a:rPr sz="2000" b="1" spc="-25" dirty="0">
                <a:latin typeface="メイリオ"/>
                <a:cs typeface="メイリオ"/>
              </a:rPr>
              <a:t>など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(3/4)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125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3755" y="1993392"/>
            <a:ext cx="7103745" cy="1172210"/>
          </a:xfrm>
          <a:prstGeom prst="rect">
            <a:avLst/>
          </a:prstGeom>
          <a:solidFill>
            <a:srgbClr val="21379E">
              <a:alpha val="14901"/>
            </a:srgbClr>
          </a:solidFill>
        </p:spPr>
        <p:txBody>
          <a:bodyPr vert="horz" wrap="square" lIns="0" tIns="39370" rIns="0" bIns="0" rtlCol="0">
            <a:spAutoFit/>
          </a:bodyPr>
          <a:lstStyle/>
          <a:p>
            <a:pPr marL="295275" marR="1890395">
              <a:lnSpc>
                <a:spcPct val="150000"/>
              </a:lnSpc>
              <a:spcBef>
                <a:spcPts val="310"/>
              </a:spcBef>
            </a:pPr>
            <a:r>
              <a:rPr sz="2000" b="1" dirty="0">
                <a:latin typeface="メイリオ"/>
                <a:cs typeface="メイリオ"/>
              </a:rPr>
              <a:t>指数関数とは、</a:t>
            </a:r>
            <a:r>
              <a:rPr sz="2000" dirty="0">
                <a:latin typeface="Cambria Math"/>
                <a:cs typeface="Cambria Math"/>
              </a:rPr>
              <a:t>𝒚 = 𝒂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540" baseline="28735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の形で表される関数</a:t>
            </a:r>
            <a:r>
              <a:rPr sz="2000" b="1" dirty="0">
                <a:latin typeface="メイリオ"/>
                <a:cs typeface="メイリオ"/>
              </a:rPr>
              <a:t>例：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70" dirty="0">
                <a:latin typeface="Cambria Math"/>
                <a:cs typeface="Cambria Math"/>
              </a:rPr>
              <a:t> = </a:t>
            </a:r>
            <a:r>
              <a:rPr sz="2000" dirty="0">
                <a:latin typeface="Cambria Math"/>
                <a:cs typeface="Cambria Math"/>
              </a:rPr>
              <a:t>𝟐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592" baseline="28735" dirty="0">
                <a:latin typeface="Cambria Math"/>
                <a:cs typeface="Cambria Math"/>
              </a:rPr>
              <a:t> </a:t>
            </a:r>
            <a:r>
              <a:rPr sz="2000" b="1" spc="-25" dirty="0">
                <a:latin typeface="メイリオ"/>
                <a:cs typeface="メイリオ"/>
              </a:rPr>
              <a:t>など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81905" y="3961638"/>
            <a:ext cx="5832475" cy="1945639"/>
          </a:xfrm>
          <a:custGeom>
            <a:avLst/>
            <a:gdLst/>
            <a:ahLst/>
            <a:cxnLst/>
            <a:rect l="l" t="t" r="r" b="b"/>
            <a:pathLst>
              <a:path w="5832475" h="1945639">
                <a:moveTo>
                  <a:pt x="4527804" y="1524"/>
                </a:moveTo>
                <a:lnTo>
                  <a:pt x="4527804" y="1945525"/>
                </a:lnTo>
              </a:path>
              <a:path w="5832475" h="1945639">
                <a:moveTo>
                  <a:pt x="5831967" y="0"/>
                </a:moveTo>
                <a:lnTo>
                  <a:pt x="0" y="0"/>
                </a:lnTo>
              </a:path>
              <a:path w="5832475" h="1945639">
                <a:moveTo>
                  <a:pt x="3887724" y="1524"/>
                </a:moveTo>
                <a:lnTo>
                  <a:pt x="3887724" y="1945525"/>
                </a:lnTo>
              </a:path>
              <a:path w="5832475" h="1945639">
                <a:moveTo>
                  <a:pt x="0" y="1524"/>
                </a:moveTo>
                <a:lnTo>
                  <a:pt x="0" y="1945525"/>
                </a:lnTo>
              </a:path>
              <a:path w="5832475" h="1945639">
                <a:moveTo>
                  <a:pt x="2592324" y="1524"/>
                </a:moveTo>
                <a:lnTo>
                  <a:pt x="2592324" y="1945525"/>
                </a:lnTo>
              </a:path>
              <a:path w="5832475" h="1945639">
                <a:moveTo>
                  <a:pt x="1941576" y="1524"/>
                </a:moveTo>
                <a:lnTo>
                  <a:pt x="1941576" y="1945525"/>
                </a:lnTo>
              </a:path>
              <a:path w="5832475" h="1945639">
                <a:moveTo>
                  <a:pt x="1295400" y="1524"/>
                </a:moveTo>
                <a:lnTo>
                  <a:pt x="1295400" y="1945525"/>
                </a:lnTo>
              </a:path>
              <a:path w="5832475" h="1945639">
                <a:moveTo>
                  <a:pt x="647700" y="1524"/>
                </a:moveTo>
                <a:lnTo>
                  <a:pt x="647700" y="1945525"/>
                </a:lnTo>
              </a:path>
              <a:path w="5832475" h="1945639">
                <a:moveTo>
                  <a:pt x="0" y="650748"/>
                </a:moveTo>
                <a:lnTo>
                  <a:pt x="5831967" y="650748"/>
                </a:lnTo>
              </a:path>
              <a:path w="5832475" h="1945639">
                <a:moveTo>
                  <a:pt x="0" y="1298448"/>
                </a:moveTo>
                <a:lnTo>
                  <a:pt x="5831967" y="1298448"/>
                </a:lnTo>
              </a:path>
            </a:pathLst>
          </a:custGeom>
          <a:ln w="190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032997" y="5719978"/>
            <a:ext cx="172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𝒙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04556" y="3772915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04556" y="4421835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4506" y="5914440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18523" y="5914440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04556" y="3356228"/>
            <a:ext cx="177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𝒚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765030" y="3963161"/>
            <a:ext cx="647700" cy="1945639"/>
          </a:xfrm>
          <a:custGeom>
            <a:avLst/>
            <a:gdLst/>
            <a:ahLst/>
            <a:cxnLst/>
            <a:rect l="l" t="t" r="r" b="b"/>
            <a:pathLst>
              <a:path w="647700" h="1945639">
                <a:moveTo>
                  <a:pt x="0" y="1524"/>
                </a:moveTo>
                <a:lnTo>
                  <a:pt x="0" y="1945525"/>
                </a:lnTo>
              </a:path>
              <a:path w="647700" h="1945639">
                <a:moveTo>
                  <a:pt x="647700" y="0"/>
                </a:moveTo>
                <a:lnTo>
                  <a:pt x="647700" y="1944001"/>
                </a:lnTo>
              </a:path>
            </a:pathLst>
          </a:custGeom>
          <a:ln w="190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672573" y="5911697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23703" y="5919622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347210" y="3345814"/>
            <a:ext cx="6497955" cy="2644775"/>
          </a:xfrm>
          <a:custGeom>
            <a:avLst/>
            <a:gdLst/>
            <a:ahLst/>
            <a:cxnLst/>
            <a:rect l="l" t="t" r="r" b="b"/>
            <a:pathLst>
              <a:path w="6497955" h="2644775">
                <a:moveTo>
                  <a:pt x="6497701" y="2558923"/>
                </a:moveTo>
                <a:lnTo>
                  <a:pt x="6465036" y="2539873"/>
                </a:lnTo>
                <a:lnTo>
                  <a:pt x="6355207" y="2475788"/>
                </a:lnTo>
                <a:lnTo>
                  <a:pt x="6348082" y="2473350"/>
                </a:lnTo>
                <a:lnTo>
                  <a:pt x="6340805" y="2473833"/>
                </a:lnTo>
                <a:lnTo>
                  <a:pt x="6334214" y="2477008"/>
                </a:lnTo>
                <a:lnTo>
                  <a:pt x="6329172" y="2482646"/>
                </a:lnTo>
                <a:lnTo>
                  <a:pt x="6326721" y="2489809"/>
                </a:lnTo>
                <a:lnTo>
                  <a:pt x="6327216" y="2497099"/>
                </a:lnTo>
                <a:lnTo>
                  <a:pt x="6330404" y="2503678"/>
                </a:lnTo>
                <a:lnTo>
                  <a:pt x="6336030" y="2508707"/>
                </a:lnTo>
                <a:lnTo>
                  <a:pt x="6389446" y="2539873"/>
                </a:lnTo>
                <a:lnTo>
                  <a:pt x="3484626" y="2539873"/>
                </a:lnTo>
                <a:lnTo>
                  <a:pt x="3484626" y="108470"/>
                </a:lnTo>
                <a:lnTo>
                  <a:pt x="3515741" y="161798"/>
                </a:lnTo>
                <a:lnTo>
                  <a:pt x="3520783" y="167411"/>
                </a:lnTo>
                <a:lnTo>
                  <a:pt x="3527387" y="170561"/>
                </a:lnTo>
                <a:lnTo>
                  <a:pt x="3534702" y="171056"/>
                </a:lnTo>
                <a:lnTo>
                  <a:pt x="3541903" y="168656"/>
                </a:lnTo>
                <a:lnTo>
                  <a:pt x="3547503" y="163614"/>
                </a:lnTo>
                <a:lnTo>
                  <a:pt x="3550666" y="157010"/>
                </a:lnTo>
                <a:lnTo>
                  <a:pt x="3551148" y="149694"/>
                </a:lnTo>
                <a:lnTo>
                  <a:pt x="3548761" y="142494"/>
                </a:lnTo>
                <a:lnTo>
                  <a:pt x="3487661" y="37846"/>
                </a:lnTo>
                <a:lnTo>
                  <a:pt x="3465576" y="0"/>
                </a:lnTo>
                <a:lnTo>
                  <a:pt x="3382391" y="142494"/>
                </a:lnTo>
                <a:lnTo>
                  <a:pt x="3379990" y="149694"/>
                </a:lnTo>
                <a:lnTo>
                  <a:pt x="3380486" y="157010"/>
                </a:lnTo>
                <a:lnTo>
                  <a:pt x="3383635" y="163614"/>
                </a:lnTo>
                <a:lnTo>
                  <a:pt x="3389249" y="168656"/>
                </a:lnTo>
                <a:lnTo>
                  <a:pt x="3396437" y="171056"/>
                </a:lnTo>
                <a:lnTo>
                  <a:pt x="3403752" y="170561"/>
                </a:lnTo>
                <a:lnTo>
                  <a:pt x="3410356" y="167411"/>
                </a:lnTo>
                <a:lnTo>
                  <a:pt x="3415411" y="161798"/>
                </a:lnTo>
                <a:lnTo>
                  <a:pt x="3446526" y="108470"/>
                </a:lnTo>
                <a:lnTo>
                  <a:pt x="3446526" y="2539873"/>
                </a:lnTo>
                <a:lnTo>
                  <a:pt x="0" y="2539873"/>
                </a:lnTo>
                <a:lnTo>
                  <a:pt x="0" y="2577973"/>
                </a:lnTo>
                <a:lnTo>
                  <a:pt x="6389446" y="2577973"/>
                </a:lnTo>
                <a:lnTo>
                  <a:pt x="6336030" y="2609138"/>
                </a:lnTo>
                <a:lnTo>
                  <a:pt x="6330404" y="2614180"/>
                </a:lnTo>
                <a:lnTo>
                  <a:pt x="6327216" y="2620759"/>
                </a:lnTo>
                <a:lnTo>
                  <a:pt x="6326721" y="2628049"/>
                </a:lnTo>
                <a:lnTo>
                  <a:pt x="6329172" y="2635199"/>
                </a:lnTo>
                <a:lnTo>
                  <a:pt x="6334214" y="2640850"/>
                </a:lnTo>
                <a:lnTo>
                  <a:pt x="6340805" y="2644025"/>
                </a:lnTo>
                <a:lnTo>
                  <a:pt x="6348082" y="2644508"/>
                </a:lnTo>
                <a:lnTo>
                  <a:pt x="6355207" y="2642057"/>
                </a:lnTo>
                <a:lnTo>
                  <a:pt x="6465036" y="2577973"/>
                </a:lnTo>
                <a:lnTo>
                  <a:pt x="6497701" y="2558923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426458" y="5922365"/>
            <a:ext cx="29698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5640" algn="l"/>
                <a:tab pos="1327785" algn="l"/>
                <a:tab pos="1967864" algn="l"/>
                <a:tab pos="2614295" algn="l"/>
              </a:tabLst>
            </a:pP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−𝟓</a:t>
            </a:r>
            <a:r>
              <a:rPr sz="2000" dirty="0">
                <a:solidFill>
                  <a:srgbClr val="7E7E7E"/>
                </a:solidFill>
                <a:latin typeface="Cambria Math"/>
                <a:cs typeface="Cambria Math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−𝟒</a:t>
            </a:r>
            <a:r>
              <a:rPr sz="2000" dirty="0">
                <a:solidFill>
                  <a:srgbClr val="7E7E7E"/>
                </a:solidFill>
                <a:latin typeface="Cambria Math"/>
                <a:cs typeface="Cambria Math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−𝟑</a:t>
            </a:r>
            <a:r>
              <a:rPr sz="2000" dirty="0">
                <a:solidFill>
                  <a:srgbClr val="7E7E7E"/>
                </a:solidFill>
                <a:latin typeface="Cambria Math"/>
                <a:cs typeface="Cambria Math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−𝟐</a:t>
            </a:r>
            <a:r>
              <a:rPr sz="2000" dirty="0">
                <a:solidFill>
                  <a:srgbClr val="7E7E7E"/>
                </a:solidFill>
                <a:latin typeface="Cambria Math"/>
                <a:cs typeface="Cambria Math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79620" y="3977640"/>
            <a:ext cx="4274820" cy="1912620"/>
          </a:xfrm>
          <a:custGeom>
            <a:avLst/>
            <a:gdLst/>
            <a:ahLst/>
            <a:cxnLst/>
            <a:rect l="l" t="t" r="r" b="b"/>
            <a:pathLst>
              <a:path w="4274820" h="1912620">
                <a:moveTo>
                  <a:pt x="0" y="1912620"/>
                </a:moveTo>
                <a:lnTo>
                  <a:pt x="655319" y="1897380"/>
                </a:lnTo>
                <a:lnTo>
                  <a:pt x="705413" y="1895659"/>
                </a:lnTo>
                <a:lnTo>
                  <a:pt x="755462" y="1893987"/>
                </a:lnTo>
                <a:lnTo>
                  <a:pt x="805465" y="1892323"/>
                </a:lnTo>
                <a:lnTo>
                  <a:pt x="855423" y="1890623"/>
                </a:lnTo>
                <a:lnTo>
                  <a:pt x="905337" y="1888847"/>
                </a:lnTo>
                <a:lnTo>
                  <a:pt x="955205" y="1886954"/>
                </a:lnTo>
                <a:lnTo>
                  <a:pt x="1005028" y="1884900"/>
                </a:lnTo>
                <a:lnTo>
                  <a:pt x="1054806" y="1882646"/>
                </a:lnTo>
                <a:lnTo>
                  <a:pt x="1104539" y="1880149"/>
                </a:lnTo>
                <a:lnTo>
                  <a:pt x="1154227" y="1877367"/>
                </a:lnTo>
                <a:lnTo>
                  <a:pt x="1203869" y="1874259"/>
                </a:lnTo>
                <a:lnTo>
                  <a:pt x="1253467" y="1870784"/>
                </a:lnTo>
                <a:lnTo>
                  <a:pt x="1303019" y="1866900"/>
                </a:lnTo>
                <a:lnTo>
                  <a:pt x="1352506" y="1862848"/>
                </a:lnTo>
                <a:lnTo>
                  <a:pt x="1401913" y="1858839"/>
                </a:lnTo>
                <a:lnTo>
                  <a:pt x="1451251" y="1854778"/>
                </a:lnTo>
                <a:lnTo>
                  <a:pt x="1500529" y="1850570"/>
                </a:lnTo>
                <a:lnTo>
                  <a:pt x="1549759" y="1846124"/>
                </a:lnTo>
                <a:lnTo>
                  <a:pt x="1598951" y="1841345"/>
                </a:lnTo>
                <a:lnTo>
                  <a:pt x="1648115" y="1836139"/>
                </a:lnTo>
                <a:lnTo>
                  <a:pt x="1697262" y="1830412"/>
                </a:lnTo>
                <a:lnTo>
                  <a:pt x="1746402" y="1824072"/>
                </a:lnTo>
                <a:lnTo>
                  <a:pt x="1795545" y="1817024"/>
                </a:lnTo>
                <a:lnTo>
                  <a:pt x="1844702" y="1809175"/>
                </a:lnTo>
                <a:lnTo>
                  <a:pt x="1893883" y="1800432"/>
                </a:lnTo>
                <a:lnTo>
                  <a:pt x="1943100" y="1790700"/>
                </a:lnTo>
                <a:lnTo>
                  <a:pt x="1992295" y="1780166"/>
                </a:lnTo>
                <a:lnTo>
                  <a:pt x="2041421" y="1769060"/>
                </a:lnTo>
                <a:lnTo>
                  <a:pt x="2090498" y="1757351"/>
                </a:lnTo>
                <a:lnTo>
                  <a:pt x="2139548" y="1745007"/>
                </a:lnTo>
                <a:lnTo>
                  <a:pt x="2188590" y="1731997"/>
                </a:lnTo>
                <a:lnTo>
                  <a:pt x="2237647" y="1718290"/>
                </a:lnTo>
                <a:lnTo>
                  <a:pt x="2286738" y="1703855"/>
                </a:lnTo>
                <a:lnTo>
                  <a:pt x="2335885" y="1688660"/>
                </a:lnTo>
                <a:lnTo>
                  <a:pt x="2385108" y="1672674"/>
                </a:lnTo>
                <a:lnTo>
                  <a:pt x="2434428" y="1655867"/>
                </a:lnTo>
                <a:lnTo>
                  <a:pt x="2483866" y="1638206"/>
                </a:lnTo>
                <a:lnTo>
                  <a:pt x="2533443" y="1619661"/>
                </a:lnTo>
                <a:lnTo>
                  <a:pt x="2583179" y="1600200"/>
                </a:lnTo>
                <a:lnTo>
                  <a:pt x="2630295" y="1580820"/>
                </a:lnTo>
                <a:lnTo>
                  <a:pt x="2678863" y="1559856"/>
                </a:lnTo>
                <a:lnTo>
                  <a:pt x="2728508" y="1537547"/>
                </a:lnTo>
                <a:lnTo>
                  <a:pt x="2778856" y="1514136"/>
                </a:lnTo>
                <a:lnTo>
                  <a:pt x="2829531" y="1489864"/>
                </a:lnTo>
                <a:lnTo>
                  <a:pt x="2880160" y="1464972"/>
                </a:lnTo>
                <a:lnTo>
                  <a:pt x="2930366" y="1439703"/>
                </a:lnTo>
                <a:lnTo>
                  <a:pt x="2979775" y="1414298"/>
                </a:lnTo>
                <a:lnTo>
                  <a:pt x="3028012" y="1388999"/>
                </a:lnTo>
                <a:lnTo>
                  <a:pt x="3074703" y="1364046"/>
                </a:lnTo>
                <a:lnTo>
                  <a:pt x="3119472" y="1339682"/>
                </a:lnTo>
                <a:lnTo>
                  <a:pt x="3161944" y="1316149"/>
                </a:lnTo>
                <a:lnTo>
                  <a:pt x="3201745" y="1293687"/>
                </a:lnTo>
                <a:lnTo>
                  <a:pt x="3238500" y="1272540"/>
                </a:lnTo>
                <a:lnTo>
                  <a:pt x="3295136" y="1239090"/>
                </a:lnTo>
                <a:lnTo>
                  <a:pt x="3343453" y="1209258"/>
                </a:lnTo>
                <a:lnTo>
                  <a:pt x="3385371" y="1181658"/>
                </a:lnTo>
                <a:lnTo>
                  <a:pt x="3422808" y="1154906"/>
                </a:lnTo>
                <a:lnTo>
                  <a:pt x="3457686" y="1127618"/>
                </a:lnTo>
                <a:lnTo>
                  <a:pt x="3491924" y="1098411"/>
                </a:lnTo>
                <a:lnTo>
                  <a:pt x="3527442" y="1065899"/>
                </a:lnTo>
                <a:lnTo>
                  <a:pt x="3566159" y="1028700"/>
                </a:lnTo>
                <a:lnTo>
                  <a:pt x="3598685" y="996311"/>
                </a:lnTo>
                <a:lnTo>
                  <a:pt x="3630838" y="962985"/>
                </a:lnTo>
                <a:lnTo>
                  <a:pt x="3662777" y="928470"/>
                </a:lnTo>
                <a:lnTo>
                  <a:pt x="3694663" y="892515"/>
                </a:lnTo>
                <a:lnTo>
                  <a:pt x="3726656" y="854868"/>
                </a:lnTo>
                <a:lnTo>
                  <a:pt x="3758915" y="815279"/>
                </a:lnTo>
                <a:lnTo>
                  <a:pt x="3791601" y="773494"/>
                </a:lnTo>
                <a:lnTo>
                  <a:pt x="3824874" y="729264"/>
                </a:lnTo>
                <a:lnTo>
                  <a:pt x="3858893" y="682336"/>
                </a:lnTo>
                <a:lnTo>
                  <a:pt x="3893820" y="632460"/>
                </a:lnTo>
                <a:lnTo>
                  <a:pt x="3917615" y="597400"/>
                </a:lnTo>
                <a:lnTo>
                  <a:pt x="3941743" y="560870"/>
                </a:lnTo>
                <a:lnTo>
                  <a:pt x="3966179" y="522975"/>
                </a:lnTo>
                <a:lnTo>
                  <a:pt x="3990899" y="483821"/>
                </a:lnTo>
                <a:lnTo>
                  <a:pt x="4015881" y="443512"/>
                </a:lnTo>
                <a:lnTo>
                  <a:pt x="4041099" y="402153"/>
                </a:lnTo>
                <a:lnTo>
                  <a:pt x="4066530" y="359849"/>
                </a:lnTo>
                <a:lnTo>
                  <a:pt x="4092152" y="316705"/>
                </a:lnTo>
                <a:lnTo>
                  <a:pt x="4117939" y="272826"/>
                </a:lnTo>
                <a:lnTo>
                  <a:pt x="4143868" y="228317"/>
                </a:lnTo>
                <a:lnTo>
                  <a:pt x="4169916" y="183284"/>
                </a:lnTo>
                <a:lnTo>
                  <a:pt x="4196059" y="137830"/>
                </a:lnTo>
                <a:lnTo>
                  <a:pt x="4222273" y="92062"/>
                </a:lnTo>
                <a:lnTo>
                  <a:pt x="4248534" y="46083"/>
                </a:lnTo>
                <a:lnTo>
                  <a:pt x="4274820" y="0"/>
                </a:lnTo>
              </a:path>
            </a:pathLst>
          </a:custGeom>
          <a:ln w="57150">
            <a:solidFill>
              <a:srgbClr val="AC13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441055" y="3983558"/>
            <a:ext cx="21501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C1381"/>
                </a:solidFill>
                <a:latin typeface="Cambria Math"/>
                <a:cs typeface="Cambria Math"/>
              </a:rPr>
              <a:t>𝒚</a:t>
            </a:r>
            <a:r>
              <a:rPr sz="2000" spc="70" dirty="0">
                <a:solidFill>
                  <a:srgbClr val="AC1381"/>
                </a:solidFill>
                <a:latin typeface="Cambria Math"/>
                <a:cs typeface="Cambria Math"/>
              </a:rPr>
              <a:t> = </a:t>
            </a:r>
            <a:r>
              <a:rPr sz="2000" dirty="0">
                <a:solidFill>
                  <a:srgbClr val="AC1381"/>
                </a:solidFill>
                <a:latin typeface="Cambria Math"/>
                <a:cs typeface="Cambria Math"/>
              </a:rPr>
              <a:t>𝟐</a:t>
            </a:r>
            <a:r>
              <a:rPr sz="2175" baseline="28735" dirty="0">
                <a:solidFill>
                  <a:srgbClr val="AC1381"/>
                </a:solidFill>
                <a:latin typeface="Cambria Math"/>
                <a:cs typeface="Cambria Math"/>
              </a:rPr>
              <a:t>𝒙</a:t>
            </a:r>
            <a:r>
              <a:rPr sz="2175" spc="600" baseline="2873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000" b="1" spc="-25" dirty="0">
                <a:solidFill>
                  <a:srgbClr val="AC1381"/>
                </a:solidFill>
                <a:latin typeface="メイリオ"/>
                <a:cs typeface="メイリオ"/>
              </a:rPr>
              <a:t>の場合</a:t>
            </a:r>
            <a:endParaRPr sz="2000">
              <a:latin typeface="メイリオ"/>
              <a:cs typeface="メイリオ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542972" y="4442650"/>
            <a:ext cx="1946910" cy="876300"/>
            <a:chOff x="8542972" y="4442650"/>
            <a:chExt cx="1946910" cy="876300"/>
          </a:xfrm>
        </p:grpSpPr>
        <p:sp>
          <p:nvSpPr>
            <p:cNvPr id="36" name="object 36"/>
            <p:cNvSpPr/>
            <p:nvPr/>
          </p:nvSpPr>
          <p:spPr>
            <a:xfrm>
              <a:off x="8557259" y="4456938"/>
              <a:ext cx="1918335" cy="847725"/>
            </a:xfrm>
            <a:custGeom>
              <a:avLst/>
              <a:gdLst/>
              <a:ahLst/>
              <a:cxnLst/>
              <a:rect l="l" t="t" r="r" b="b"/>
              <a:pathLst>
                <a:path w="1918334" h="847725">
                  <a:moveTo>
                    <a:pt x="1917954" y="0"/>
                  </a:moveTo>
                  <a:lnTo>
                    <a:pt x="206501" y="0"/>
                  </a:lnTo>
                  <a:lnTo>
                    <a:pt x="206501" y="141224"/>
                  </a:lnTo>
                  <a:lnTo>
                    <a:pt x="0" y="201294"/>
                  </a:lnTo>
                  <a:lnTo>
                    <a:pt x="206501" y="353060"/>
                  </a:lnTo>
                  <a:lnTo>
                    <a:pt x="206501" y="847344"/>
                  </a:lnTo>
                  <a:lnTo>
                    <a:pt x="1917954" y="847344"/>
                  </a:lnTo>
                  <a:lnTo>
                    <a:pt x="1917954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57259" y="4456938"/>
              <a:ext cx="1918335" cy="847725"/>
            </a:xfrm>
            <a:custGeom>
              <a:avLst/>
              <a:gdLst/>
              <a:ahLst/>
              <a:cxnLst/>
              <a:rect l="l" t="t" r="r" b="b"/>
              <a:pathLst>
                <a:path w="1918334" h="847725">
                  <a:moveTo>
                    <a:pt x="206501" y="0"/>
                  </a:moveTo>
                  <a:lnTo>
                    <a:pt x="491744" y="0"/>
                  </a:lnTo>
                  <a:lnTo>
                    <a:pt x="919607" y="0"/>
                  </a:lnTo>
                  <a:lnTo>
                    <a:pt x="1917954" y="0"/>
                  </a:lnTo>
                  <a:lnTo>
                    <a:pt x="1917954" y="141224"/>
                  </a:lnTo>
                  <a:lnTo>
                    <a:pt x="1917954" y="353060"/>
                  </a:lnTo>
                  <a:lnTo>
                    <a:pt x="1917954" y="847344"/>
                  </a:lnTo>
                  <a:lnTo>
                    <a:pt x="919607" y="847344"/>
                  </a:lnTo>
                  <a:lnTo>
                    <a:pt x="491744" y="847344"/>
                  </a:lnTo>
                  <a:lnTo>
                    <a:pt x="206501" y="847344"/>
                  </a:lnTo>
                  <a:lnTo>
                    <a:pt x="206501" y="353060"/>
                  </a:lnTo>
                  <a:lnTo>
                    <a:pt x="0" y="201294"/>
                  </a:lnTo>
                  <a:lnTo>
                    <a:pt x="206501" y="141224"/>
                  </a:lnTo>
                  <a:lnTo>
                    <a:pt x="206501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969756" y="4523308"/>
            <a:ext cx="1297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メイリオ"/>
                <a:cs typeface="メイリオ"/>
              </a:rPr>
              <a:t>滑らかだが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04556" y="4828794"/>
            <a:ext cx="2763520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7645">
              <a:lnSpc>
                <a:spcPts val="2070"/>
              </a:lnSpc>
              <a:spcBef>
                <a:spcPts val="100"/>
              </a:spcBef>
            </a:pPr>
            <a:r>
              <a:rPr sz="2000" b="1" spc="-10" dirty="0">
                <a:latin typeface="メイリオ"/>
                <a:cs typeface="メイリオ"/>
              </a:rPr>
              <a:t>増加は速い</a:t>
            </a:r>
            <a:endParaRPr sz="2000">
              <a:latin typeface="メイリオ"/>
              <a:cs typeface="メイリオ"/>
            </a:endParaRPr>
          </a:p>
          <a:p>
            <a:pPr marL="12700">
              <a:lnSpc>
                <a:spcPts val="2070"/>
              </a:lnSpc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429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126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7940" y="3474211"/>
            <a:ext cx="551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メイリオ"/>
                <a:cs typeface="メイリオ"/>
              </a:rPr>
              <a:t>4</a:t>
            </a:r>
            <a:r>
              <a:rPr sz="5400" b="1" spc="-15" dirty="0">
                <a:latin typeface="メイリオ"/>
                <a:cs typeface="メイリオ"/>
              </a:rPr>
              <a:t> 個目：対数関数</a:t>
            </a:r>
            <a:endParaRPr sz="54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(4/4)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127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3755" y="1993392"/>
            <a:ext cx="7103745" cy="4211320"/>
            <a:chOff x="4143755" y="1993392"/>
            <a:chExt cx="7103745" cy="4211320"/>
          </a:xfrm>
        </p:grpSpPr>
        <p:sp>
          <p:nvSpPr>
            <p:cNvPr id="11" name="object 11"/>
            <p:cNvSpPr/>
            <p:nvPr/>
          </p:nvSpPr>
          <p:spPr>
            <a:xfrm>
              <a:off x="4143755" y="1993392"/>
              <a:ext cx="7103745" cy="4211320"/>
            </a:xfrm>
            <a:custGeom>
              <a:avLst/>
              <a:gdLst/>
              <a:ahLst/>
              <a:cxnLst/>
              <a:rect l="l" t="t" r="r" b="b"/>
              <a:pathLst>
                <a:path w="7103745" h="4211320">
                  <a:moveTo>
                    <a:pt x="7103364" y="0"/>
                  </a:moveTo>
                  <a:lnTo>
                    <a:pt x="0" y="0"/>
                  </a:lnTo>
                  <a:lnTo>
                    <a:pt x="0" y="4210812"/>
                  </a:lnTo>
                  <a:lnTo>
                    <a:pt x="7103364" y="4210812"/>
                  </a:lnTo>
                  <a:lnTo>
                    <a:pt x="7103364" y="0"/>
                  </a:lnTo>
                  <a:close/>
                </a:path>
              </a:pathLst>
            </a:custGeom>
            <a:solidFill>
              <a:srgbClr val="CE8608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5" y="2007108"/>
              <a:ext cx="2871470" cy="612775"/>
            </a:xfrm>
            <a:custGeom>
              <a:avLst/>
              <a:gdLst/>
              <a:ahLst/>
              <a:cxnLst/>
              <a:rect l="l" t="t" r="r" b="b"/>
              <a:pathLst>
                <a:path w="2871470" h="612775">
                  <a:moveTo>
                    <a:pt x="2871216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2871216" y="612648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CE86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76647" y="2109038"/>
            <a:ext cx="1807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メイリオ"/>
                <a:cs typeface="メイリオ"/>
              </a:rPr>
              <a:t>対数関数の前に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1708" y="2940812"/>
            <a:ext cx="5284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メイリオ"/>
                <a:cs typeface="メイリオ"/>
              </a:rPr>
              <a:t>対数 </a:t>
            </a:r>
            <a:r>
              <a:rPr sz="2000" dirty="0">
                <a:latin typeface="Cambria Math"/>
                <a:cs typeface="Cambria Math"/>
              </a:rPr>
              <a:t>log</a:t>
            </a:r>
            <a:r>
              <a:rPr sz="2175" baseline="-15325" dirty="0">
                <a:latin typeface="Cambria Math"/>
                <a:cs typeface="Cambria Math"/>
              </a:rPr>
              <a:t>𝒂</a:t>
            </a:r>
            <a:r>
              <a:rPr sz="2175" spc="12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29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は「</a:t>
            </a:r>
            <a:r>
              <a:rPr sz="2000" dirty="0">
                <a:latin typeface="Cambria Math"/>
                <a:cs typeface="Cambria Math"/>
              </a:rPr>
              <a:t>𝒂</a:t>
            </a:r>
            <a:r>
              <a:rPr sz="2000" spc="210" dirty="0">
                <a:latin typeface="Cambria Math"/>
                <a:cs typeface="Cambria Math"/>
              </a:rPr>
              <a:t> </a:t>
            </a:r>
            <a:r>
              <a:rPr sz="2000" b="1" spc="-5" dirty="0">
                <a:latin typeface="メイリオ"/>
                <a:cs typeface="メイリオ"/>
              </a:rPr>
              <a:t>を何乗したら </a:t>
            </a:r>
            <a:r>
              <a:rPr sz="2000" dirty="0">
                <a:latin typeface="Cambria Math"/>
                <a:cs typeface="Cambria Math"/>
              </a:rPr>
              <a:t>𝒃</a:t>
            </a:r>
            <a:r>
              <a:rPr sz="2000" spc="225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になるか」</a:t>
            </a:r>
            <a:endParaRPr sz="2000">
              <a:latin typeface="メイリオ"/>
              <a:cs typeface="メイリオ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976876" y="3646170"/>
          <a:ext cx="5419090" cy="201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1379E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理由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1379E">
                        <a:alpha val="5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175" baseline="-15325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spc="135" baseline="-153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20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latin typeface="Cambria Math"/>
                          <a:cs typeface="Cambria Math"/>
                        </a:rPr>
                        <a:t>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8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baseline="28735" dirty="0"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2175" spc="465" baseline="287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 dirty="0">
                          <a:latin typeface="Cambria Math"/>
                          <a:cs typeface="Cambria Math"/>
                        </a:rPr>
                        <a:t>𝟏𝟔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175" baseline="-15325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spc="135" baseline="-153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𝟑𝟐</a:t>
                      </a:r>
                      <a:r>
                        <a:rPr sz="20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latin typeface="Cambria Math"/>
                          <a:cs typeface="Cambria Math"/>
                        </a:rPr>
                        <a:t>𝟓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88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baseline="28735" dirty="0"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2175" spc="465" baseline="287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 dirty="0">
                          <a:latin typeface="Cambria Math"/>
                          <a:cs typeface="Cambria Math"/>
                        </a:rPr>
                        <a:t>𝟑𝟐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175" baseline="-15325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spc="135" baseline="-153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𝟔𝟒</a:t>
                      </a:r>
                      <a:r>
                        <a:rPr sz="20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latin typeface="Cambria Math"/>
                          <a:cs typeface="Cambria Math"/>
                        </a:rPr>
                        <a:t>𝟔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8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175" baseline="28735" dirty="0"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2175" spc="465" baseline="287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000" spc="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 dirty="0">
                          <a:latin typeface="Cambria Math"/>
                          <a:cs typeface="Cambria Math"/>
                        </a:rPr>
                        <a:t>𝟔𝟒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749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5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(4/4)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128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3755" y="1993392"/>
            <a:ext cx="7103745" cy="1172210"/>
          </a:xfrm>
          <a:prstGeom prst="rect">
            <a:avLst/>
          </a:prstGeom>
          <a:solidFill>
            <a:srgbClr val="21379E">
              <a:alpha val="14901"/>
            </a:srgbClr>
          </a:solidFill>
        </p:spPr>
        <p:txBody>
          <a:bodyPr vert="horz" wrap="square" lIns="0" tIns="39370" rIns="0" bIns="0" rtlCol="0">
            <a:spAutoFit/>
          </a:bodyPr>
          <a:lstStyle/>
          <a:p>
            <a:pPr marL="295275" marR="1510030">
              <a:lnSpc>
                <a:spcPct val="150000"/>
              </a:lnSpc>
              <a:spcBef>
                <a:spcPts val="310"/>
              </a:spcBef>
            </a:pPr>
            <a:r>
              <a:rPr sz="2000" b="1" dirty="0">
                <a:latin typeface="メイリオ"/>
                <a:cs typeface="メイリオ"/>
              </a:rPr>
              <a:t>対数関数とは、</a:t>
            </a:r>
            <a:r>
              <a:rPr sz="2000" dirty="0">
                <a:latin typeface="Cambria Math"/>
                <a:cs typeface="Cambria Math"/>
              </a:rPr>
              <a:t>𝒚 = log</a:t>
            </a:r>
            <a:r>
              <a:rPr sz="2175" baseline="-15325" dirty="0">
                <a:latin typeface="Cambria Math"/>
                <a:cs typeface="Cambria Math"/>
              </a:rPr>
              <a:t>𝒂 </a:t>
            </a:r>
            <a:r>
              <a:rPr sz="2000" dirty="0">
                <a:latin typeface="Cambria Math"/>
                <a:cs typeface="Cambria Math"/>
              </a:rPr>
              <a:t>𝒙 </a:t>
            </a:r>
            <a:r>
              <a:rPr sz="2000" b="1" spc="-10" dirty="0">
                <a:latin typeface="メイリオ"/>
                <a:cs typeface="メイリオ"/>
              </a:rPr>
              <a:t>の形で表される関数</a:t>
            </a:r>
            <a:r>
              <a:rPr sz="2000" b="1" dirty="0">
                <a:latin typeface="メイリオ"/>
                <a:cs typeface="メイリオ"/>
              </a:rPr>
              <a:t>例：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85" dirty="0">
                <a:latin typeface="Cambria Math"/>
                <a:cs typeface="Cambria Math"/>
              </a:rPr>
              <a:t> = </a:t>
            </a:r>
            <a:r>
              <a:rPr sz="2000" dirty="0">
                <a:latin typeface="Cambria Math"/>
                <a:cs typeface="Cambria Math"/>
              </a:rPr>
              <a:t>log</a:t>
            </a:r>
            <a:r>
              <a:rPr sz="2175" baseline="-15325" dirty="0">
                <a:latin typeface="Cambria Math"/>
                <a:cs typeface="Cambria Math"/>
              </a:rPr>
              <a:t>𝟏𝟎</a:t>
            </a:r>
            <a:r>
              <a:rPr sz="2175" spc="14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𝒙</a:t>
            </a:r>
            <a:r>
              <a:rPr sz="2000" spc="220" dirty="0">
                <a:latin typeface="Cambria Math"/>
                <a:cs typeface="Cambria Math"/>
              </a:rPr>
              <a:t> </a:t>
            </a:r>
            <a:r>
              <a:rPr sz="2000" b="1" spc="-25" dirty="0">
                <a:latin typeface="メイリオ"/>
                <a:cs typeface="メイリオ"/>
              </a:rPr>
              <a:t>など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26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 </a:t>
            </a:r>
            <a:r>
              <a:rPr sz="4800" b="1" spc="-25" dirty="0">
                <a:solidFill>
                  <a:srgbClr val="FFFFFF"/>
                </a:solidFill>
                <a:latin typeface="メイリオ"/>
                <a:cs typeface="メイリオ"/>
              </a:rPr>
              <a:t>(4/4)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129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62556" y="2007107"/>
            <a:ext cx="611505" cy="3891279"/>
          </a:xfrm>
          <a:custGeom>
            <a:avLst/>
            <a:gdLst/>
            <a:ahLst/>
            <a:cxnLst/>
            <a:rect l="l" t="t" r="r" b="b"/>
            <a:pathLst>
              <a:path w="611505" h="3891279">
                <a:moveTo>
                  <a:pt x="611124" y="306324"/>
                </a:moveTo>
                <a:lnTo>
                  <a:pt x="607123" y="256641"/>
                </a:lnTo>
                <a:lnTo>
                  <a:pt x="595541" y="209511"/>
                </a:lnTo>
                <a:lnTo>
                  <a:pt x="577011" y="165557"/>
                </a:lnTo>
                <a:lnTo>
                  <a:pt x="552170" y="125425"/>
                </a:lnTo>
                <a:lnTo>
                  <a:pt x="521627" y="89725"/>
                </a:lnTo>
                <a:lnTo>
                  <a:pt x="486029" y="59118"/>
                </a:lnTo>
                <a:lnTo>
                  <a:pt x="445985" y="34201"/>
                </a:lnTo>
                <a:lnTo>
                  <a:pt x="402145" y="15621"/>
                </a:lnTo>
                <a:lnTo>
                  <a:pt x="355130" y="4013"/>
                </a:lnTo>
                <a:lnTo>
                  <a:pt x="305562" y="0"/>
                </a:lnTo>
                <a:lnTo>
                  <a:pt x="255981" y="4013"/>
                </a:lnTo>
                <a:lnTo>
                  <a:pt x="208965" y="15621"/>
                </a:lnTo>
                <a:lnTo>
                  <a:pt x="165125" y="34201"/>
                </a:lnTo>
                <a:lnTo>
                  <a:pt x="125082" y="59118"/>
                </a:lnTo>
                <a:lnTo>
                  <a:pt x="89484" y="89725"/>
                </a:lnTo>
                <a:lnTo>
                  <a:pt x="58940" y="125425"/>
                </a:lnTo>
                <a:lnTo>
                  <a:pt x="34099" y="165557"/>
                </a:lnTo>
                <a:lnTo>
                  <a:pt x="15570" y="209511"/>
                </a:lnTo>
                <a:lnTo>
                  <a:pt x="3987" y="256641"/>
                </a:lnTo>
                <a:lnTo>
                  <a:pt x="0" y="306324"/>
                </a:lnTo>
                <a:lnTo>
                  <a:pt x="3987" y="356019"/>
                </a:lnTo>
                <a:lnTo>
                  <a:pt x="15570" y="403148"/>
                </a:lnTo>
                <a:lnTo>
                  <a:pt x="34099" y="447103"/>
                </a:lnTo>
                <a:lnTo>
                  <a:pt x="58940" y="487235"/>
                </a:lnTo>
                <a:lnTo>
                  <a:pt x="89484" y="522935"/>
                </a:lnTo>
                <a:lnTo>
                  <a:pt x="125082" y="553542"/>
                </a:lnTo>
                <a:lnTo>
                  <a:pt x="165125" y="578459"/>
                </a:lnTo>
                <a:lnTo>
                  <a:pt x="208965" y="597039"/>
                </a:lnTo>
                <a:lnTo>
                  <a:pt x="230124" y="602272"/>
                </a:lnTo>
                <a:lnTo>
                  <a:pt x="230124" y="1205217"/>
                </a:lnTo>
                <a:lnTo>
                  <a:pt x="165125" y="1229017"/>
                </a:lnTo>
                <a:lnTo>
                  <a:pt x="125082" y="1253934"/>
                </a:lnTo>
                <a:lnTo>
                  <a:pt x="89484" y="1284541"/>
                </a:lnTo>
                <a:lnTo>
                  <a:pt x="58940" y="1320241"/>
                </a:lnTo>
                <a:lnTo>
                  <a:pt x="34099" y="1360373"/>
                </a:lnTo>
                <a:lnTo>
                  <a:pt x="15570" y="1404327"/>
                </a:lnTo>
                <a:lnTo>
                  <a:pt x="3987" y="1451457"/>
                </a:lnTo>
                <a:lnTo>
                  <a:pt x="0" y="1501140"/>
                </a:lnTo>
                <a:lnTo>
                  <a:pt x="3987" y="1550835"/>
                </a:lnTo>
                <a:lnTo>
                  <a:pt x="15570" y="1597964"/>
                </a:lnTo>
                <a:lnTo>
                  <a:pt x="34099" y="1641919"/>
                </a:lnTo>
                <a:lnTo>
                  <a:pt x="58940" y="1682051"/>
                </a:lnTo>
                <a:lnTo>
                  <a:pt x="89484" y="1717751"/>
                </a:lnTo>
                <a:lnTo>
                  <a:pt x="125082" y="1748358"/>
                </a:lnTo>
                <a:lnTo>
                  <a:pt x="165125" y="1773275"/>
                </a:lnTo>
                <a:lnTo>
                  <a:pt x="208965" y="1791855"/>
                </a:lnTo>
                <a:lnTo>
                  <a:pt x="230124" y="1797088"/>
                </a:lnTo>
                <a:lnTo>
                  <a:pt x="230124" y="3890772"/>
                </a:lnTo>
                <a:lnTo>
                  <a:pt x="381000" y="3890772"/>
                </a:lnTo>
                <a:lnTo>
                  <a:pt x="381000" y="1797088"/>
                </a:lnTo>
                <a:lnTo>
                  <a:pt x="402145" y="1791855"/>
                </a:lnTo>
                <a:lnTo>
                  <a:pt x="445985" y="1773275"/>
                </a:lnTo>
                <a:lnTo>
                  <a:pt x="486029" y="1748358"/>
                </a:lnTo>
                <a:lnTo>
                  <a:pt x="521627" y="1717738"/>
                </a:lnTo>
                <a:lnTo>
                  <a:pt x="552170" y="1682051"/>
                </a:lnTo>
                <a:lnTo>
                  <a:pt x="577011" y="1641919"/>
                </a:lnTo>
                <a:lnTo>
                  <a:pt x="595541" y="1597964"/>
                </a:lnTo>
                <a:lnTo>
                  <a:pt x="607123" y="1550835"/>
                </a:lnTo>
                <a:lnTo>
                  <a:pt x="611124" y="1501140"/>
                </a:lnTo>
                <a:lnTo>
                  <a:pt x="607123" y="1451457"/>
                </a:lnTo>
                <a:lnTo>
                  <a:pt x="595541" y="1404327"/>
                </a:lnTo>
                <a:lnTo>
                  <a:pt x="577011" y="1360373"/>
                </a:lnTo>
                <a:lnTo>
                  <a:pt x="552170" y="1320241"/>
                </a:lnTo>
                <a:lnTo>
                  <a:pt x="521627" y="1284541"/>
                </a:lnTo>
                <a:lnTo>
                  <a:pt x="486029" y="1253934"/>
                </a:lnTo>
                <a:lnTo>
                  <a:pt x="445985" y="1229017"/>
                </a:lnTo>
                <a:lnTo>
                  <a:pt x="402145" y="1210437"/>
                </a:lnTo>
                <a:lnTo>
                  <a:pt x="381000" y="1205217"/>
                </a:lnTo>
                <a:lnTo>
                  <a:pt x="381000" y="602272"/>
                </a:lnTo>
                <a:lnTo>
                  <a:pt x="445985" y="578459"/>
                </a:lnTo>
                <a:lnTo>
                  <a:pt x="486029" y="553542"/>
                </a:lnTo>
                <a:lnTo>
                  <a:pt x="521627" y="522922"/>
                </a:lnTo>
                <a:lnTo>
                  <a:pt x="552170" y="487235"/>
                </a:lnTo>
                <a:lnTo>
                  <a:pt x="577011" y="447103"/>
                </a:lnTo>
                <a:lnTo>
                  <a:pt x="595541" y="403148"/>
                </a:lnTo>
                <a:lnTo>
                  <a:pt x="607123" y="356019"/>
                </a:lnTo>
                <a:lnTo>
                  <a:pt x="611124" y="30632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52294" y="3267532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2555" y="4396740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7"/>
                </a:lnTo>
                <a:lnTo>
                  <a:pt x="165127" y="34193"/>
                </a:lnTo>
                <a:lnTo>
                  <a:pt x="125089" y="59106"/>
                </a:lnTo>
                <a:lnTo>
                  <a:pt x="89487" y="89725"/>
                </a:lnTo>
                <a:lnTo>
                  <a:pt x="58948" y="125419"/>
                </a:lnTo>
                <a:lnTo>
                  <a:pt x="34101" y="165556"/>
                </a:lnTo>
                <a:lnTo>
                  <a:pt x="15575" y="209507"/>
                </a:lnTo>
                <a:lnTo>
                  <a:pt x="3998" y="256640"/>
                </a:lnTo>
                <a:lnTo>
                  <a:pt x="0" y="306324"/>
                </a:lnTo>
                <a:lnTo>
                  <a:pt x="3998" y="356007"/>
                </a:lnTo>
                <a:lnTo>
                  <a:pt x="15575" y="403140"/>
                </a:lnTo>
                <a:lnTo>
                  <a:pt x="34101" y="447091"/>
                </a:lnTo>
                <a:lnTo>
                  <a:pt x="58948" y="487228"/>
                </a:lnTo>
                <a:lnTo>
                  <a:pt x="89487" y="522922"/>
                </a:lnTo>
                <a:lnTo>
                  <a:pt x="125089" y="553541"/>
                </a:lnTo>
                <a:lnTo>
                  <a:pt x="165127" y="578454"/>
                </a:lnTo>
                <a:lnTo>
                  <a:pt x="208970" y="597030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0"/>
                </a:lnTo>
                <a:lnTo>
                  <a:pt x="445996" y="578454"/>
                </a:lnTo>
                <a:lnTo>
                  <a:pt x="486034" y="553541"/>
                </a:lnTo>
                <a:lnTo>
                  <a:pt x="521636" y="522922"/>
                </a:lnTo>
                <a:lnTo>
                  <a:pt x="552175" y="487228"/>
                </a:lnTo>
                <a:lnTo>
                  <a:pt x="577022" y="447091"/>
                </a:lnTo>
                <a:lnTo>
                  <a:pt x="595548" y="403140"/>
                </a:lnTo>
                <a:lnTo>
                  <a:pt x="607125" y="356007"/>
                </a:lnTo>
                <a:lnTo>
                  <a:pt x="611124" y="306324"/>
                </a:lnTo>
                <a:lnTo>
                  <a:pt x="607125" y="256640"/>
                </a:lnTo>
                <a:lnTo>
                  <a:pt x="595548" y="209507"/>
                </a:lnTo>
                <a:lnTo>
                  <a:pt x="577022" y="165556"/>
                </a:lnTo>
                <a:lnTo>
                  <a:pt x="552175" y="125419"/>
                </a:lnTo>
                <a:lnTo>
                  <a:pt x="521636" y="89725"/>
                </a:lnTo>
                <a:lnTo>
                  <a:pt x="486034" y="59106"/>
                </a:lnTo>
                <a:lnTo>
                  <a:pt x="445996" y="34193"/>
                </a:lnTo>
                <a:lnTo>
                  <a:pt x="402153" y="15617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52294" y="4462729"/>
            <a:ext cx="232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4618" y="207429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0020" algn="l"/>
              </a:tabLst>
            </a:pP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一次関</a:t>
            </a:r>
            <a:r>
              <a:rPr sz="2000" b="1" spc="-50" dirty="0">
                <a:solidFill>
                  <a:srgbClr val="BEBEBE"/>
                </a:solidFill>
                <a:latin typeface="メイリオ"/>
                <a:cs typeface="メイリオ"/>
              </a:rPr>
              <a:t>数</a:t>
            </a:r>
            <a:r>
              <a:rPr sz="2000" b="1" dirty="0">
                <a:solidFill>
                  <a:srgbClr val="BEBEBE"/>
                </a:solidFill>
                <a:latin typeface="メイリオ"/>
                <a:cs typeface="メイリオ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8885" y="3337051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二次関数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4618" y="4528565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BEBEBE"/>
                </a:solidFill>
                <a:latin typeface="メイリオ"/>
                <a:cs typeface="メイリオ"/>
              </a:rPr>
              <a:t>指数関数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62555" y="5591555"/>
            <a:ext cx="611505" cy="612775"/>
          </a:xfrm>
          <a:custGeom>
            <a:avLst/>
            <a:gdLst/>
            <a:ahLst/>
            <a:cxnLst/>
            <a:rect l="l" t="t" r="r" b="b"/>
            <a:pathLst>
              <a:path w="611505" h="612775">
                <a:moveTo>
                  <a:pt x="305562" y="0"/>
                </a:moveTo>
                <a:lnTo>
                  <a:pt x="255991" y="4009"/>
                </a:lnTo>
                <a:lnTo>
                  <a:pt x="208970" y="15616"/>
                </a:lnTo>
                <a:lnTo>
                  <a:pt x="165127" y="34191"/>
                </a:lnTo>
                <a:lnTo>
                  <a:pt x="125089" y="59103"/>
                </a:lnTo>
                <a:lnTo>
                  <a:pt x="89487" y="89720"/>
                </a:lnTo>
                <a:lnTo>
                  <a:pt x="58948" y="125413"/>
                </a:lnTo>
                <a:lnTo>
                  <a:pt x="34101" y="165551"/>
                </a:lnTo>
                <a:lnTo>
                  <a:pt x="15575" y="209502"/>
                </a:lnTo>
                <a:lnTo>
                  <a:pt x="3998" y="256636"/>
                </a:lnTo>
                <a:lnTo>
                  <a:pt x="0" y="306324"/>
                </a:lnTo>
                <a:lnTo>
                  <a:pt x="3998" y="356011"/>
                </a:lnTo>
                <a:lnTo>
                  <a:pt x="15575" y="403145"/>
                </a:lnTo>
                <a:lnTo>
                  <a:pt x="34101" y="447096"/>
                </a:lnTo>
                <a:lnTo>
                  <a:pt x="58948" y="487234"/>
                </a:lnTo>
                <a:lnTo>
                  <a:pt x="89487" y="522927"/>
                </a:lnTo>
                <a:lnTo>
                  <a:pt x="125089" y="553544"/>
                </a:lnTo>
                <a:lnTo>
                  <a:pt x="165127" y="578456"/>
                </a:lnTo>
                <a:lnTo>
                  <a:pt x="208970" y="597031"/>
                </a:lnTo>
                <a:lnTo>
                  <a:pt x="255991" y="608638"/>
                </a:lnTo>
                <a:lnTo>
                  <a:pt x="305562" y="612648"/>
                </a:lnTo>
                <a:lnTo>
                  <a:pt x="355132" y="608638"/>
                </a:lnTo>
                <a:lnTo>
                  <a:pt x="402153" y="597031"/>
                </a:lnTo>
                <a:lnTo>
                  <a:pt x="445996" y="578456"/>
                </a:lnTo>
                <a:lnTo>
                  <a:pt x="486034" y="553544"/>
                </a:lnTo>
                <a:lnTo>
                  <a:pt x="521636" y="522927"/>
                </a:lnTo>
                <a:lnTo>
                  <a:pt x="552175" y="487234"/>
                </a:lnTo>
                <a:lnTo>
                  <a:pt x="577022" y="447096"/>
                </a:lnTo>
                <a:lnTo>
                  <a:pt x="595548" y="403145"/>
                </a:lnTo>
                <a:lnTo>
                  <a:pt x="607125" y="356011"/>
                </a:lnTo>
                <a:lnTo>
                  <a:pt x="611124" y="306324"/>
                </a:lnTo>
                <a:lnTo>
                  <a:pt x="607125" y="256636"/>
                </a:lnTo>
                <a:lnTo>
                  <a:pt x="595548" y="209502"/>
                </a:lnTo>
                <a:lnTo>
                  <a:pt x="577022" y="165551"/>
                </a:lnTo>
                <a:lnTo>
                  <a:pt x="552175" y="125413"/>
                </a:lnTo>
                <a:lnTo>
                  <a:pt x="521636" y="89720"/>
                </a:lnTo>
                <a:lnTo>
                  <a:pt x="486034" y="59103"/>
                </a:lnTo>
                <a:lnTo>
                  <a:pt x="445996" y="34191"/>
                </a:lnTo>
                <a:lnTo>
                  <a:pt x="402153" y="15616"/>
                </a:lnTo>
                <a:lnTo>
                  <a:pt x="355132" y="4009"/>
                </a:lnTo>
                <a:lnTo>
                  <a:pt x="305562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52294" y="5658103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endParaRPr sz="240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4618" y="5725769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43864"/>
                </a:solidFill>
                <a:latin typeface="メイリオ"/>
                <a:cs typeface="メイリオ"/>
              </a:rPr>
              <a:t>対数関数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3755" y="1993392"/>
            <a:ext cx="7103745" cy="1172210"/>
          </a:xfrm>
          <a:prstGeom prst="rect">
            <a:avLst/>
          </a:prstGeom>
          <a:solidFill>
            <a:srgbClr val="21379E">
              <a:alpha val="14901"/>
            </a:srgbClr>
          </a:solidFill>
        </p:spPr>
        <p:txBody>
          <a:bodyPr vert="horz" wrap="square" lIns="0" tIns="39370" rIns="0" bIns="0" rtlCol="0">
            <a:spAutoFit/>
          </a:bodyPr>
          <a:lstStyle/>
          <a:p>
            <a:pPr marL="295275" marR="1510030">
              <a:lnSpc>
                <a:spcPct val="150000"/>
              </a:lnSpc>
              <a:spcBef>
                <a:spcPts val="310"/>
              </a:spcBef>
            </a:pPr>
            <a:r>
              <a:rPr sz="2000" b="1" dirty="0">
                <a:latin typeface="メイリオ"/>
                <a:cs typeface="メイリオ"/>
              </a:rPr>
              <a:t>対数関数とは、</a:t>
            </a:r>
            <a:r>
              <a:rPr sz="2000" dirty="0">
                <a:latin typeface="Cambria Math"/>
                <a:cs typeface="Cambria Math"/>
              </a:rPr>
              <a:t>𝒚 = log</a:t>
            </a:r>
            <a:r>
              <a:rPr sz="2175" baseline="-15325" dirty="0">
                <a:latin typeface="Cambria Math"/>
                <a:cs typeface="Cambria Math"/>
              </a:rPr>
              <a:t>𝒂 </a:t>
            </a:r>
            <a:r>
              <a:rPr sz="2000" dirty="0">
                <a:latin typeface="Cambria Math"/>
                <a:cs typeface="Cambria Math"/>
              </a:rPr>
              <a:t>𝒙 </a:t>
            </a:r>
            <a:r>
              <a:rPr sz="2000" b="1" spc="-10" dirty="0">
                <a:latin typeface="メイリオ"/>
                <a:cs typeface="メイリオ"/>
              </a:rPr>
              <a:t>の形で表される関数</a:t>
            </a:r>
            <a:r>
              <a:rPr sz="2000" b="1" dirty="0">
                <a:latin typeface="メイリオ"/>
                <a:cs typeface="メイリオ"/>
              </a:rPr>
              <a:t>例：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85" dirty="0">
                <a:latin typeface="Cambria Math"/>
                <a:cs typeface="Cambria Math"/>
              </a:rPr>
              <a:t> = </a:t>
            </a:r>
            <a:r>
              <a:rPr sz="2000" dirty="0">
                <a:latin typeface="Cambria Math"/>
                <a:cs typeface="Cambria Math"/>
              </a:rPr>
              <a:t>log</a:t>
            </a:r>
            <a:r>
              <a:rPr sz="2175" baseline="-15325" dirty="0">
                <a:latin typeface="Cambria Math"/>
                <a:cs typeface="Cambria Math"/>
              </a:rPr>
              <a:t>𝟏𝟎</a:t>
            </a:r>
            <a:r>
              <a:rPr sz="2175" spc="14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𝒙</a:t>
            </a:r>
            <a:r>
              <a:rPr sz="2000" spc="220" dirty="0">
                <a:latin typeface="Cambria Math"/>
                <a:cs typeface="Cambria Math"/>
              </a:rPr>
              <a:t> </a:t>
            </a:r>
            <a:r>
              <a:rPr sz="2000" b="1" spc="-25" dirty="0">
                <a:latin typeface="メイリオ"/>
                <a:cs typeface="メイリオ"/>
              </a:rPr>
              <a:t>など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81905" y="3961638"/>
            <a:ext cx="5832475" cy="1945639"/>
          </a:xfrm>
          <a:custGeom>
            <a:avLst/>
            <a:gdLst/>
            <a:ahLst/>
            <a:cxnLst/>
            <a:rect l="l" t="t" r="r" b="b"/>
            <a:pathLst>
              <a:path w="5832475" h="1945639">
                <a:moveTo>
                  <a:pt x="4527804" y="1524"/>
                </a:moveTo>
                <a:lnTo>
                  <a:pt x="4527804" y="1945525"/>
                </a:lnTo>
              </a:path>
              <a:path w="5832475" h="1945639">
                <a:moveTo>
                  <a:pt x="5831967" y="0"/>
                </a:moveTo>
                <a:lnTo>
                  <a:pt x="0" y="0"/>
                </a:lnTo>
              </a:path>
              <a:path w="5832475" h="1945639">
                <a:moveTo>
                  <a:pt x="3887724" y="1524"/>
                </a:moveTo>
                <a:lnTo>
                  <a:pt x="3887724" y="1945525"/>
                </a:lnTo>
              </a:path>
              <a:path w="5832475" h="1945639">
                <a:moveTo>
                  <a:pt x="3240024" y="1524"/>
                </a:moveTo>
                <a:lnTo>
                  <a:pt x="3240024" y="1945525"/>
                </a:lnTo>
              </a:path>
              <a:path w="5832475" h="1945639">
                <a:moveTo>
                  <a:pt x="2592324" y="1524"/>
                </a:moveTo>
                <a:lnTo>
                  <a:pt x="2592324" y="1945525"/>
                </a:lnTo>
              </a:path>
              <a:path w="5832475" h="1945639">
                <a:moveTo>
                  <a:pt x="1941576" y="1524"/>
                </a:moveTo>
                <a:lnTo>
                  <a:pt x="1941576" y="1945525"/>
                </a:lnTo>
              </a:path>
              <a:path w="5832475" h="1945639">
                <a:moveTo>
                  <a:pt x="1295400" y="1524"/>
                </a:moveTo>
                <a:lnTo>
                  <a:pt x="1295400" y="1945525"/>
                </a:lnTo>
              </a:path>
              <a:path w="5832475" h="1945639">
                <a:moveTo>
                  <a:pt x="647700" y="1524"/>
                </a:moveTo>
                <a:lnTo>
                  <a:pt x="647700" y="1945525"/>
                </a:lnTo>
              </a:path>
              <a:path w="5832475" h="1945639">
                <a:moveTo>
                  <a:pt x="0" y="650748"/>
                </a:moveTo>
                <a:lnTo>
                  <a:pt x="5831967" y="650748"/>
                </a:lnTo>
              </a:path>
              <a:path w="5832475" h="1945639">
                <a:moveTo>
                  <a:pt x="0" y="1937003"/>
                </a:moveTo>
                <a:lnTo>
                  <a:pt x="5831967" y="1937003"/>
                </a:lnTo>
              </a:path>
            </a:pathLst>
          </a:custGeom>
          <a:ln w="190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17381" y="4167632"/>
            <a:ext cx="21672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AC1381"/>
                </a:solidFill>
                <a:latin typeface="Cambria Math"/>
                <a:cs typeface="Cambria Math"/>
              </a:rPr>
              <a:t>𝒚</a:t>
            </a:r>
            <a:r>
              <a:rPr sz="2000" spc="85" dirty="0">
                <a:solidFill>
                  <a:srgbClr val="AC1381"/>
                </a:solidFill>
                <a:latin typeface="Cambria Math"/>
                <a:cs typeface="Cambria Math"/>
              </a:rPr>
              <a:t> = </a:t>
            </a:r>
            <a:r>
              <a:rPr sz="2000" dirty="0">
                <a:solidFill>
                  <a:srgbClr val="AC1381"/>
                </a:solidFill>
                <a:latin typeface="Cambria Math"/>
                <a:cs typeface="Cambria Math"/>
              </a:rPr>
              <a:t>log</a:t>
            </a:r>
            <a:r>
              <a:rPr sz="2175" baseline="-15325" dirty="0">
                <a:solidFill>
                  <a:srgbClr val="AC1381"/>
                </a:solidFill>
                <a:latin typeface="Cambria Math"/>
                <a:cs typeface="Cambria Math"/>
              </a:rPr>
              <a:t>𝟏𝟎</a:t>
            </a:r>
            <a:r>
              <a:rPr sz="2175" spc="127" baseline="-1532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AC1381"/>
                </a:solidFill>
                <a:latin typeface="Cambria Math"/>
                <a:cs typeface="Cambria Math"/>
              </a:rPr>
              <a:t>𝒙</a:t>
            </a:r>
            <a:r>
              <a:rPr sz="2000" spc="235" dirty="0">
                <a:solidFill>
                  <a:srgbClr val="AC1381"/>
                </a:solidFill>
                <a:latin typeface="Cambria Math"/>
                <a:cs typeface="Cambria Math"/>
              </a:rPr>
              <a:t> </a:t>
            </a:r>
            <a:r>
              <a:rPr sz="2000" b="1" spc="-20" dirty="0">
                <a:solidFill>
                  <a:srgbClr val="AC1381"/>
                </a:solidFill>
                <a:latin typeface="メイリオ"/>
                <a:cs typeface="メイリオ"/>
              </a:rPr>
              <a:t>の場合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32997" y="5075301"/>
            <a:ext cx="172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𝒙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3422" y="3244951"/>
            <a:ext cx="177800" cy="85915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𝒚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3422" y="4421835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72890" y="5726074"/>
            <a:ext cx="368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7E7E7E"/>
                </a:solidFill>
                <a:latin typeface="Cambria Math"/>
                <a:cs typeface="Cambria Math"/>
              </a:rPr>
              <a:t>−𝟏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39944" y="5275579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1961" y="5277992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32550" y="5274945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78471" y="5274945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34045" y="5270119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𝟓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74506" y="5270119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𝟔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18523" y="5270119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765030" y="3963161"/>
            <a:ext cx="647700" cy="1945639"/>
          </a:xfrm>
          <a:custGeom>
            <a:avLst/>
            <a:gdLst/>
            <a:ahLst/>
            <a:cxnLst/>
            <a:rect l="l" t="t" r="r" b="b"/>
            <a:pathLst>
              <a:path w="647700" h="1945639">
                <a:moveTo>
                  <a:pt x="0" y="1524"/>
                </a:moveTo>
                <a:lnTo>
                  <a:pt x="0" y="1945525"/>
                </a:lnTo>
              </a:path>
              <a:path w="647700" h="1945639">
                <a:moveTo>
                  <a:pt x="647700" y="0"/>
                </a:moveTo>
                <a:lnTo>
                  <a:pt x="647700" y="1944001"/>
                </a:lnTo>
              </a:path>
            </a:pathLst>
          </a:custGeom>
          <a:ln w="190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672573" y="5267071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323703" y="5274945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7E7E7E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496327" y="3345815"/>
            <a:ext cx="6350000" cy="2585720"/>
            <a:chOff x="4496327" y="3345815"/>
            <a:chExt cx="6350000" cy="2585720"/>
          </a:xfrm>
        </p:grpSpPr>
        <p:sp>
          <p:nvSpPr>
            <p:cNvPr id="38" name="object 38"/>
            <p:cNvSpPr/>
            <p:nvPr/>
          </p:nvSpPr>
          <p:spPr>
            <a:xfrm>
              <a:off x="4496320" y="3345814"/>
              <a:ext cx="6350000" cy="2566035"/>
            </a:xfrm>
            <a:custGeom>
              <a:avLst/>
              <a:gdLst/>
              <a:ahLst/>
              <a:cxnLst/>
              <a:rect l="l" t="t" r="r" b="b"/>
              <a:pathLst>
                <a:path w="6350000" h="2566035">
                  <a:moveTo>
                    <a:pt x="6349606" y="1914271"/>
                  </a:moveTo>
                  <a:lnTo>
                    <a:pt x="6316967" y="1895221"/>
                  </a:lnTo>
                  <a:lnTo>
                    <a:pt x="6207112" y="1831086"/>
                  </a:lnTo>
                  <a:lnTo>
                    <a:pt x="6199987" y="1828698"/>
                  </a:lnTo>
                  <a:lnTo>
                    <a:pt x="6192710" y="1829181"/>
                  </a:lnTo>
                  <a:lnTo>
                    <a:pt x="6186119" y="1832343"/>
                  </a:lnTo>
                  <a:lnTo>
                    <a:pt x="6181077" y="1837944"/>
                  </a:lnTo>
                  <a:lnTo>
                    <a:pt x="6178626" y="1845144"/>
                  </a:lnTo>
                  <a:lnTo>
                    <a:pt x="6179121" y="1852460"/>
                  </a:lnTo>
                  <a:lnTo>
                    <a:pt x="6182309" y="1859064"/>
                  </a:lnTo>
                  <a:lnTo>
                    <a:pt x="6187935" y="1864106"/>
                  </a:lnTo>
                  <a:lnTo>
                    <a:pt x="6241262" y="1895221"/>
                  </a:lnTo>
                  <a:lnTo>
                    <a:pt x="104635" y="1895221"/>
                  </a:lnTo>
                  <a:lnTo>
                    <a:pt x="104635" y="108458"/>
                  </a:lnTo>
                  <a:lnTo>
                    <a:pt x="135750" y="161798"/>
                  </a:lnTo>
                  <a:lnTo>
                    <a:pt x="140792" y="167411"/>
                  </a:lnTo>
                  <a:lnTo>
                    <a:pt x="147396" y="170561"/>
                  </a:lnTo>
                  <a:lnTo>
                    <a:pt x="154711" y="171056"/>
                  </a:lnTo>
                  <a:lnTo>
                    <a:pt x="161912" y="168656"/>
                  </a:lnTo>
                  <a:lnTo>
                    <a:pt x="167513" y="163614"/>
                  </a:lnTo>
                  <a:lnTo>
                    <a:pt x="170675" y="157010"/>
                  </a:lnTo>
                  <a:lnTo>
                    <a:pt x="171157" y="149694"/>
                  </a:lnTo>
                  <a:lnTo>
                    <a:pt x="168770" y="142494"/>
                  </a:lnTo>
                  <a:lnTo>
                    <a:pt x="107670" y="37846"/>
                  </a:lnTo>
                  <a:lnTo>
                    <a:pt x="85585" y="0"/>
                  </a:lnTo>
                  <a:lnTo>
                    <a:pt x="2400" y="142494"/>
                  </a:lnTo>
                  <a:lnTo>
                    <a:pt x="0" y="149694"/>
                  </a:lnTo>
                  <a:lnTo>
                    <a:pt x="495" y="157010"/>
                  </a:lnTo>
                  <a:lnTo>
                    <a:pt x="3644" y="163614"/>
                  </a:lnTo>
                  <a:lnTo>
                    <a:pt x="9258" y="168656"/>
                  </a:lnTo>
                  <a:lnTo>
                    <a:pt x="16446" y="171056"/>
                  </a:lnTo>
                  <a:lnTo>
                    <a:pt x="23761" y="170561"/>
                  </a:lnTo>
                  <a:lnTo>
                    <a:pt x="30365" y="167411"/>
                  </a:lnTo>
                  <a:lnTo>
                    <a:pt x="35420" y="161798"/>
                  </a:lnTo>
                  <a:lnTo>
                    <a:pt x="66535" y="108458"/>
                  </a:lnTo>
                  <a:lnTo>
                    <a:pt x="66535" y="2565616"/>
                  </a:lnTo>
                  <a:lnTo>
                    <a:pt x="104635" y="2565603"/>
                  </a:lnTo>
                  <a:lnTo>
                    <a:pt x="104635" y="1933321"/>
                  </a:lnTo>
                  <a:lnTo>
                    <a:pt x="6241262" y="1933321"/>
                  </a:lnTo>
                  <a:lnTo>
                    <a:pt x="6187935" y="1964436"/>
                  </a:lnTo>
                  <a:lnTo>
                    <a:pt x="6182309" y="1969490"/>
                  </a:lnTo>
                  <a:lnTo>
                    <a:pt x="6179121" y="1976094"/>
                  </a:lnTo>
                  <a:lnTo>
                    <a:pt x="6178626" y="1983409"/>
                  </a:lnTo>
                  <a:lnTo>
                    <a:pt x="6181077" y="1990598"/>
                  </a:lnTo>
                  <a:lnTo>
                    <a:pt x="6186119" y="1996211"/>
                  </a:lnTo>
                  <a:lnTo>
                    <a:pt x="6192710" y="1999361"/>
                  </a:lnTo>
                  <a:lnTo>
                    <a:pt x="6199987" y="1999856"/>
                  </a:lnTo>
                  <a:lnTo>
                    <a:pt x="6207112" y="1997456"/>
                  </a:lnTo>
                  <a:lnTo>
                    <a:pt x="6316967" y="1933321"/>
                  </a:lnTo>
                  <a:lnTo>
                    <a:pt x="6349606" y="191427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22292" y="4643628"/>
              <a:ext cx="5791200" cy="1259205"/>
            </a:xfrm>
            <a:custGeom>
              <a:avLst/>
              <a:gdLst/>
              <a:ahLst/>
              <a:cxnLst/>
              <a:rect l="l" t="t" r="r" b="b"/>
              <a:pathLst>
                <a:path w="5791200" h="1259204">
                  <a:moveTo>
                    <a:pt x="0" y="1258824"/>
                  </a:moveTo>
                  <a:lnTo>
                    <a:pt x="11891" y="1215699"/>
                  </a:lnTo>
                  <a:lnTo>
                    <a:pt x="24578" y="1172693"/>
                  </a:lnTo>
                  <a:lnTo>
                    <a:pt x="38866" y="1129923"/>
                  </a:lnTo>
                  <a:lnTo>
                    <a:pt x="55562" y="1087510"/>
                  </a:lnTo>
                  <a:lnTo>
                    <a:pt x="75473" y="1045572"/>
                  </a:lnTo>
                  <a:lnTo>
                    <a:pt x="99405" y="1004227"/>
                  </a:lnTo>
                  <a:lnTo>
                    <a:pt x="128165" y="963596"/>
                  </a:lnTo>
                  <a:lnTo>
                    <a:pt x="162560" y="923798"/>
                  </a:lnTo>
                  <a:lnTo>
                    <a:pt x="194187" y="892529"/>
                  </a:lnTo>
                  <a:lnTo>
                    <a:pt x="228977" y="861665"/>
                  </a:lnTo>
                  <a:lnTo>
                    <a:pt x="266751" y="831206"/>
                  </a:lnTo>
                  <a:lnTo>
                    <a:pt x="307325" y="801154"/>
                  </a:lnTo>
                  <a:lnTo>
                    <a:pt x="350520" y="771509"/>
                  </a:lnTo>
                  <a:lnTo>
                    <a:pt x="396152" y="742271"/>
                  </a:lnTo>
                  <a:lnTo>
                    <a:pt x="444042" y="713441"/>
                  </a:lnTo>
                  <a:lnTo>
                    <a:pt x="494007" y="685021"/>
                  </a:lnTo>
                  <a:lnTo>
                    <a:pt x="545867" y="657011"/>
                  </a:lnTo>
                  <a:lnTo>
                    <a:pt x="599440" y="629412"/>
                  </a:lnTo>
                  <a:lnTo>
                    <a:pt x="639299" y="609682"/>
                  </a:lnTo>
                  <a:lnTo>
                    <a:pt x="681059" y="589710"/>
                  </a:lnTo>
                  <a:lnTo>
                    <a:pt x="724498" y="569617"/>
                  </a:lnTo>
                  <a:lnTo>
                    <a:pt x="769394" y="549526"/>
                  </a:lnTo>
                  <a:lnTo>
                    <a:pt x="815525" y="529559"/>
                  </a:lnTo>
                  <a:lnTo>
                    <a:pt x="862669" y="509840"/>
                  </a:lnTo>
                  <a:lnTo>
                    <a:pt x="910605" y="490489"/>
                  </a:lnTo>
                  <a:lnTo>
                    <a:pt x="959111" y="471631"/>
                  </a:lnTo>
                  <a:lnTo>
                    <a:pt x="1007964" y="453387"/>
                  </a:lnTo>
                  <a:lnTo>
                    <a:pt x="1056943" y="435879"/>
                  </a:lnTo>
                  <a:lnTo>
                    <a:pt x="1105826" y="419231"/>
                  </a:lnTo>
                  <a:lnTo>
                    <a:pt x="1154391" y="403564"/>
                  </a:lnTo>
                  <a:lnTo>
                    <a:pt x="1202416" y="389001"/>
                  </a:lnTo>
                  <a:lnTo>
                    <a:pt x="1249680" y="375666"/>
                  </a:lnTo>
                  <a:lnTo>
                    <a:pt x="1298453" y="362902"/>
                  </a:lnTo>
                  <a:lnTo>
                    <a:pt x="1344511" y="351828"/>
                  </a:lnTo>
                  <a:lnTo>
                    <a:pt x="1388686" y="342208"/>
                  </a:lnTo>
                  <a:lnTo>
                    <a:pt x="1431811" y="333805"/>
                  </a:lnTo>
                  <a:lnTo>
                    <a:pt x="1474719" y="326385"/>
                  </a:lnTo>
                  <a:lnTo>
                    <a:pt x="1518241" y="319710"/>
                  </a:lnTo>
                  <a:lnTo>
                    <a:pt x="1563212" y="313546"/>
                  </a:lnTo>
                  <a:lnTo>
                    <a:pt x="1610464" y="307655"/>
                  </a:lnTo>
                  <a:lnTo>
                    <a:pt x="1660829" y="301804"/>
                  </a:lnTo>
                  <a:lnTo>
                    <a:pt x="1715140" y="295755"/>
                  </a:lnTo>
                  <a:lnTo>
                    <a:pt x="1774230" y="289273"/>
                  </a:lnTo>
                  <a:lnTo>
                    <a:pt x="1838933" y="282122"/>
                  </a:lnTo>
                  <a:lnTo>
                    <a:pt x="1910080" y="274066"/>
                  </a:lnTo>
                  <a:lnTo>
                    <a:pt x="1948853" y="269592"/>
                  </a:lnTo>
                  <a:lnTo>
                    <a:pt x="1987631" y="265100"/>
                  </a:lnTo>
                  <a:lnTo>
                    <a:pt x="2026547" y="260589"/>
                  </a:lnTo>
                  <a:lnTo>
                    <a:pt x="2065737" y="256056"/>
                  </a:lnTo>
                  <a:lnTo>
                    <a:pt x="2105334" y="251499"/>
                  </a:lnTo>
                  <a:lnTo>
                    <a:pt x="2145475" y="246916"/>
                  </a:lnTo>
                  <a:lnTo>
                    <a:pt x="2186292" y="242306"/>
                  </a:lnTo>
                  <a:lnTo>
                    <a:pt x="2227921" y="237665"/>
                  </a:lnTo>
                  <a:lnTo>
                    <a:pt x="2270496" y="232993"/>
                  </a:lnTo>
                  <a:lnTo>
                    <a:pt x="2314153" y="228287"/>
                  </a:lnTo>
                  <a:lnTo>
                    <a:pt x="2359025" y="223545"/>
                  </a:lnTo>
                  <a:lnTo>
                    <a:pt x="2405247" y="218765"/>
                  </a:lnTo>
                  <a:lnTo>
                    <a:pt x="2452954" y="213945"/>
                  </a:lnTo>
                  <a:lnTo>
                    <a:pt x="2502280" y="209083"/>
                  </a:lnTo>
                  <a:lnTo>
                    <a:pt x="2553360" y="204178"/>
                  </a:lnTo>
                  <a:lnTo>
                    <a:pt x="2606329" y="199227"/>
                  </a:lnTo>
                  <a:lnTo>
                    <a:pt x="2661320" y="194228"/>
                  </a:lnTo>
                  <a:lnTo>
                    <a:pt x="2718470" y="189179"/>
                  </a:lnTo>
                  <a:lnTo>
                    <a:pt x="2777912" y="184078"/>
                  </a:lnTo>
                  <a:lnTo>
                    <a:pt x="2839780" y="178923"/>
                  </a:lnTo>
                  <a:lnTo>
                    <a:pt x="2904211" y="173713"/>
                  </a:lnTo>
                  <a:lnTo>
                    <a:pt x="2971337" y="168444"/>
                  </a:lnTo>
                  <a:lnTo>
                    <a:pt x="3041294" y="163116"/>
                  </a:lnTo>
                  <a:lnTo>
                    <a:pt x="3114217" y="157726"/>
                  </a:lnTo>
                  <a:lnTo>
                    <a:pt x="3190240" y="152273"/>
                  </a:lnTo>
                  <a:lnTo>
                    <a:pt x="3228666" y="149575"/>
                  </a:lnTo>
                  <a:lnTo>
                    <a:pt x="3267839" y="146860"/>
                  </a:lnTo>
                  <a:lnTo>
                    <a:pt x="3307744" y="144128"/>
                  </a:lnTo>
                  <a:lnTo>
                    <a:pt x="3348367" y="141380"/>
                  </a:lnTo>
                  <a:lnTo>
                    <a:pt x="3389692" y="138616"/>
                  </a:lnTo>
                  <a:lnTo>
                    <a:pt x="3431704" y="135837"/>
                  </a:lnTo>
                  <a:lnTo>
                    <a:pt x="3474388" y="133042"/>
                  </a:lnTo>
                  <a:lnTo>
                    <a:pt x="3517730" y="130233"/>
                  </a:lnTo>
                  <a:lnTo>
                    <a:pt x="3561714" y="127408"/>
                  </a:lnTo>
                  <a:lnTo>
                    <a:pt x="3606325" y="124570"/>
                  </a:lnTo>
                  <a:lnTo>
                    <a:pt x="3651550" y="121717"/>
                  </a:lnTo>
                  <a:lnTo>
                    <a:pt x="3697371" y="118851"/>
                  </a:lnTo>
                  <a:lnTo>
                    <a:pt x="3743776" y="115972"/>
                  </a:lnTo>
                  <a:lnTo>
                    <a:pt x="3790748" y="113079"/>
                  </a:lnTo>
                  <a:lnTo>
                    <a:pt x="3838272" y="110174"/>
                  </a:lnTo>
                  <a:lnTo>
                    <a:pt x="3886335" y="107257"/>
                  </a:lnTo>
                  <a:lnTo>
                    <a:pt x="3934920" y="104328"/>
                  </a:lnTo>
                  <a:lnTo>
                    <a:pt x="3984014" y="101387"/>
                  </a:lnTo>
                  <a:lnTo>
                    <a:pt x="4033600" y="98435"/>
                  </a:lnTo>
                  <a:lnTo>
                    <a:pt x="4083664" y="95472"/>
                  </a:lnTo>
                  <a:lnTo>
                    <a:pt x="4134192" y="92498"/>
                  </a:lnTo>
                  <a:lnTo>
                    <a:pt x="4185167" y="89514"/>
                  </a:lnTo>
                  <a:lnTo>
                    <a:pt x="4236576" y="86520"/>
                  </a:lnTo>
                  <a:lnTo>
                    <a:pt x="4288403" y="83516"/>
                  </a:lnTo>
                  <a:lnTo>
                    <a:pt x="4340633" y="80503"/>
                  </a:lnTo>
                  <a:lnTo>
                    <a:pt x="4393251" y="77481"/>
                  </a:lnTo>
                  <a:lnTo>
                    <a:pt x="4446243" y="74451"/>
                  </a:lnTo>
                  <a:lnTo>
                    <a:pt x="4499593" y="71412"/>
                  </a:lnTo>
                  <a:lnTo>
                    <a:pt x="4553287" y="68366"/>
                  </a:lnTo>
                  <a:lnTo>
                    <a:pt x="4607310" y="65311"/>
                  </a:lnTo>
                  <a:lnTo>
                    <a:pt x="4661645" y="62250"/>
                  </a:lnTo>
                  <a:lnTo>
                    <a:pt x="4716280" y="59181"/>
                  </a:lnTo>
                  <a:lnTo>
                    <a:pt x="4771198" y="56106"/>
                  </a:lnTo>
                  <a:lnTo>
                    <a:pt x="4826385" y="53024"/>
                  </a:lnTo>
                  <a:lnTo>
                    <a:pt x="4881826" y="49937"/>
                  </a:lnTo>
                  <a:lnTo>
                    <a:pt x="4937506" y="46844"/>
                  </a:lnTo>
                  <a:lnTo>
                    <a:pt x="4993409" y="43745"/>
                  </a:lnTo>
                  <a:lnTo>
                    <a:pt x="5049522" y="40642"/>
                  </a:lnTo>
                  <a:lnTo>
                    <a:pt x="5105828" y="37534"/>
                  </a:lnTo>
                  <a:lnTo>
                    <a:pt x="5162314" y="34422"/>
                  </a:lnTo>
                  <a:lnTo>
                    <a:pt x="5218964" y="31306"/>
                  </a:lnTo>
                  <a:lnTo>
                    <a:pt x="5275763" y="28186"/>
                  </a:lnTo>
                  <a:lnTo>
                    <a:pt x="5332696" y="25063"/>
                  </a:lnTo>
                  <a:lnTo>
                    <a:pt x="5389748" y="21937"/>
                  </a:lnTo>
                  <a:lnTo>
                    <a:pt x="5446905" y="18808"/>
                  </a:lnTo>
                  <a:lnTo>
                    <a:pt x="5504151" y="15677"/>
                  </a:lnTo>
                  <a:lnTo>
                    <a:pt x="5561472" y="12544"/>
                  </a:lnTo>
                  <a:lnTo>
                    <a:pt x="5618852" y="9410"/>
                  </a:lnTo>
                  <a:lnTo>
                    <a:pt x="5676276" y="6274"/>
                  </a:lnTo>
                  <a:lnTo>
                    <a:pt x="5733731" y="3137"/>
                  </a:lnTo>
                  <a:lnTo>
                    <a:pt x="5791200" y="0"/>
                  </a:lnTo>
                </a:path>
              </a:pathLst>
            </a:custGeom>
            <a:ln w="57150">
              <a:solidFill>
                <a:srgbClr val="AC13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50914" y="4024122"/>
              <a:ext cx="1711960" cy="668655"/>
            </a:xfrm>
            <a:custGeom>
              <a:avLst/>
              <a:gdLst/>
              <a:ahLst/>
              <a:cxnLst/>
              <a:rect l="l" t="t" r="r" b="b"/>
              <a:pathLst>
                <a:path w="1711959" h="668654">
                  <a:moveTo>
                    <a:pt x="1711452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998346" y="502919"/>
                  </a:lnTo>
                  <a:lnTo>
                    <a:pt x="1226819" y="668146"/>
                  </a:lnTo>
                  <a:lnTo>
                    <a:pt x="1426209" y="502919"/>
                  </a:lnTo>
                  <a:lnTo>
                    <a:pt x="1711452" y="502919"/>
                  </a:lnTo>
                  <a:lnTo>
                    <a:pt x="1711452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50914" y="4024122"/>
              <a:ext cx="1711960" cy="668655"/>
            </a:xfrm>
            <a:custGeom>
              <a:avLst/>
              <a:gdLst/>
              <a:ahLst/>
              <a:cxnLst/>
              <a:rect l="l" t="t" r="r" b="b"/>
              <a:pathLst>
                <a:path w="1711959" h="668654">
                  <a:moveTo>
                    <a:pt x="0" y="0"/>
                  </a:moveTo>
                  <a:lnTo>
                    <a:pt x="998346" y="0"/>
                  </a:lnTo>
                  <a:lnTo>
                    <a:pt x="1426209" y="0"/>
                  </a:lnTo>
                  <a:lnTo>
                    <a:pt x="1711452" y="0"/>
                  </a:lnTo>
                  <a:lnTo>
                    <a:pt x="1711452" y="293369"/>
                  </a:lnTo>
                  <a:lnTo>
                    <a:pt x="1711452" y="419100"/>
                  </a:lnTo>
                  <a:lnTo>
                    <a:pt x="1711452" y="502919"/>
                  </a:lnTo>
                  <a:lnTo>
                    <a:pt x="1426209" y="502919"/>
                  </a:lnTo>
                  <a:lnTo>
                    <a:pt x="1226819" y="668146"/>
                  </a:lnTo>
                  <a:lnTo>
                    <a:pt x="998346" y="502919"/>
                  </a:lnTo>
                  <a:lnTo>
                    <a:pt x="0" y="502919"/>
                  </a:lnTo>
                  <a:lnTo>
                    <a:pt x="0" y="419100"/>
                  </a:lnTo>
                  <a:lnTo>
                    <a:pt x="0" y="2933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57161" y="4070426"/>
            <a:ext cx="1297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メイリオ"/>
                <a:cs typeface="メイリオ"/>
              </a:rPr>
              <a:t>増加が遅い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429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メイリオ"/>
                <a:cs typeface="メイリオ"/>
              </a:rPr>
              <a:t>いろいろな関数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130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86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5" dirty="0"/>
              <a:t>補足：指数関数／対数関数の公式</a:t>
            </a:r>
            <a:endParaRPr sz="5400"/>
          </a:p>
          <a:p>
            <a:pPr algn="ctr">
              <a:lnSpc>
                <a:spcPct val="100000"/>
              </a:lnSpc>
              <a:spcBef>
                <a:spcPts val="3465"/>
              </a:spcBef>
            </a:pPr>
            <a:r>
              <a:rPr sz="2800" b="0" spc="-35" dirty="0">
                <a:solidFill>
                  <a:srgbClr val="7E7E7E"/>
                </a:solidFill>
                <a:latin typeface="メイリオ"/>
                <a:cs typeface="メイリオ"/>
              </a:rPr>
              <a:t>（難しいので読み飛ばしても構いません</a:t>
            </a:r>
            <a:r>
              <a:rPr sz="2800" b="0" spc="-50" dirty="0">
                <a:solidFill>
                  <a:srgbClr val="7E7E7E"/>
                </a:solidFill>
                <a:latin typeface="メイリオ"/>
                <a:cs typeface="メイリオ"/>
              </a:rPr>
              <a:t>）</a:t>
            </a:r>
            <a:endParaRPr sz="2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補足：指数関数の公式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131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5632" y="3883152"/>
            <a:ext cx="3240405" cy="540385"/>
            <a:chOff x="815632" y="3883152"/>
            <a:chExt cx="3240405" cy="540385"/>
          </a:xfrm>
        </p:grpSpPr>
        <p:sp>
          <p:nvSpPr>
            <p:cNvPr id="11" name="object 11"/>
            <p:cNvSpPr/>
            <p:nvPr/>
          </p:nvSpPr>
          <p:spPr>
            <a:xfrm>
              <a:off x="815632" y="3883152"/>
              <a:ext cx="3240405" cy="540385"/>
            </a:xfrm>
            <a:custGeom>
              <a:avLst/>
              <a:gdLst/>
              <a:ahLst/>
              <a:cxnLst/>
              <a:rect l="l" t="t" r="r" b="b"/>
              <a:pathLst>
                <a:path w="3240404" h="540385">
                  <a:moveTo>
                    <a:pt x="3240024" y="0"/>
                  </a:moveTo>
                  <a:lnTo>
                    <a:pt x="0" y="0"/>
                  </a:lnTo>
                  <a:lnTo>
                    <a:pt x="0" y="540004"/>
                  </a:lnTo>
                  <a:lnTo>
                    <a:pt x="3240024" y="540004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16658" y="4039616"/>
              <a:ext cx="433070" cy="223520"/>
            </a:xfrm>
            <a:custGeom>
              <a:avLst/>
              <a:gdLst/>
              <a:ahLst/>
              <a:cxnLst/>
              <a:rect l="l" t="t" r="r" b="b"/>
              <a:pathLst>
                <a:path w="433069" h="223520">
                  <a:moveTo>
                    <a:pt x="361442" y="0"/>
                  </a:moveTo>
                  <a:lnTo>
                    <a:pt x="358267" y="9143"/>
                  </a:lnTo>
                  <a:lnTo>
                    <a:pt x="371173" y="14714"/>
                  </a:lnTo>
                  <a:lnTo>
                    <a:pt x="382270" y="22463"/>
                  </a:lnTo>
                  <a:lnTo>
                    <a:pt x="404794" y="58429"/>
                  </a:lnTo>
                  <a:lnTo>
                    <a:pt x="411373" y="91176"/>
                  </a:lnTo>
                  <a:lnTo>
                    <a:pt x="411410" y="91438"/>
                  </a:lnTo>
                  <a:lnTo>
                    <a:pt x="412242" y="110489"/>
                  </a:lnTo>
                  <a:lnTo>
                    <a:pt x="411410" y="130159"/>
                  </a:lnTo>
                  <a:lnTo>
                    <a:pt x="408924" y="148018"/>
                  </a:lnTo>
                  <a:lnTo>
                    <a:pt x="391509" y="190545"/>
                  </a:lnTo>
                  <a:lnTo>
                    <a:pt x="358648" y="213994"/>
                  </a:lnTo>
                  <a:lnTo>
                    <a:pt x="361442" y="223138"/>
                  </a:lnTo>
                  <a:lnTo>
                    <a:pt x="404054" y="197796"/>
                  </a:lnTo>
                  <a:lnTo>
                    <a:pt x="427989" y="151034"/>
                  </a:lnTo>
                  <a:lnTo>
                    <a:pt x="432562" y="111632"/>
                  </a:lnTo>
                  <a:lnTo>
                    <a:pt x="431431" y="91438"/>
                  </a:lnTo>
                  <a:lnTo>
                    <a:pt x="414147" y="39115"/>
                  </a:lnTo>
                  <a:lnTo>
                    <a:pt x="377606" y="5879"/>
                  </a:lnTo>
                  <a:lnTo>
                    <a:pt x="361442" y="0"/>
                  </a:lnTo>
                  <a:close/>
                </a:path>
                <a:path w="433069" h="223520">
                  <a:moveTo>
                    <a:pt x="71120" y="0"/>
                  </a:moveTo>
                  <a:lnTo>
                    <a:pt x="28632" y="25449"/>
                  </a:lnTo>
                  <a:lnTo>
                    <a:pt x="4635" y="72278"/>
                  </a:lnTo>
                  <a:lnTo>
                    <a:pt x="64" y="110489"/>
                  </a:lnTo>
                  <a:lnTo>
                    <a:pt x="0" y="111632"/>
                  </a:lnTo>
                  <a:lnTo>
                    <a:pt x="1036" y="130159"/>
                  </a:lnTo>
                  <a:lnTo>
                    <a:pt x="1144" y="132107"/>
                  </a:lnTo>
                  <a:lnTo>
                    <a:pt x="4587" y="151034"/>
                  </a:lnTo>
                  <a:lnTo>
                    <a:pt x="28578" y="197796"/>
                  </a:lnTo>
                  <a:lnTo>
                    <a:pt x="71120" y="223138"/>
                  </a:lnTo>
                  <a:lnTo>
                    <a:pt x="74041" y="213994"/>
                  </a:lnTo>
                  <a:lnTo>
                    <a:pt x="61301" y="208401"/>
                  </a:lnTo>
                  <a:lnTo>
                    <a:pt x="50323" y="200580"/>
                  </a:lnTo>
                  <a:lnTo>
                    <a:pt x="27840" y="164068"/>
                  </a:lnTo>
                  <a:lnTo>
                    <a:pt x="20494" y="111632"/>
                  </a:lnTo>
                  <a:lnTo>
                    <a:pt x="20447" y="110489"/>
                  </a:lnTo>
                  <a:lnTo>
                    <a:pt x="21260" y="91438"/>
                  </a:lnTo>
                  <a:lnTo>
                    <a:pt x="33655" y="44449"/>
                  </a:lnTo>
                  <a:lnTo>
                    <a:pt x="61462" y="14714"/>
                  </a:lnTo>
                  <a:lnTo>
                    <a:pt x="74295" y="9143"/>
                  </a:lnTo>
                  <a:lnTo>
                    <a:pt x="7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074030" y="4052570"/>
            <a:ext cx="434975" cy="291465"/>
          </a:xfrm>
          <a:custGeom>
            <a:avLst/>
            <a:gdLst/>
            <a:ahLst/>
            <a:cxnLst/>
            <a:rect l="l" t="t" r="r" b="b"/>
            <a:pathLst>
              <a:path w="434975" h="291464">
                <a:moveTo>
                  <a:pt x="358267" y="0"/>
                </a:moveTo>
                <a:lnTo>
                  <a:pt x="355346" y="9651"/>
                </a:lnTo>
                <a:lnTo>
                  <a:pt x="368681" y="16579"/>
                </a:lnTo>
                <a:lnTo>
                  <a:pt x="380301" y="26685"/>
                </a:lnTo>
                <a:lnTo>
                  <a:pt x="404806" y="75461"/>
                </a:lnTo>
                <a:lnTo>
                  <a:pt x="412097" y="120038"/>
                </a:lnTo>
                <a:lnTo>
                  <a:pt x="413004" y="145541"/>
                </a:lnTo>
                <a:lnTo>
                  <a:pt x="412097" y="171045"/>
                </a:lnTo>
                <a:lnTo>
                  <a:pt x="404806" y="215622"/>
                </a:lnTo>
                <a:lnTo>
                  <a:pt x="390207" y="251051"/>
                </a:lnTo>
                <a:lnTo>
                  <a:pt x="355346" y="281304"/>
                </a:lnTo>
                <a:lnTo>
                  <a:pt x="358267" y="290956"/>
                </a:lnTo>
                <a:lnTo>
                  <a:pt x="403808" y="259185"/>
                </a:lnTo>
                <a:lnTo>
                  <a:pt x="423469" y="219872"/>
                </a:lnTo>
                <a:lnTo>
                  <a:pt x="433462" y="172160"/>
                </a:lnTo>
                <a:lnTo>
                  <a:pt x="434721" y="145541"/>
                </a:lnTo>
                <a:lnTo>
                  <a:pt x="433518" y="120038"/>
                </a:lnTo>
                <a:lnTo>
                  <a:pt x="423469" y="71139"/>
                </a:lnTo>
                <a:lnTo>
                  <a:pt x="403808" y="31771"/>
                </a:lnTo>
                <a:lnTo>
                  <a:pt x="375527" y="6764"/>
                </a:lnTo>
                <a:lnTo>
                  <a:pt x="358267" y="0"/>
                </a:lnTo>
                <a:close/>
              </a:path>
              <a:path w="434975" h="291464">
                <a:moveTo>
                  <a:pt x="76454" y="0"/>
                </a:moveTo>
                <a:lnTo>
                  <a:pt x="30894" y="31771"/>
                </a:lnTo>
                <a:lnTo>
                  <a:pt x="11197" y="71139"/>
                </a:lnTo>
                <a:lnTo>
                  <a:pt x="1240" y="118868"/>
                </a:lnTo>
                <a:lnTo>
                  <a:pt x="0" y="145541"/>
                </a:lnTo>
                <a:lnTo>
                  <a:pt x="1188" y="171045"/>
                </a:lnTo>
                <a:lnTo>
                  <a:pt x="11197" y="219872"/>
                </a:lnTo>
                <a:lnTo>
                  <a:pt x="30894" y="259185"/>
                </a:lnTo>
                <a:lnTo>
                  <a:pt x="76454" y="290956"/>
                </a:lnTo>
                <a:lnTo>
                  <a:pt x="79375" y="281304"/>
                </a:lnTo>
                <a:lnTo>
                  <a:pt x="66040" y="274379"/>
                </a:lnTo>
                <a:lnTo>
                  <a:pt x="54419" y="264286"/>
                </a:lnTo>
                <a:lnTo>
                  <a:pt x="29894" y="215622"/>
                </a:lnTo>
                <a:lnTo>
                  <a:pt x="22516" y="171045"/>
                </a:lnTo>
                <a:lnTo>
                  <a:pt x="21590" y="145541"/>
                </a:lnTo>
                <a:lnTo>
                  <a:pt x="22516" y="120038"/>
                </a:lnTo>
                <a:lnTo>
                  <a:pt x="29894" y="75461"/>
                </a:lnTo>
                <a:lnTo>
                  <a:pt x="44513" y="39959"/>
                </a:lnTo>
                <a:lnTo>
                  <a:pt x="79375" y="9651"/>
                </a:lnTo>
                <a:lnTo>
                  <a:pt x="764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06107" y="2253614"/>
          <a:ext cx="6479540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公式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3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21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× 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79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𝒏+𝒎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marL="8940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9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2025" spc="284" baseline="2880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9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0" baseline="28806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latin typeface="Cambria Math"/>
                          <a:cs typeface="Cambria Math"/>
                        </a:rPr>
                        <a:t>𝟕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6965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21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÷</a:t>
                      </a:r>
                      <a:r>
                        <a:rPr sz="2850" spc="22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79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𝒏−𝒎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marL="890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2025" spc="284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÷</a:t>
                      </a:r>
                      <a:r>
                        <a:rPr sz="1900" spc="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0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14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003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80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87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7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254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2025" baseline="514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7" baseline="514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2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416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815339" y="5268467"/>
            <a:ext cx="9679940" cy="539750"/>
            <a:chOff x="815339" y="5268467"/>
            <a:chExt cx="9679940" cy="539750"/>
          </a:xfrm>
        </p:grpSpPr>
        <p:sp>
          <p:nvSpPr>
            <p:cNvPr id="16" name="object 16"/>
            <p:cNvSpPr/>
            <p:nvPr/>
          </p:nvSpPr>
          <p:spPr>
            <a:xfrm>
              <a:off x="1536953" y="5538977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339" y="5268467"/>
              <a:ext cx="721360" cy="539750"/>
            </a:xfrm>
            <a:custGeom>
              <a:avLst/>
              <a:gdLst/>
              <a:ahLst/>
              <a:cxnLst/>
              <a:rect l="l" t="t" r="r" b="b"/>
              <a:pathLst>
                <a:path w="721360" h="539750">
                  <a:moveTo>
                    <a:pt x="559943" y="0"/>
                  </a:moveTo>
                  <a:lnTo>
                    <a:pt x="160972" y="0"/>
                  </a:lnTo>
                  <a:lnTo>
                    <a:pt x="118180" y="5745"/>
                  </a:lnTo>
                  <a:lnTo>
                    <a:pt x="79727" y="21961"/>
                  </a:lnTo>
                  <a:lnTo>
                    <a:pt x="47148" y="47116"/>
                  </a:lnTo>
                  <a:lnTo>
                    <a:pt x="21978" y="79680"/>
                  </a:lnTo>
                  <a:lnTo>
                    <a:pt x="5750" y="118121"/>
                  </a:lnTo>
                  <a:lnTo>
                    <a:pt x="0" y="160908"/>
                  </a:lnTo>
                  <a:lnTo>
                    <a:pt x="0" y="378523"/>
                  </a:lnTo>
                  <a:lnTo>
                    <a:pt x="5750" y="421315"/>
                  </a:lnTo>
                  <a:lnTo>
                    <a:pt x="21978" y="459768"/>
                  </a:lnTo>
                  <a:lnTo>
                    <a:pt x="47148" y="492347"/>
                  </a:lnTo>
                  <a:lnTo>
                    <a:pt x="79727" y="517517"/>
                  </a:lnTo>
                  <a:lnTo>
                    <a:pt x="118180" y="533745"/>
                  </a:lnTo>
                  <a:lnTo>
                    <a:pt x="160972" y="539495"/>
                  </a:lnTo>
                  <a:lnTo>
                    <a:pt x="559943" y="539495"/>
                  </a:lnTo>
                  <a:lnTo>
                    <a:pt x="602730" y="533745"/>
                  </a:lnTo>
                  <a:lnTo>
                    <a:pt x="641171" y="517517"/>
                  </a:lnTo>
                  <a:lnTo>
                    <a:pt x="673735" y="492347"/>
                  </a:lnTo>
                  <a:lnTo>
                    <a:pt x="698890" y="459768"/>
                  </a:lnTo>
                  <a:lnTo>
                    <a:pt x="715106" y="421315"/>
                  </a:lnTo>
                  <a:lnTo>
                    <a:pt x="720851" y="378523"/>
                  </a:lnTo>
                  <a:lnTo>
                    <a:pt x="720851" y="160908"/>
                  </a:lnTo>
                  <a:lnTo>
                    <a:pt x="715106" y="118121"/>
                  </a:lnTo>
                  <a:lnTo>
                    <a:pt x="698890" y="79680"/>
                  </a:lnTo>
                  <a:lnTo>
                    <a:pt x="673735" y="47116"/>
                  </a:lnTo>
                  <a:lnTo>
                    <a:pt x="641171" y="21961"/>
                  </a:lnTo>
                  <a:lnTo>
                    <a:pt x="602730" y="5745"/>
                  </a:lnTo>
                  <a:lnTo>
                    <a:pt x="55994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10269473" y="4205478"/>
            <a:ext cx="1546860" cy="937260"/>
          </a:xfrm>
          <a:custGeom>
            <a:avLst/>
            <a:gdLst/>
            <a:ahLst/>
            <a:cxnLst/>
            <a:rect l="l" t="t" r="r" b="b"/>
            <a:pathLst>
              <a:path w="1546859" h="937260">
                <a:moveTo>
                  <a:pt x="0" y="0"/>
                </a:moveTo>
                <a:lnTo>
                  <a:pt x="257809" y="0"/>
                </a:lnTo>
                <a:lnTo>
                  <a:pt x="644525" y="0"/>
                </a:lnTo>
                <a:lnTo>
                  <a:pt x="1546859" y="0"/>
                </a:lnTo>
                <a:lnTo>
                  <a:pt x="1546859" y="464947"/>
                </a:lnTo>
                <a:lnTo>
                  <a:pt x="1546859" y="664210"/>
                </a:lnTo>
                <a:lnTo>
                  <a:pt x="1546859" y="797052"/>
                </a:lnTo>
                <a:lnTo>
                  <a:pt x="644525" y="797052"/>
                </a:lnTo>
                <a:lnTo>
                  <a:pt x="482473" y="937133"/>
                </a:lnTo>
                <a:lnTo>
                  <a:pt x="257809" y="797052"/>
                </a:lnTo>
                <a:lnTo>
                  <a:pt x="0" y="797052"/>
                </a:lnTo>
                <a:lnTo>
                  <a:pt x="0" y="664210"/>
                </a:lnTo>
                <a:lnTo>
                  <a:pt x="0" y="46494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00538" y="4247134"/>
            <a:ext cx="1287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メイリオ"/>
                <a:cs typeface="メイリオ"/>
              </a:rPr>
              <a:t>4</a:t>
            </a:r>
            <a:r>
              <a:rPr sz="2000" spc="-20" dirty="0">
                <a:latin typeface="メイリオ"/>
                <a:cs typeface="メイリオ"/>
              </a:rPr>
              <a:t> 歩進んで</a:t>
            </a:r>
            <a:endParaRPr sz="2000">
              <a:latin typeface="メイリオ"/>
              <a:cs typeface="メイリオ"/>
            </a:endParaRPr>
          </a:p>
          <a:p>
            <a:pPr marL="139065">
              <a:lnSpc>
                <a:spcPct val="100000"/>
              </a:lnSpc>
            </a:pPr>
            <a:r>
              <a:rPr sz="2000" dirty="0">
                <a:latin typeface="メイリオ"/>
                <a:cs typeface="メイリオ"/>
              </a:rPr>
              <a:t>3</a:t>
            </a:r>
            <a:r>
              <a:rPr sz="2000" spc="-20" dirty="0">
                <a:latin typeface="メイリオ"/>
                <a:cs typeface="メイリオ"/>
              </a:rPr>
              <a:t> 歩進む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3460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96083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5" h="539750">
                <a:moveTo>
                  <a:pt x="558419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7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9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1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8" y="378523"/>
                </a:lnTo>
                <a:lnTo>
                  <a:pt x="719328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97251" y="5290184"/>
            <a:ext cx="29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76828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9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9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1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7" y="378523"/>
                </a:lnTo>
                <a:lnTo>
                  <a:pt x="719327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74694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57571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7" y="378523"/>
                </a:lnTo>
                <a:lnTo>
                  <a:pt x="719327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55438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38315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8" y="378523"/>
                </a:lnTo>
                <a:lnTo>
                  <a:pt x="719328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6181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17535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4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2" y="378523"/>
                </a:lnTo>
                <a:lnTo>
                  <a:pt x="720852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5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916926" y="5291708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098280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297289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79023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7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678032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587246" y="5308091"/>
            <a:ext cx="8851265" cy="132715"/>
            <a:chOff x="1587246" y="5308091"/>
            <a:chExt cx="8851265" cy="132715"/>
          </a:xfrm>
        </p:grpSpPr>
        <p:sp>
          <p:nvSpPr>
            <p:cNvPr id="36" name="object 36"/>
            <p:cNvSpPr/>
            <p:nvPr/>
          </p:nvSpPr>
          <p:spPr>
            <a:xfrm>
              <a:off x="1587246" y="5308091"/>
              <a:ext cx="4716780" cy="132715"/>
            </a:xfrm>
            <a:custGeom>
              <a:avLst/>
              <a:gdLst/>
              <a:ahLst/>
              <a:cxnLst/>
              <a:rect l="l" t="t" r="r" b="b"/>
              <a:pathLst>
                <a:path w="471678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4716780" h="132714">
                  <a:moveTo>
                    <a:pt x="1959356" y="66294"/>
                  </a:moveTo>
                  <a:lnTo>
                    <a:pt x="1934743" y="51943"/>
                  </a:lnTo>
                  <a:lnTo>
                    <a:pt x="1845691" y="0"/>
                  </a:lnTo>
                  <a:lnTo>
                    <a:pt x="1836928" y="2286"/>
                  </a:lnTo>
                  <a:lnTo>
                    <a:pt x="1832864" y="9144"/>
                  </a:lnTo>
                  <a:lnTo>
                    <a:pt x="1828927" y="15875"/>
                  </a:lnTo>
                  <a:lnTo>
                    <a:pt x="1831213" y="24638"/>
                  </a:lnTo>
                  <a:lnTo>
                    <a:pt x="1878063" y="51943"/>
                  </a:lnTo>
                  <a:lnTo>
                    <a:pt x="1405128" y="51943"/>
                  </a:lnTo>
                  <a:lnTo>
                    <a:pt x="1405128" y="80518"/>
                  </a:lnTo>
                  <a:lnTo>
                    <a:pt x="1878279" y="80518"/>
                  </a:lnTo>
                  <a:lnTo>
                    <a:pt x="1831213" y="107950"/>
                  </a:lnTo>
                  <a:lnTo>
                    <a:pt x="1828927" y="116713"/>
                  </a:lnTo>
                  <a:lnTo>
                    <a:pt x="1832864" y="123444"/>
                  </a:lnTo>
                  <a:lnTo>
                    <a:pt x="1836928" y="130302"/>
                  </a:lnTo>
                  <a:lnTo>
                    <a:pt x="1845691" y="132588"/>
                  </a:lnTo>
                  <a:lnTo>
                    <a:pt x="1934959" y="80518"/>
                  </a:lnTo>
                  <a:lnTo>
                    <a:pt x="1959356" y="66294"/>
                  </a:lnTo>
                  <a:close/>
                </a:path>
                <a:path w="4716780" h="132714">
                  <a:moveTo>
                    <a:pt x="3329432" y="66294"/>
                  </a:moveTo>
                  <a:lnTo>
                    <a:pt x="3304819" y="51943"/>
                  </a:lnTo>
                  <a:lnTo>
                    <a:pt x="3215767" y="0"/>
                  </a:lnTo>
                  <a:lnTo>
                    <a:pt x="3207004" y="2286"/>
                  </a:lnTo>
                  <a:lnTo>
                    <a:pt x="3202940" y="9144"/>
                  </a:lnTo>
                  <a:lnTo>
                    <a:pt x="3199003" y="15875"/>
                  </a:lnTo>
                  <a:lnTo>
                    <a:pt x="3201289" y="24638"/>
                  </a:lnTo>
                  <a:lnTo>
                    <a:pt x="3248139" y="51943"/>
                  </a:lnTo>
                  <a:lnTo>
                    <a:pt x="2775204" y="51943"/>
                  </a:lnTo>
                  <a:lnTo>
                    <a:pt x="2775204" y="80518"/>
                  </a:lnTo>
                  <a:lnTo>
                    <a:pt x="3248355" y="80518"/>
                  </a:lnTo>
                  <a:lnTo>
                    <a:pt x="3201289" y="107950"/>
                  </a:lnTo>
                  <a:lnTo>
                    <a:pt x="3199003" y="116713"/>
                  </a:lnTo>
                  <a:lnTo>
                    <a:pt x="3202940" y="123444"/>
                  </a:lnTo>
                  <a:lnTo>
                    <a:pt x="3207004" y="130302"/>
                  </a:lnTo>
                  <a:lnTo>
                    <a:pt x="3215767" y="132588"/>
                  </a:lnTo>
                  <a:lnTo>
                    <a:pt x="3305035" y="80518"/>
                  </a:lnTo>
                  <a:lnTo>
                    <a:pt x="3329432" y="66294"/>
                  </a:lnTo>
                  <a:close/>
                </a:path>
                <a:path w="4716780" h="132714">
                  <a:moveTo>
                    <a:pt x="4716272" y="66294"/>
                  </a:moveTo>
                  <a:lnTo>
                    <a:pt x="4691659" y="51943"/>
                  </a:lnTo>
                  <a:lnTo>
                    <a:pt x="4602607" y="0"/>
                  </a:lnTo>
                  <a:lnTo>
                    <a:pt x="4593844" y="2286"/>
                  </a:lnTo>
                  <a:lnTo>
                    <a:pt x="4589780" y="9144"/>
                  </a:lnTo>
                  <a:lnTo>
                    <a:pt x="4585843" y="15875"/>
                  </a:lnTo>
                  <a:lnTo>
                    <a:pt x="4588129" y="24638"/>
                  </a:lnTo>
                  <a:lnTo>
                    <a:pt x="4634979" y="51943"/>
                  </a:lnTo>
                  <a:lnTo>
                    <a:pt x="4162044" y="51943"/>
                  </a:lnTo>
                  <a:lnTo>
                    <a:pt x="4162044" y="80518"/>
                  </a:lnTo>
                  <a:lnTo>
                    <a:pt x="4635195" y="80518"/>
                  </a:lnTo>
                  <a:lnTo>
                    <a:pt x="4588129" y="107950"/>
                  </a:lnTo>
                  <a:lnTo>
                    <a:pt x="4585843" y="116713"/>
                  </a:lnTo>
                  <a:lnTo>
                    <a:pt x="4589780" y="123444"/>
                  </a:lnTo>
                  <a:lnTo>
                    <a:pt x="4593844" y="130302"/>
                  </a:lnTo>
                  <a:lnTo>
                    <a:pt x="4602607" y="132588"/>
                  </a:lnTo>
                  <a:lnTo>
                    <a:pt x="4691875" y="80518"/>
                  </a:lnTo>
                  <a:lnTo>
                    <a:pt x="4716272" y="66294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16318" y="5308091"/>
              <a:ext cx="3322320" cy="132715"/>
            </a:xfrm>
            <a:custGeom>
              <a:avLst/>
              <a:gdLst/>
              <a:ahLst/>
              <a:cxnLst/>
              <a:rect l="l" t="t" r="r" b="b"/>
              <a:pathLst>
                <a:path w="332232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3322320" h="132714">
                  <a:moveTo>
                    <a:pt x="1938020" y="66294"/>
                  </a:moveTo>
                  <a:lnTo>
                    <a:pt x="1913407" y="51943"/>
                  </a:lnTo>
                  <a:lnTo>
                    <a:pt x="1824355" y="0"/>
                  </a:lnTo>
                  <a:lnTo>
                    <a:pt x="1815592" y="2286"/>
                  </a:lnTo>
                  <a:lnTo>
                    <a:pt x="1811528" y="9144"/>
                  </a:lnTo>
                  <a:lnTo>
                    <a:pt x="1807591" y="15875"/>
                  </a:lnTo>
                  <a:lnTo>
                    <a:pt x="1809877" y="24638"/>
                  </a:lnTo>
                  <a:lnTo>
                    <a:pt x="1856727" y="51943"/>
                  </a:lnTo>
                  <a:lnTo>
                    <a:pt x="1383792" y="51943"/>
                  </a:lnTo>
                  <a:lnTo>
                    <a:pt x="1383792" y="80518"/>
                  </a:lnTo>
                  <a:lnTo>
                    <a:pt x="1856943" y="80518"/>
                  </a:lnTo>
                  <a:lnTo>
                    <a:pt x="1809877" y="107950"/>
                  </a:lnTo>
                  <a:lnTo>
                    <a:pt x="1807591" y="116713"/>
                  </a:lnTo>
                  <a:lnTo>
                    <a:pt x="1811528" y="123444"/>
                  </a:lnTo>
                  <a:lnTo>
                    <a:pt x="1815592" y="130302"/>
                  </a:lnTo>
                  <a:lnTo>
                    <a:pt x="1824355" y="132588"/>
                  </a:lnTo>
                  <a:lnTo>
                    <a:pt x="1913623" y="80518"/>
                  </a:lnTo>
                  <a:lnTo>
                    <a:pt x="1938020" y="66294"/>
                  </a:lnTo>
                  <a:close/>
                </a:path>
                <a:path w="3322320" h="132714">
                  <a:moveTo>
                    <a:pt x="3321812" y="66294"/>
                  </a:moveTo>
                  <a:lnTo>
                    <a:pt x="3297199" y="51943"/>
                  </a:lnTo>
                  <a:lnTo>
                    <a:pt x="3208147" y="0"/>
                  </a:lnTo>
                  <a:lnTo>
                    <a:pt x="3199384" y="2286"/>
                  </a:lnTo>
                  <a:lnTo>
                    <a:pt x="3195320" y="9144"/>
                  </a:lnTo>
                  <a:lnTo>
                    <a:pt x="3191383" y="15875"/>
                  </a:lnTo>
                  <a:lnTo>
                    <a:pt x="3193669" y="24638"/>
                  </a:lnTo>
                  <a:lnTo>
                    <a:pt x="3240519" y="51943"/>
                  </a:lnTo>
                  <a:lnTo>
                    <a:pt x="2767584" y="51943"/>
                  </a:lnTo>
                  <a:lnTo>
                    <a:pt x="2767584" y="80518"/>
                  </a:lnTo>
                  <a:lnTo>
                    <a:pt x="3240735" y="80518"/>
                  </a:lnTo>
                  <a:lnTo>
                    <a:pt x="3193669" y="107950"/>
                  </a:lnTo>
                  <a:lnTo>
                    <a:pt x="3191383" y="116713"/>
                  </a:lnTo>
                  <a:lnTo>
                    <a:pt x="3195320" y="123444"/>
                  </a:lnTo>
                  <a:lnTo>
                    <a:pt x="3199384" y="130302"/>
                  </a:lnTo>
                  <a:lnTo>
                    <a:pt x="3208147" y="132588"/>
                  </a:lnTo>
                  <a:lnTo>
                    <a:pt x="3297415" y="80518"/>
                  </a:lnTo>
                  <a:lnTo>
                    <a:pt x="3321812" y="66294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61461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0496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8291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960991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補足：指数関数の公式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132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6582" y="2244089"/>
            <a:ext cx="6518275" cy="2198370"/>
            <a:chOff x="796582" y="2244089"/>
            <a:chExt cx="6518275" cy="2198370"/>
          </a:xfrm>
        </p:grpSpPr>
        <p:sp>
          <p:nvSpPr>
            <p:cNvPr id="11" name="object 11"/>
            <p:cNvSpPr/>
            <p:nvPr/>
          </p:nvSpPr>
          <p:spPr>
            <a:xfrm>
              <a:off x="815632" y="2263152"/>
              <a:ext cx="6480175" cy="1620520"/>
            </a:xfrm>
            <a:custGeom>
              <a:avLst/>
              <a:gdLst/>
              <a:ahLst/>
              <a:cxnLst/>
              <a:rect l="l" t="t" r="r" b="b"/>
              <a:pathLst>
                <a:path w="6480175" h="1620520">
                  <a:moveTo>
                    <a:pt x="6480010" y="0"/>
                  </a:moveTo>
                  <a:lnTo>
                    <a:pt x="3240024" y="0"/>
                  </a:lnTo>
                  <a:lnTo>
                    <a:pt x="0" y="0"/>
                  </a:lnTo>
                  <a:lnTo>
                    <a:pt x="0" y="539991"/>
                  </a:lnTo>
                  <a:lnTo>
                    <a:pt x="0" y="1079995"/>
                  </a:lnTo>
                  <a:lnTo>
                    <a:pt x="0" y="1619999"/>
                  </a:lnTo>
                  <a:lnTo>
                    <a:pt x="3240024" y="1619999"/>
                  </a:lnTo>
                  <a:lnTo>
                    <a:pt x="3240024" y="1079995"/>
                  </a:lnTo>
                  <a:lnTo>
                    <a:pt x="3240024" y="539991"/>
                  </a:lnTo>
                  <a:lnTo>
                    <a:pt x="6480010" y="539991"/>
                  </a:lnTo>
                  <a:lnTo>
                    <a:pt x="6480010" y="0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5618" y="3343147"/>
              <a:ext cx="3240405" cy="540385"/>
            </a:xfrm>
            <a:custGeom>
              <a:avLst/>
              <a:gdLst/>
              <a:ahLst/>
              <a:cxnLst/>
              <a:rect l="l" t="t" r="r" b="b"/>
              <a:pathLst>
                <a:path w="3240404" h="540385">
                  <a:moveTo>
                    <a:pt x="3240024" y="0"/>
                  </a:moveTo>
                  <a:lnTo>
                    <a:pt x="0" y="0"/>
                  </a:lnTo>
                  <a:lnTo>
                    <a:pt x="0" y="540003"/>
                  </a:lnTo>
                  <a:lnTo>
                    <a:pt x="3240024" y="540003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5632" y="3883151"/>
              <a:ext cx="3240405" cy="540385"/>
            </a:xfrm>
            <a:custGeom>
              <a:avLst/>
              <a:gdLst/>
              <a:ahLst/>
              <a:cxnLst/>
              <a:rect l="l" t="t" r="r" b="b"/>
              <a:pathLst>
                <a:path w="3240404" h="540385">
                  <a:moveTo>
                    <a:pt x="3240024" y="0"/>
                  </a:moveTo>
                  <a:lnTo>
                    <a:pt x="0" y="0"/>
                  </a:lnTo>
                  <a:lnTo>
                    <a:pt x="0" y="540004"/>
                  </a:lnTo>
                  <a:lnTo>
                    <a:pt x="3240024" y="540004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107" y="2253614"/>
              <a:ext cx="6499225" cy="2179320"/>
            </a:xfrm>
            <a:custGeom>
              <a:avLst/>
              <a:gdLst/>
              <a:ahLst/>
              <a:cxnLst/>
              <a:rect l="l" t="t" r="r" b="b"/>
              <a:pathLst>
                <a:path w="6499225" h="2179320">
                  <a:moveTo>
                    <a:pt x="3249510" y="0"/>
                  </a:moveTo>
                  <a:lnTo>
                    <a:pt x="3249510" y="2179066"/>
                  </a:lnTo>
                </a:path>
                <a:path w="6499225" h="2179320">
                  <a:moveTo>
                    <a:pt x="0" y="549529"/>
                  </a:moveTo>
                  <a:lnTo>
                    <a:pt x="6499059" y="549529"/>
                  </a:lnTo>
                </a:path>
                <a:path w="6499225" h="2179320">
                  <a:moveTo>
                    <a:pt x="0" y="1089533"/>
                  </a:moveTo>
                  <a:lnTo>
                    <a:pt x="6499059" y="1089533"/>
                  </a:lnTo>
                </a:path>
                <a:path w="6499225" h="2179320">
                  <a:moveTo>
                    <a:pt x="0" y="1629537"/>
                  </a:moveTo>
                  <a:lnTo>
                    <a:pt x="6499059" y="1629537"/>
                  </a:lnTo>
                </a:path>
                <a:path w="6499225" h="2179320">
                  <a:moveTo>
                    <a:pt x="9525" y="0"/>
                  </a:moveTo>
                  <a:lnTo>
                    <a:pt x="9525" y="2179066"/>
                  </a:lnTo>
                </a:path>
                <a:path w="6499225" h="2179320">
                  <a:moveTo>
                    <a:pt x="6489534" y="0"/>
                  </a:moveTo>
                  <a:lnTo>
                    <a:pt x="6489534" y="2179066"/>
                  </a:lnTo>
                </a:path>
                <a:path w="6499225" h="2179320">
                  <a:moveTo>
                    <a:pt x="0" y="9525"/>
                  </a:moveTo>
                  <a:lnTo>
                    <a:pt x="6499059" y="9525"/>
                  </a:lnTo>
                </a:path>
                <a:path w="6499225" h="2179320">
                  <a:moveTo>
                    <a:pt x="0" y="2169541"/>
                  </a:moveTo>
                  <a:lnTo>
                    <a:pt x="6499059" y="216954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81605" y="2339720"/>
            <a:ext cx="5073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40" dirty="0">
                <a:solidFill>
                  <a:srgbClr val="FFFFFF"/>
                </a:solidFill>
                <a:latin typeface="メイリオ"/>
                <a:cs typeface="メイリオ"/>
              </a:rPr>
              <a:t>公式</a:t>
            </a:r>
            <a:endParaRPr sz="19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1488" y="2339720"/>
            <a:ext cx="7480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35" dirty="0">
                <a:solidFill>
                  <a:srgbClr val="FFFFFF"/>
                </a:solidFill>
                <a:latin typeface="メイリオ"/>
                <a:cs typeface="メイリオ"/>
              </a:rPr>
              <a:t>具体例</a:t>
            </a:r>
            <a:endParaRPr sz="19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9169" y="2799079"/>
            <a:ext cx="18230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dirty="0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r>
              <a:rPr sz="1350" spc="2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× 𝒂</a:t>
            </a:r>
            <a:r>
              <a:rPr sz="1350" dirty="0">
                <a:solidFill>
                  <a:srgbClr val="FFFFFF"/>
                </a:solidFill>
                <a:latin typeface="Cambria Math"/>
                <a:cs typeface="Cambria Math"/>
              </a:rPr>
              <a:t>𝒎</a:t>
            </a:r>
            <a:r>
              <a:rPr sz="1350" spc="3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50" spc="179" baseline="-2046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spc="-30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spc="-20" dirty="0">
                <a:solidFill>
                  <a:srgbClr val="FFFFFF"/>
                </a:solidFill>
                <a:latin typeface="Cambria Math"/>
                <a:cs typeface="Cambria Math"/>
              </a:rPr>
              <a:t>𝒏+𝒎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1852" y="2891789"/>
            <a:ext cx="14401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r>
              <a:rPr sz="2025" baseline="28806" dirty="0">
                <a:solidFill>
                  <a:srgbClr val="BEBEBE"/>
                </a:solidFill>
                <a:latin typeface="Cambria Math"/>
                <a:cs typeface="Cambria Math"/>
              </a:rPr>
              <a:t>𝟒</a:t>
            </a:r>
            <a:r>
              <a:rPr sz="2025" spc="284" baseline="28806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1900" dirty="0">
                <a:solidFill>
                  <a:srgbClr val="BEBEBE"/>
                </a:solidFill>
                <a:latin typeface="Cambria Math"/>
                <a:cs typeface="Cambria Math"/>
              </a:rPr>
              <a:t>×</a:t>
            </a:r>
            <a:r>
              <a:rPr sz="1900" spc="1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190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r>
              <a:rPr sz="2025" baseline="28806" dirty="0">
                <a:solidFill>
                  <a:srgbClr val="BEBEBE"/>
                </a:solidFill>
                <a:latin typeface="Cambria Math"/>
                <a:cs typeface="Cambria Math"/>
              </a:rPr>
              <a:t>𝟑</a:t>
            </a:r>
            <a:r>
              <a:rPr sz="2025" spc="450" baseline="28806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1900" dirty="0">
                <a:solidFill>
                  <a:srgbClr val="BEBEBE"/>
                </a:solidFill>
                <a:latin typeface="Cambria Math"/>
                <a:cs typeface="Cambria Math"/>
              </a:rPr>
              <a:t>=</a:t>
            </a:r>
            <a:r>
              <a:rPr sz="1900" spc="114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1900" spc="-25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r>
              <a:rPr sz="2025" spc="-37" baseline="28806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025" baseline="28806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4597" y="3339211"/>
            <a:ext cx="18319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dirty="0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r>
              <a:rPr sz="1350" spc="21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÷</a:t>
            </a:r>
            <a:r>
              <a:rPr sz="2850" spc="22" baseline="-2046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dirty="0">
                <a:solidFill>
                  <a:srgbClr val="FFFFFF"/>
                </a:solidFill>
                <a:latin typeface="Cambria Math"/>
                <a:cs typeface="Cambria Math"/>
              </a:rPr>
              <a:t>𝒎</a:t>
            </a:r>
            <a:r>
              <a:rPr sz="1350" spc="3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50" spc="179" baseline="-2046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spc="-30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spc="-20" dirty="0">
                <a:solidFill>
                  <a:srgbClr val="FFFFFF"/>
                </a:solidFill>
                <a:latin typeface="Cambria Math"/>
                <a:cs typeface="Cambria Math"/>
              </a:rPr>
              <a:t>𝒏−𝒎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8803" y="3431794"/>
            <a:ext cx="14478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mbria Math"/>
                <a:cs typeface="Cambria Math"/>
              </a:rPr>
              <a:t>𝟐</a:t>
            </a:r>
            <a:r>
              <a:rPr sz="2025" baseline="28806" dirty="0">
                <a:latin typeface="Cambria Math"/>
                <a:cs typeface="Cambria Math"/>
              </a:rPr>
              <a:t>𝟒</a:t>
            </a:r>
            <a:r>
              <a:rPr sz="2025" spc="284" baseline="28806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÷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𝟐</a:t>
            </a:r>
            <a:r>
              <a:rPr sz="2025" baseline="28806" dirty="0">
                <a:latin typeface="Cambria Math"/>
                <a:cs typeface="Cambria Math"/>
              </a:rPr>
              <a:t>𝟑</a:t>
            </a:r>
            <a:r>
              <a:rPr sz="2025" spc="450" baseline="28806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𝟐</a:t>
            </a:r>
            <a:r>
              <a:rPr sz="2025" spc="-37" baseline="28806" dirty="0">
                <a:latin typeface="Cambria Math"/>
                <a:cs typeface="Cambria Math"/>
              </a:rPr>
              <a:t>𝟏</a:t>
            </a:r>
            <a:endParaRPr sz="2025" baseline="28806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16658" y="4039615"/>
            <a:ext cx="433070" cy="223520"/>
          </a:xfrm>
          <a:custGeom>
            <a:avLst/>
            <a:gdLst/>
            <a:ahLst/>
            <a:cxnLst/>
            <a:rect l="l" t="t" r="r" b="b"/>
            <a:pathLst>
              <a:path w="433069" h="223520">
                <a:moveTo>
                  <a:pt x="361442" y="0"/>
                </a:moveTo>
                <a:lnTo>
                  <a:pt x="358267" y="9143"/>
                </a:lnTo>
                <a:lnTo>
                  <a:pt x="371173" y="14714"/>
                </a:lnTo>
                <a:lnTo>
                  <a:pt x="382270" y="22463"/>
                </a:lnTo>
                <a:lnTo>
                  <a:pt x="404794" y="58429"/>
                </a:lnTo>
                <a:lnTo>
                  <a:pt x="411373" y="91176"/>
                </a:lnTo>
                <a:lnTo>
                  <a:pt x="411410" y="91438"/>
                </a:lnTo>
                <a:lnTo>
                  <a:pt x="412242" y="110489"/>
                </a:lnTo>
                <a:lnTo>
                  <a:pt x="411410" y="130159"/>
                </a:lnTo>
                <a:lnTo>
                  <a:pt x="408924" y="148018"/>
                </a:lnTo>
                <a:lnTo>
                  <a:pt x="391509" y="190545"/>
                </a:lnTo>
                <a:lnTo>
                  <a:pt x="358648" y="213994"/>
                </a:lnTo>
                <a:lnTo>
                  <a:pt x="361442" y="223138"/>
                </a:lnTo>
                <a:lnTo>
                  <a:pt x="404054" y="197796"/>
                </a:lnTo>
                <a:lnTo>
                  <a:pt x="427989" y="151034"/>
                </a:lnTo>
                <a:lnTo>
                  <a:pt x="432562" y="111632"/>
                </a:lnTo>
                <a:lnTo>
                  <a:pt x="431431" y="91438"/>
                </a:lnTo>
                <a:lnTo>
                  <a:pt x="414147" y="39115"/>
                </a:lnTo>
                <a:lnTo>
                  <a:pt x="377606" y="5879"/>
                </a:lnTo>
                <a:lnTo>
                  <a:pt x="361442" y="0"/>
                </a:lnTo>
                <a:close/>
              </a:path>
              <a:path w="433069" h="223520">
                <a:moveTo>
                  <a:pt x="71120" y="0"/>
                </a:moveTo>
                <a:lnTo>
                  <a:pt x="28632" y="25449"/>
                </a:lnTo>
                <a:lnTo>
                  <a:pt x="4635" y="72278"/>
                </a:lnTo>
                <a:lnTo>
                  <a:pt x="64" y="110489"/>
                </a:lnTo>
                <a:lnTo>
                  <a:pt x="0" y="111632"/>
                </a:lnTo>
                <a:lnTo>
                  <a:pt x="1036" y="130159"/>
                </a:lnTo>
                <a:lnTo>
                  <a:pt x="1144" y="132107"/>
                </a:lnTo>
                <a:lnTo>
                  <a:pt x="4587" y="151034"/>
                </a:lnTo>
                <a:lnTo>
                  <a:pt x="28578" y="197796"/>
                </a:lnTo>
                <a:lnTo>
                  <a:pt x="71120" y="223138"/>
                </a:lnTo>
                <a:lnTo>
                  <a:pt x="74041" y="213994"/>
                </a:lnTo>
                <a:lnTo>
                  <a:pt x="61301" y="208401"/>
                </a:lnTo>
                <a:lnTo>
                  <a:pt x="50323" y="200580"/>
                </a:lnTo>
                <a:lnTo>
                  <a:pt x="27840" y="164068"/>
                </a:lnTo>
                <a:lnTo>
                  <a:pt x="20494" y="111632"/>
                </a:lnTo>
                <a:lnTo>
                  <a:pt x="20447" y="110489"/>
                </a:lnTo>
                <a:lnTo>
                  <a:pt x="21260" y="91438"/>
                </a:lnTo>
                <a:lnTo>
                  <a:pt x="33655" y="44449"/>
                </a:lnTo>
                <a:lnTo>
                  <a:pt x="61462" y="14714"/>
                </a:lnTo>
                <a:lnTo>
                  <a:pt x="74295" y="9143"/>
                </a:lnTo>
                <a:lnTo>
                  <a:pt x="711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58442" y="3879341"/>
            <a:ext cx="3390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-37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spc="-25" dirty="0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74030" y="4052570"/>
            <a:ext cx="434975" cy="291465"/>
          </a:xfrm>
          <a:custGeom>
            <a:avLst/>
            <a:gdLst/>
            <a:ahLst/>
            <a:cxnLst/>
            <a:rect l="l" t="t" r="r" b="b"/>
            <a:pathLst>
              <a:path w="434975" h="291464">
                <a:moveTo>
                  <a:pt x="358267" y="0"/>
                </a:moveTo>
                <a:lnTo>
                  <a:pt x="355346" y="9651"/>
                </a:lnTo>
                <a:lnTo>
                  <a:pt x="368681" y="16579"/>
                </a:lnTo>
                <a:lnTo>
                  <a:pt x="380301" y="26685"/>
                </a:lnTo>
                <a:lnTo>
                  <a:pt x="404806" y="75461"/>
                </a:lnTo>
                <a:lnTo>
                  <a:pt x="412097" y="120038"/>
                </a:lnTo>
                <a:lnTo>
                  <a:pt x="413004" y="145541"/>
                </a:lnTo>
                <a:lnTo>
                  <a:pt x="412097" y="171045"/>
                </a:lnTo>
                <a:lnTo>
                  <a:pt x="404806" y="215622"/>
                </a:lnTo>
                <a:lnTo>
                  <a:pt x="390207" y="251051"/>
                </a:lnTo>
                <a:lnTo>
                  <a:pt x="355346" y="281304"/>
                </a:lnTo>
                <a:lnTo>
                  <a:pt x="358267" y="290956"/>
                </a:lnTo>
                <a:lnTo>
                  <a:pt x="403808" y="259185"/>
                </a:lnTo>
                <a:lnTo>
                  <a:pt x="423469" y="219872"/>
                </a:lnTo>
                <a:lnTo>
                  <a:pt x="433462" y="172160"/>
                </a:lnTo>
                <a:lnTo>
                  <a:pt x="434721" y="145541"/>
                </a:lnTo>
                <a:lnTo>
                  <a:pt x="433518" y="120038"/>
                </a:lnTo>
                <a:lnTo>
                  <a:pt x="423469" y="71139"/>
                </a:lnTo>
                <a:lnTo>
                  <a:pt x="403808" y="31771"/>
                </a:lnTo>
                <a:lnTo>
                  <a:pt x="375527" y="6764"/>
                </a:lnTo>
                <a:lnTo>
                  <a:pt x="358267" y="0"/>
                </a:lnTo>
                <a:close/>
              </a:path>
              <a:path w="434975" h="291464">
                <a:moveTo>
                  <a:pt x="76454" y="0"/>
                </a:moveTo>
                <a:lnTo>
                  <a:pt x="30894" y="31771"/>
                </a:lnTo>
                <a:lnTo>
                  <a:pt x="11197" y="71139"/>
                </a:lnTo>
                <a:lnTo>
                  <a:pt x="1240" y="118868"/>
                </a:lnTo>
                <a:lnTo>
                  <a:pt x="0" y="145541"/>
                </a:lnTo>
                <a:lnTo>
                  <a:pt x="1188" y="171045"/>
                </a:lnTo>
                <a:lnTo>
                  <a:pt x="11197" y="219872"/>
                </a:lnTo>
                <a:lnTo>
                  <a:pt x="30894" y="259185"/>
                </a:lnTo>
                <a:lnTo>
                  <a:pt x="76454" y="290956"/>
                </a:lnTo>
                <a:lnTo>
                  <a:pt x="79375" y="281304"/>
                </a:lnTo>
                <a:lnTo>
                  <a:pt x="66040" y="274379"/>
                </a:lnTo>
                <a:lnTo>
                  <a:pt x="54419" y="264286"/>
                </a:lnTo>
                <a:lnTo>
                  <a:pt x="29894" y="215622"/>
                </a:lnTo>
                <a:lnTo>
                  <a:pt x="22516" y="171045"/>
                </a:lnTo>
                <a:lnTo>
                  <a:pt x="21590" y="145541"/>
                </a:lnTo>
                <a:lnTo>
                  <a:pt x="22516" y="120038"/>
                </a:lnTo>
                <a:lnTo>
                  <a:pt x="29894" y="75461"/>
                </a:lnTo>
                <a:lnTo>
                  <a:pt x="44513" y="39959"/>
                </a:lnTo>
                <a:lnTo>
                  <a:pt x="79375" y="9651"/>
                </a:lnTo>
                <a:lnTo>
                  <a:pt x="764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23688" y="3924427"/>
            <a:ext cx="3263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-37" baseline="-20467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r>
              <a:rPr sz="1350" spc="-25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92496" y="3918330"/>
            <a:ext cx="755650" cy="408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165"/>
              </a:lnSpc>
              <a:spcBef>
                <a:spcPts val="130"/>
              </a:spcBef>
            </a:pPr>
            <a:r>
              <a:rPr sz="1350" spc="-50" dirty="0">
                <a:solidFill>
                  <a:srgbClr val="BEBEBE"/>
                </a:solidFill>
                <a:latin typeface="Cambria Math"/>
                <a:cs typeface="Cambria Math"/>
              </a:rPr>
              <a:t>𝟑</a:t>
            </a:r>
            <a:endParaRPr sz="1350">
              <a:latin typeface="Cambria Math"/>
              <a:cs typeface="Cambria Math"/>
            </a:endParaRPr>
          </a:p>
          <a:p>
            <a:pPr marL="219075">
              <a:lnSpc>
                <a:spcPts val="1825"/>
              </a:lnSpc>
            </a:pPr>
            <a:r>
              <a:rPr sz="1900" dirty="0">
                <a:solidFill>
                  <a:srgbClr val="BEBEBE"/>
                </a:solidFill>
                <a:latin typeface="Cambria Math"/>
                <a:cs typeface="Cambria Math"/>
              </a:rPr>
              <a:t>=</a:t>
            </a:r>
            <a:r>
              <a:rPr sz="1900" spc="10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1900" spc="-25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r>
              <a:rPr sz="2025" spc="-37" baseline="28806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025" baseline="28806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59889" y="4195953"/>
            <a:ext cx="1565910" cy="956310"/>
            <a:chOff x="2159889" y="4195953"/>
            <a:chExt cx="1565910" cy="956310"/>
          </a:xfrm>
        </p:grpSpPr>
        <p:sp>
          <p:nvSpPr>
            <p:cNvPr id="27" name="object 27"/>
            <p:cNvSpPr/>
            <p:nvPr/>
          </p:nvSpPr>
          <p:spPr>
            <a:xfrm>
              <a:off x="2169414" y="4205478"/>
              <a:ext cx="1546860" cy="937260"/>
            </a:xfrm>
            <a:custGeom>
              <a:avLst/>
              <a:gdLst/>
              <a:ahLst/>
              <a:cxnLst/>
              <a:rect l="l" t="t" r="r" b="b"/>
              <a:pathLst>
                <a:path w="1546860" h="937260">
                  <a:moveTo>
                    <a:pt x="1546860" y="0"/>
                  </a:moveTo>
                  <a:lnTo>
                    <a:pt x="0" y="0"/>
                  </a:lnTo>
                  <a:lnTo>
                    <a:pt x="0" y="797052"/>
                  </a:lnTo>
                  <a:lnTo>
                    <a:pt x="257810" y="797052"/>
                  </a:lnTo>
                  <a:lnTo>
                    <a:pt x="482473" y="937133"/>
                  </a:lnTo>
                  <a:lnTo>
                    <a:pt x="644525" y="797052"/>
                  </a:lnTo>
                  <a:lnTo>
                    <a:pt x="1546860" y="797052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69414" y="4205478"/>
              <a:ext cx="1546860" cy="937260"/>
            </a:xfrm>
            <a:custGeom>
              <a:avLst/>
              <a:gdLst/>
              <a:ahLst/>
              <a:cxnLst/>
              <a:rect l="l" t="t" r="r" b="b"/>
              <a:pathLst>
                <a:path w="1546860" h="937260">
                  <a:moveTo>
                    <a:pt x="0" y="0"/>
                  </a:moveTo>
                  <a:lnTo>
                    <a:pt x="257810" y="0"/>
                  </a:lnTo>
                  <a:lnTo>
                    <a:pt x="644525" y="0"/>
                  </a:lnTo>
                  <a:lnTo>
                    <a:pt x="1546860" y="0"/>
                  </a:lnTo>
                  <a:lnTo>
                    <a:pt x="1546860" y="464947"/>
                  </a:lnTo>
                  <a:lnTo>
                    <a:pt x="1546860" y="664210"/>
                  </a:lnTo>
                  <a:lnTo>
                    <a:pt x="1546860" y="797052"/>
                  </a:lnTo>
                  <a:lnTo>
                    <a:pt x="644525" y="797052"/>
                  </a:lnTo>
                  <a:lnTo>
                    <a:pt x="482473" y="937133"/>
                  </a:lnTo>
                  <a:lnTo>
                    <a:pt x="257810" y="797052"/>
                  </a:lnTo>
                  <a:lnTo>
                    <a:pt x="0" y="797052"/>
                  </a:lnTo>
                  <a:lnTo>
                    <a:pt x="0" y="664210"/>
                  </a:lnTo>
                  <a:lnTo>
                    <a:pt x="0" y="46494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15339" y="5268467"/>
            <a:ext cx="9679940" cy="539750"/>
            <a:chOff x="815339" y="5268467"/>
            <a:chExt cx="9679940" cy="539750"/>
          </a:xfrm>
        </p:grpSpPr>
        <p:sp>
          <p:nvSpPr>
            <p:cNvPr id="30" name="object 30"/>
            <p:cNvSpPr/>
            <p:nvPr/>
          </p:nvSpPr>
          <p:spPr>
            <a:xfrm>
              <a:off x="1536953" y="5538977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5339" y="5268467"/>
              <a:ext cx="721360" cy="539750"/>
            </a:xfrm>
            <a:custGeom>
              <a:avLst/>
              <a:gdLst/>
              <a:ahLst/>
              <a:cxnLst/>
              <a:rect l="l" t="t" r="r" b="b"/>
              <a:pathLst>
                <a:path w="721360" h="539750">
                  <a:moveTo>
                    <a:pt x="559943" y="0"/>
                  </a:moveTo>
                  <a:lnTo>
                    <a:pt x="160972" y="0"/>
                  </a:lnTo>
                  <a:lnTo>
                    <a:pt x="118180" y="5745"/>
                  </a:lnTo>
                  <a:lnTo>
                    <a:pt x="79727" y="21961"/>
                  </a:lnTo>
                  <a:lnTo>
                    <a:pt x="47148" y="47116"/>
                  </a:lnTo>
                  <a:lnTo>
                    <a:pt x="21978" y="79680"/>
                  </a:lnTo>
                  <a:lnTo>
                    <a:pt x="5750" y="118121"/>
                  </a:lnTo>
                  <a:lnTo>
                    <a:pt x="0" y="160908"/>
                  </a:lnTo>
                  <a:lnTo>
                    <a:pt x="0" y="378523"/>
                  </a:lnTo>
                  <a:lnTo>
                    <a:pt x="5750" y="421315"/>
                  </a:lnTo>
                  <a:lnTo>
                    <a:pt x="21978" y="459768"/>
                  </a:lnTo>
                  <a:lnTo>
                    <a:pt x="47148" y="492347"/>
                  </a:lnTo>
                  <a:lnTo>
                    <a:pt x="79727" y="517517"/>
                  </a:lnTo>
                  <a:lnTo>
                    <a:pt x="118180" y="533745"/>
                  </a:lnTo>
                  <a:lnTo>
                    <a:pt x="160972" y="539495"/>
                  </a:lnTo>
                  <a:lnTo>
                    <a:pt x="559943" y="539495"/>
                  </a:lnTo>
                  <a:lnTo>
                    <a:pt x="602730" y="533745"/>
                  </a:lnTo>
                  <a:lnTo>
                    <a:pt x="641171" y="517517"/>
                  </a:lnTo>
                  <a:lnTo>
                    <a:pt x="673735" y="492347"/>
                  </a:lnTo>
                  <a:lnTo>
                    <a:pt x="698890" y="459768"/>
                  </a:lnTo>
                  <a:lnTo>
                    <a:pt x="715106" y="421315"/>
                  </a:lnTo>
                  <a:lnTo>
                    <a:pt x="720851" y="378523"/>
                  </a:lnTo>
                  <a:lnTo>
                    <a:pt x="720851" y="160908"/>
                  </a:lnTo>
                  <a:lnTo>
                    <a:pt x="715106" y="118121"/>
                  </a:lnTo>
                  <a:lnTo>
                    <a:pt x="698890" y="79680"/>
                  </a:lnTo>
                  <a:lnTo>
                    <a:pt x="673735" y="47116"/>
                  </a:lnTo>
                  <a:lnTo>
                    <a:pt x="641171" y="21961"/>
                  </a:lnTo>
                  <a:lnTo>
                    <a:pt x="602730" y="5745"/>
                  </a:lnTo>
                  <a:lnTo>
                    <a:pt x="55994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133345" y="3804749"/>
            <a:ext cx="1477645" cy="7734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1350" dirty="0">
                <a:solidFill>
                  <a:srgbClr val="FFFFFF"/>
                </a:solidFill>
                <a:latin typeface="Cambria Math"/>
                <a:cs typeface="Cambria Math"/>
              </a:rPr>
              <a:t>𝒎</a:t>
            </a:r>
            <a:r>
              <a:rPr sz="1350" spc="3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baseline="-20467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50" spc="187" baseline="-20467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50" spc="-37" baseline="-20467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1350" spc="-25" dirty="0">
                <a:solidFill>
                  <a:srgbClr val="FFFFFF"/>
                </a:solidFill>
                <a:latin typeface="Cambria Math"/>
                <a:cs typeface="Cambria Math"/>
              </a:rPr>
              <a:t>𝒏𝒎</a:t>
            </a:r>
            <a:endParaRPr sz="1350">
              <a:latin typeface="Cambria Math"/>
              <a:cs typeface="Cambria Math"/>
            </a:endParaRPr>
          </a:p>
          <a:p>
            <a:pPr marL="17907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latin typeface="メイリオ"/>
                <a:cs typeface="メイリオ"/>
              </a:rPr>
              <a:t>4</a:t>
            </a:r>
            <a:r>
              <a:rPr sz="2000" spc="-20" dirty="0">
                <a:latin typeface="メイリオ"/>
                <a:cs typeface="メイリオ"/>
              </a:rPr>
              <a:t> 歩進んで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3460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96083" y="5268467"/>
            <a:ext cx="2100580" cy="539750"/>
            <a:chOff x="2196083" y="5268467"/>
            <a:chExt cx="2100580" cy="539750"/>
          </a:xfrm>
        </p:grpSpPr>
        <p:sp>
          <p:nvSpPr>
            <p:cNvPr id="35" name="object 35"/>
            <p:cNvSpPr/>
            <p:nvPr/>
          </p:nvSpPr>
          <p:spPr>
            <a:xfrm>
              <a:off x="2196083" y="5268467"/>
              <a:ext cx="719455" cy="539750"/>
            </a:xfrm>
            <a:custGeom>
              <a:avLst/>
              <a:gdLst/>
              <a:ahLst/>
              <a:cxnLst/>
              <a:rect l="l" t="t" r="r" b="b"/>
              <a:pathLst>
                <a:path w="719455" h="539750">
                  <a:moveTo>
                    <a:pt x="558419" y="0"/>
                  </a:moveTo>
                  <a:lnTo>
                    <a:pt x="160909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7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8"/>
                  </a:lnTo>
                  <a:lnTo>
                    <a:pt x="0" y="378523"/>
                  </a:lnTo>
                  <a:lnTo>
                    <a:pt x="5745" y="421315"/>
                  </a:lnTo>
                  <a:lnTo>
                    <a:pt x="21961" y="459768"/>
                  </a:lnTo>
                  <a:lnTo>
                    <a:pt x="47117" y="492347"/>
                  </a:lnTo>
                  <a:lnTo>
                    <a:pt x="79680" y="517517"/>
                  </a:lnTo>
                  <a:lnTo>
                    <a:pt x="118121" y="533745"/>
                  </a:lnTo>
                  <a:lnTo>
                    <a:pt x="160909" y="539495"/>
                  </a:lnTo>
                  <a:lnTo>
                    <a:pt x="558419" y="539495"/>
                  </a:lnTo>
                  <a:lnTo>
                    <a:pt x="601206" y="533745"/>
                  </a:lnTo>
                  <a:lnTo>
                    <a:pt x="639647" y="517517"/>
                  </a:lnTo>
                  <a:lnTo>
                    <a:pt x="672211" y="492347"/>
                  </a:lnTo>
                  <a:lnTo>
                    <a:pt x="697366" y="459768"/>
                  </a:lnTo>
                  <a:lnTo>
                    <a:pt x="713582" y="421315"/>
                  </a:lnTo>
                  <a:lnTo>
                    <a:pt x="719328" y="378523"/>
                  </a:lnTo>
                  <a:lnTo>
                    <a:pt x="719328" y="160908"/>
                  </a:lnTo>
                  <a:lnTo>
                    <a:pt x="713582" y="118121"/>
                  </a:lnTo>
                  <a:lnTo>
                    <a:pt x="697366" y="79680"/>
                  </a:lnTo>
                  <a:lnTo>
                    <a:pt x="672211" y="47116"/>
                  </a:lnTo>
                  <a:lnTo>
                    <a:pt x="639647" y="21961"/>
                  </a:lnTo>
                  <a:lnTo>
                    <a:pt x="601206" y="5745"/>
                  </a:lnTo>
                  <a:lnTo>
                    <a:pt x="55841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76827" y="5268467"/>
              <a:ext cx="719455" cy="539750"/>
            </a:xfrm>
            <a:custGeom>
              <a:avLst/>
              <a:gdLst/>
              <a:ahLst/>
              <a:cxnLst/>
              <a:rect l="l" t="t" r="r" b="b"/>
              <a:pathLst>
                <a:path w="719454" h="539750">
                  <a:moveTo>
                    <a:pt x="558419" y="0"/>
                  </a:moveTo>
                  <a:lnTo>
                    <a:pt x="160909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7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8"/>
                  </a:lnTo>
                  <a:lnTo>
                    <a:pt x="0" y="378523"/>
                  </a:lnTo>
                  <a:lnTo>
                    <a:pt x="5745" y="421315"/>
                  </a:lnTo>
                  <a:lnTo>
                    <a:pt x="21961" y="459768"/>
                  </a:lnTo>
                  <a:lnTo>
                    <a:pt x="47116" y="492347"/>
                  </a:lnTo>
                  <a:lnTo>
                    <a:pt x="79680" y="517517"/>
                  </a:lnTo>
                  <a:lnTo>
                    <a:pt x="118121" y="533745"/>
                  </a:lnTo>
                  <a:lnTo>
                    <a:pt x="160909" y="539495"/>
                  </a:lnTo>
                  <a:lnTo>
                    <a:pt x="558419" y="539495"/>
                  </a:lnTo>
                  <a:lnTo>
                    <a:pt x="601206" y="533745"/>
                  </a:lnTo>
                  <a:lnTo>
                    <a:pt x="639647" y="517517"/>
                  </a:lnTo>
                  <a:lnTo>
                    <a:pt x="672211" y="492347"/>
                  </a:lnTo>
                  <a:lnTo>
                    <a:pt x="697366" y="459768"/>
                  </a:lnTo>
                  <a:lnTo>
                    <a:pt x="713582" y="421315"/>
                  </a:lnTo>
                  <a:lnTo>
                    <a:pt x="719327" y="378523"/>
                  </a:lnTo>
                  <a:lnTo>
                    <a:pt x="719327" y="160908"/>
                  </a:lnTo>
                  <a:lnTo>
                    <a:pt x="713582" y="118121"/>
                  </a:lnTo>
                  <a:lnTo>
                    <a:pt x="697366" y="79680"/>
                  </a:lnTo>
                  <a:lnTo>
                    <a:pt x="672211" y="47116"/>
                  </a:lnTo>
                  <a:lnTo>
                    <a:pt x="639647" y="21961"/>
                  </a:lnTo>
                  <a:lnTo>
                    <a:pt x="601206" y="5745"/>
                  </a:lnTo>
                  <a:lnTo>
                    <a:pt x="5584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74694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957571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7" y="378523"/>
                </a:lnTo>
                <a:lnTo>
                  <a:pt x="719327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155438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338315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8" y="378523"/>
                </a:lnTo>
                <a:lnTo>
                  <a:pt x="719328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536181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717535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4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2" y="378523"/>
                </a:lnTo>
                <a:lnTo>
                  <a:pt x="720852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5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916926" y="5291708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098280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297289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479023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7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0678032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587246" y="5308091"/>
            <a:ext cx="4716780" cy="132715"/>
          </a:xfrm>
          <a:custGeom>
            <a:avLst/>
            <a:gdLst/>
            <a:ahLst/>
            <a:cxnLst/>
            <a:rect l="l" t="t" r="r" b="b"/>
            <a:pathLst>
              <a:path w="4716780" h="132714">
                <a:moveTo>
                  <a:pt x="554228" y="66294"/>
                </a:moveTo>
                <a:lnTo>
                  <a:pt x="529615" y="51943"/>
                </a:lnTo>
                <a:lnTo>
                  <a:pt x="440563" y="0"/>
                </a:lnTo>
                <a:lnTo>
                  <a:pt x="431800" y="2286"/>
                </a:lnTo>
                <a:lnTo>
                  <a:pt x="427736" y="9144"/>
                </a:lnTo>
                <a:lnTo>
                  <a:pt x="423799" y="15875"/>
                </a:lnTo>
                <a:lnTo>
                  <a:pt x="426085" y="24638"/>
                </a:lnTo>
                <a:lnTo>
                  <a:pt x="472935" y="51943"/>
                </a:lnTo>
                <a:lnTo>
                  <a:pt x="0" y="51943"/>
                </a:lnTo>
                <a:lnTo>
                  <a:pt x="0" y="80518"/>
                </a:lnTo>
                <a:lnTo>
                  <a:pt x="473151" y="80518"/>
                </a:lnTo>
                <a:lnTo>
                  <a:pt x="426085" y="107950"/>
                </a:lnTo>
                <a:lnTo>
                  <a:pt x="423799" y="116713"/>
                </a:lnTo>
                <a:lnTo>
                  <a:pt x="427736" y="123444"/>
                </a:lnTo>
                <a:lnTo>
                  <a:pt x="431800" y="130302"/>
                </a:lnTo>
                <a:lnTo>
                  <a:pt x="440563" y="132588"/>
                </a:lnTo>
                <a:lnTo>
                  <a:pt x="529831" y="80518"/>
                </a:lnTo>
                <a:lnTo>
                  <a:pt x="554228" y="66294"/>
                </a:lnTo>
                <a:close/>
              </a:path>
              <a:path w="4716780" h="132714">
                <a:moveTo>
                  <a:pt x="1959356" y="66294"/>
                </a:moveTo>
                <a:lnTo>
                  <a:pt x="1934743" y="51943"/>
                </a:lnTo>
                <a:lnTo>
                  <a:pt x="1845691" y="0"/>
                </a:lnTo>
                <a:lnTo>
                  <a:pt x="1836928" y="2286"/>
                </a:lnTo>
                <a:lnTo>
                  <a:pt x="1832864" y="9144"/>
                </a:lnTo>
                <a:lnTo>
                  <a:pt x="1828927" y="15875"/>
                </a:lnTo>
                <a:lnTo>
                  <a:pt x="1831213" y="24638"/>
                </a:lnTo>
                <a:lnTo>
                  <a:pt x="1878063" y="51943"/>
                </a:lnTo>
                <a:lnTo>
                  <a:pt x="1405128" y="51943"/>
                </a:lnTo>
                <a:lnTo>
                  <a:pt x="1405128" y="80518"/>
                </a:lnTo>
                <a:lnTo>
                  <a:pt x="1878279" y="80518"/>
                </a:lnTo>
                <a:lnTo>
                  <a:pt x="1831213" y="107950"/>
                </a:lnTo>
                <a:lnTo>
                  <a:pt x="1828927" y="116713"/>
                </a:lnTo>
                <a:lnTo>
                  <a:pt x="1832864" y="123444"/>
                </a:lnTo>
                <a:lnTo>
                  <a:pt x="1836928" y="130302"/>
                </a:lnTo>
                <a:lnTo>
                  <a:pt x="1845691" y="132588"/>
                </a:lnTo>
                <a:lnTo>
                  <a:pt x="1934959" y="80518"/>
                </a:lnTo>
                <a:lnTo>
                  <a:pt x="1959356" y="66294"/>
                </a:lnTo>
                <a:close/>
              </a:path>
              <a:path w="4716780" h="132714">
                <a:moveTo>
                  <a:pt x="3329432" y="66294"/>
                </a:moveTo>
                <a:lnTo>
                  <a:pt x="3304819" y="51943"/>
                </a:lnTo>
                <a:lnTo>
                  <a:pt x="3215767" y="0"/>
                </a:lnTo>
                <a:lnTo>
                  <a:pt x="3207004" y="2286"/>
                </a:lnTo>
                <a:lnTo>
                  <a:pt x="3202940" y="9144"/>
                </a:lnTo>
                <a:lnTo>
                  <a:pt x="3199003" y="15875"/>
                </a:lnTo>
                <a:lnTo>
                  <a:pt x="3201289" y="24638"/>
                </a:lnTo>
                <a:lnTo>
                  <a:pt x="3248139" y="51943"/>
                </a:lnTo>
                <a:lnTo>
                  <a:pt x="2775204" y="51943"/>
                </a:lnTo>
                <a:lnTo>
                  <a:pt x="2775204" y="80518"/>
                </a:lnTo>
                <a:lnTo>
                  <a:pt x="3248355" y="80518"/>
                </a:lnTo>
                <a:lnTo>
                  <a:pt x="3201289" y="107950"/>
                </a:lnTo>
                <a:lnTo>
                  <a:pt x="3199003" y="116713"/>
                </a:lnTo>
                <a:lnTo>
                  <a:pt x="3202940" y="123444"/>
                </a:lnTo>
                <a:lnTo>
                  <a:pt x="3207004" y="130302"/>
                </a:lnTo>
                <a:lnTo>
                  <a:pt x="3215767" y="132588"/>
                </a:lnTo>
                <a:lnTo>
                  <a:pt x="3305035" y="80518"/>
                </a:lnTo>
                <a:lnTo>
                  <a:pt x="3329432" y="66294"/>
                </a:lnTo>
                <a:close/>
              </a:path>
              <a:path w="4716780" h="132714">
                <a:moveTo>
                  <a:pt x="4716272" y="66294"/>
                </a:moveTo>
                <a:lnTo>
                  <a:pt x="4691659" y="51943"/>
                </a:lnTo>
                <a:lnTo>
                  <a:pt x="4602607" y="0"/>
                </a:lnTo>
                <a:lnTo>
                  <a:pt x="4593844" y="2286"/>
                </a:lnTo>
                <a:lnTo>
                  <a:pt x="4589780" y="9144"/>
                </a:lnTo>
                <a:lnTo>
                  <a:pt x="4585843" y="15875"/>
                </a:lnTo>
                <a:lnTo>
                  <a:pt x="4588129" y="24638"/>
                </a:lnTo>
                <a:lnTo>
                  <a:pt x="4634979" y="51943"/>
                </a:lnTo>
                <a:lnTo>
                  <a:pt x="4162044" y="51943"/>
                </a:lnTo>
                <a:lnTo>
                  <a:pt x="4162044" y="80518"/>
                </a:lnTo>
                <a:lnTo>
                  <a:pt x="4635195" y="80518"/>
                </a:lnTo>
                <a:lnTo>
                  <a:pt x="4588129" y="107950"/>
                </a:lnTo>
                <a:lnTo>
                  <a:pt x="4585843" y="116713"/>
                </a:lnTo>
                <a:lnTo>
                  <a:pt x="4589780" y="123444"/>
                </a:lnTo>
                <a:lnTo>
                  <a:pt x="4593844" y="130302"/>
                </a:lnTo>
                <a:lnTo>
                  <a:pt x="4602607" y="132588"/>
                </a:lnTo>
                <a:lnTo>
                  <a:pt x="4691875" y="80518"/>
                </a:lnTo>
                <a:lnTo>
                  <a:pt x="4716272" y="66294"/>
                </a:lnTo>
                <a:close/>
              </a:path>
            </a:pathLst>
          </a:custGeom>
          <a:solidFill>
            <a:srgbClr val="6473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7251" y="4551934"/>
            <a:ext cx="1085850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メイリオ"/>
                <a:cs typeface="メイリオ"/>
              </a:rPr>
              <a:t>3</a:t>
            </a:r>
            <a:r>
              <a:rPr sz="2000" spc="-20" dirty="0">
                <a:latin typeface="メイリオ"/>
                <a:cs typeface="メイリオ"/>
              </a:rPr>
              <a:t> 歩戻る</a:t>
            </a:r>
            <a:endParaRPr sz="2000">
              <a:latin typeface="メイリオ"/>
              <a:cs typeface="メイリオ"/>
            </a:endParaRPr>
          </a:p>
          <a:p>
            <a:pPr marL="676910">
              <a:lnSpc>
                <a:spcPts val="2060"/>
              </a:lnSpc>
              <a:spcBef>
                <a:spcPts val="1455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  <a:p>
            <a:pPr marL="38100">
              <a:lnSpc>
                <a:spcPts val="2060"/>
              </a:lnSpc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96819" y="5655538"/>
            <a:ext cx="3309620" cy="132715"/>
          </a:xfrm>
          <a:custGeom>
            <a:avLst/>
            <a:gdLst/>
            <a:ahLst/>
            <a:cxnLst/>
            <a:rect l="l" t="t" r="r" b="b"/>
            <a:pathLst>
              <a:path w="3309620" h="132714">
                <a:moveTo>
                  <a:pt x="554228" y="52031"/>
                </a:moveTo>
                <a:lnTo>
                  <a:pt x="81203" y="52031"/>
                </a:lnTo>
                <a:lnTo>
                  <a:pt x="128143" y="24676"/>
                </a:lnTo>
                <a:lnTo>
                  <a:pt x="130429" y="15925"/>
                </a:lnTo>
                <a:lnTo>
                  <a:pt x="122555" y="2298"/>
                </a:lnTo>
                <a:lnTo>
                  <a:pt x="113792" y="0"/>
                </a:lnTo>
                <a:lnTo>
                  <a:pt x="0" y="66319"/>
                </a:lnTo>
                <a:lnTo>
                  <a:pt x="113792" y="132638"/>
                </a:lnTo>
                <a:lnTo>
                  <a:pt x="122555" y="130340"/>
                </a:lnTo>
                <a:lnTo>
                  <a:pt x="130429" y="116713"/>
                </a:lnTo>
                <a:lnTo>
                  <a:pt x="128143" y="107962"/>
                </a:lnTo>
                <a:lnTo>
                  <a:pt x="81203" y="80606"/>
                </a:lnTo>
                <a:lnTo>
                  <a:pt x="554228" y="80606"/>
                </a:lnTo>
                <a:lnTo>
                  <a:pt x="554228" y="52031"/>
                </a:lnTo>
                <a:close/>
              </a:path>
              <a:path w="3309620" h="132714">
                <a:moveTo>
                  <a:pt x="1924304" y="52031"/>
                </a:moveTo>
                <a:lnTo>
                  <a:pt x="1451279" y="52031"/>
                </a:lnTo>
                <a:lnTo>
                  <a:pt x="1498219" y="24676"/>
                </a:lnTo>
                <a:lnTo>
                  <a:pt x="1500505" y="15925"/>
                </a:lnTo>
                <a:lnTo>
                  <a:pt x="1492631" y="2298"/>
                </a:lnTo>
                <a:lnTo>
                  <a:pt x="1483868" y="0"/>
                </a:lnTo>
                <a:lnTo>
                  <a:pt x="1370076" y="66319"/>
                </a:lnTo>
                <a:lnTo>
                  <a:pt x="1483868" y="132638"/>
                </a:lnTo>
                <a:lnTo>
                  <a:pt x="1492631" y="130340"/>
                </a:lnTo>
                <a:lnTo>
                  <a:pt x="1500505" y="116713"/>
                </a:lnTo>
                <a:lnTo>
                  <a:pt x="1498219" y="107962"/>
                </a:lnTo>
                <a:lnTo>
                  <a:pt x="1451279" y="80606"/>
                </a:lnTo>
                <a:lnTo>
                  <a:pt x="1924304" y="80606"/>
                </a:lnTo>
                <a:lnTo>
                  <a:pt x="1924304" y="52031"/>
                </a:lnTo>
                <a:close/>
              </a:path>
              <a:path w="3309620" h="132714">
                <a:moveTo>
                  <a:pt x="3309620" y="52031"/>
                </a:moveTo>
                <a:lnTo>
                  <a:pt x="2836595" y="52031"/>
                </a:lnTo>
                <a:lnTo>
                  <a:pt x="2883535" y="24676"/>
                </a:lnTo>
                <a:lnTo>
                  <a:pt x="2885821" y="15925"/>
                </a:lnTo>
                <a:lnTo>
                  <a:pt x="2877947" y="2298"/>
                </a:lnTo>
                <a:lnTo>
                  <a:pt x="2869184" y="0"/>
                </a:lnTo>
                <a:lnTo>
                  <a:pt x="2755392" y="66319"/>
                </a:lnTo>
                <a:lnTo>
                  <a:pt x="2869184" y="132638"/>
                </a:lnTo>
                <a:lnTo>
                  <a:pt x="2877947" y="130340"/>
                </a:lnTo>
                <a:lnTo>
                  <a:pt x="2885821" y="116713"/>
                </a:lnTo>
                <a:lnTo>
                  <a:pt x="2883535" y="107962"/>
                </a:lnTo>
                <a:lnTo>
                  <a:pt x="2836595" y="80606"/>
                </a:lnTo>
                <a:lnTo>
                  <a:pt x="3309620" y="80606"/>
                </a:lnTo>
                <a:lnTo>
                  <a:pt x="3309620" y="52031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065526" y="576569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÷2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46270" y="576569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÷2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29427" y="5763869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÷2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補足：指数関数の公式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133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5632" y="3883152"/>
            <a:ext cx="6480175" cy="540385"/>
            <a:chOff x="815632" y="3883152"/>
            <a:chExt cx="6480175" cy="540385"/>
          </a:xfrm>
        </p:grpSpPr>
        <p:sp>
          <p:nvSpPr>
            <p:cNvPr id="11" name="object 11"/>
            <p:cNvSpPr/>
            <p:nvPr/>
          </p:nvSpPr>
          <p:spPr>
            <a:xfrm>
              <a:off x="815632" y="3883152"/>
              <a:ext cx="3240405" cy="540385"/>
            </a:xfrm>
            <a:custGeom>
              <a:avLst/>
              <a:gdLst/>
              <a:ahLst/>
              <a:cxnLst/>
              <a:rect l="l" t="t" r="r" b="b"/>
              <a:pathLst>
                <a:path w="3240404" h="540385">
                  <a:moveTo>
                    <a:pt x="3240024" y="0"/>
                  </a:moveTo>
                  <a:lnTo>
                    <a:pt x="0" y="0"/>
                  </a:lnTo>
                  <a:lnTo>
                    <a:pt x="0" y="540004"/>
                  </a:lnTo>
                  <a:lnTo>
                    <a:pt x="3240024" y="540004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5618" y="3883152"/>
              <a:ext cx="3240405" cy="540385"/>
            </a:xfrm>
            <a:custGeom>
              <a:avLst/>
              <a:gdLst/>
              <a:ahLst/>
              <a:cxnLst/>
              <a:rect l="l" t="t" r="r" b="b"/>
              <a:pathLst>
                <a:path w="3240404" h="540385">
                  <a:moveTo>
                    <a:pt x="3240024" y="0"/>
                  </a:moveTo>
                  <a:lnTo>
                    <a:pt x="0" y="0"/>
                  </a:lnTo>
                  <a:lnTo>
                    <a:pt x="0" y="540004"/>
                  </a:lnTo>
                  <a:lnTo>
                    <a:pt x="3240024" y="540004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16658" y="4039616"/>
              <a:ext cx="433070" cy="223520"/>
            </a:xfrm>
            <a:custGeom>
              <a:avLst/>
              <a:gdLst/>
              <a:ahLst/>
              <a:cxnLst/>
              <a:rect l="l" t="t" r="r" b="b"/>
              <a:pathLst>
                <a:path w="433069" h="223520">
                  <a:moveTo>
                    <a:pt x="361442" y="0"/>
                  </a:moveTo>
                  <a:lnTo>
                    <a:pt x="358267" y="9143"/>
                  </a:lnTo>
                  <a:lnTo>
                    <a:pt x="371173" y="14714"/>
                  </a:lnTo>
                  <a:lnTo>
                    <a:pt x="382270" y="22463"/>
                  </a:lnTo>
                  <a:lnTo>
                    <a:pt x="404794" y="58429"/>
                  </a:lnTo>
                  <a:lnTo>
                    <a:pt x="411373" y="91176"/>
                  </a:lnTo>
                  <a:lnTo>
                    <a:pt x="411410" y="91438"/>
                  </a:lnTo>
                  <a:lnTo>
                    <a:pt x="412242" y="110489"/>
                  </a:lnTo>
                  <a:lnTo>
                    <a:pt x="411410" y="130159"/>
                  </a:lnTo>
                  <a:lnTo>
                    <a:pt x="408924" y="148018"/>
                  </a:lnTo>
                  <a:lnTo>
                    <a:pt x="391509" y="190545"/>
                  </a:lnTo>
                  <a:lnTo>
                    <a:pt x="358648" y="213994"/>
                  </a:lnTo>
                  <a:lnTo>
                    <a:pt x="361442" y="223138"/>
                  </a:lnTo>
                  <a:lnTo>
                    <a:pt x="404054" y="197796"/>
                  </a:lnTo>
                  <a:lnTo>
                    <a:pt x="427989" y="151034"/>
                  </a:lnTo>
                  <a:lnTo>
                    <a:pt x="432562" y="111632"/>
                  </a:lnTo>
                  <a:lnTo>
                    <a:pt x="431431" y="91438"/>
                  </a:lnTo>
                  <a:lnTo>
                    <a:pt x="414147" y="39115"/>
                  </a:lnTo>
                  <a:lnTo>
                    <a:pt x="377606" y="5879"/>
                  </a:lnTo>
                  <a:lnTo>
                    <a:pt x="361442" y="0"/>
                  </a:lnTo>
                  <a:close/>
                </a:path>
                <a:path w="433069" h="223520">
                  <a:moveTo>
                    <a:pt x="71120" y="0"/>
                  </a:moveTo>
                  <a:lnTo>
                    <a:pt x="28632" y="25449"/>
                  </a:lnTo>
                  <a:lnTo>
                    <a:pt x="4635" y="72278"/>
                  </a:lnTo>
                  <a:lnTo>
                    <a:pt x="64" y="110489"/>
                  </a:lnTo>
                  <a:lnTo>
                    <a:pt x="0" y="111632"/>
                  </a:lnTo>
                  <a:lnTo>
                    <a:pt x="1036" y="130159"/>
                  </a:lnTo>
                  <a:lnTo>
                    <a:pt x="1144" y="132107"/>
                  </a:lnTo>
                  <a:lnTo>
                    <a:pt x="4587" y="151034"/>
                  </a:lnTo>
                  <a:lnTo>
                    <a:pt x="28578" y="197796"/>
                  </a:lnTo>
                  <a:lnTo>
                    <a:pt x="71120" y="223138"/>
                  </a:lnTo>
                  <a:lnTo>
                    <a:pt x="74041" y="213994"/>
                  </a:lnTo>
                  <a:lnTo>
                    <a:pt x="61301" y="208401"/>
                  </a:lnTo>
                  <a:lnTo>
                    <a:pt x="50323" y="200580"/>
                  </a:lnTo>
                  <a:lnTo>
                    <a:pt x="27840" y="164068"/>
                  </a:lnTo>
                  <a:lnTo>
                    <a:pt x="20494" y="111632"/>
                  </a:lnTo>
                  <a:lnTo>
                    <a:pt x="20447" y="110489"/>
                  </a:lnTo>
                  <a:lnTo>
                    <a:pt x="21260" y="91438"/>
                  </a:lnTo>
                  <a:lnTo>
                    <a:pt x="33655" y="44449"/>
                  </a:lnTo>
                  <a:lnTo>
                    <a:pt x="61462" y="14714"/>
                  </a:lnTo>
                  <a:lnTo>
                    <a:pt x="74295" y="9143"/>
                  </a:lnTo>
                  <a:lnTo>
                    <a:pt x="7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4031" y="4052570"/>
              <a:ext cx="434975" cy="291465"/>
            </a:xfrm>
            <a:custGeom>
              <a:avLst/>
              <a:gdLst/>
              <a:ahLst/>
              <a:cxnLst/>
              <a:rect l="l" t="t" r="r" b="b"/>
              <a:pathLst>
                <a:path w="434975" h="291464">
                  <a:moveTo>
                    <a:pt x="358267" y="0"/>
                  </a:moveTo>
                  <a:lnTo>
                    <a:pt x="355346" y="9651"/>
                  </a:lnTo>
                  <a:lnTo>
                    <a:pt x="368681" y="16579"/>
                  </a:lnTo>
                  <a:lnTo>
                    <a:pt x="380301" y="26685"/>
                  </a:lnTo>
                  <a:lnTo>
                    <a:pt x="404806" y="75461"/>
                  </a:lnTo>
                  <a:lnTo>
                    <a:pt x="412097" y="120038"/>
                  </a:lnTo>
                  <a:lnTo>
                    <a:pt x="413004" y="145541"/>
                  </a:lnTo>
                  <a:lnTo>
                    <a:pt x="412097" y="171045"/>
                  </a:lnTo>
                  <a:lnTo>
                    <a:pt x="404806" y="215622"/>
                  </a:lnTo>
                  <a:lnTo>
                    <a:pt x="390207" y="251051"/>
                  </a:lnTo>
                  <a:lnTo>
                    <a:pt x="355346" y="281304"/>
                  </a:lnTo>
                  <a:lnTo>
                    <a:pt x="358267" y="290956"/>
                  </a:lnTo>
                  <a:lnTo>
                    <a:pt x="403808" y="259185"/>
                  </a:lnTo>
                  <a:lnTo>
                    <a:pt x="423469" y="219872"/>
                  </a:lnTo>
                  <a:lnTo>
                    <a:pt x="433462" y="172160"/>
                  </a:lnTo>
                  <a:lnTo>
                    <a:pt x="434721" y="145541"/>
                  </a:lnTo>
                  <a:lnTo>
                    <a:pt x="433518" y="120038"/>
                  </a:lnTo>
                  <a:lnTo>
                    <a:pt x="423469" y="71139"/>
                  </a:lnTo>
                  <a:lnTo>
                    <a:pt x="403808" y="31771"/>
                  </a:lnTo>
                  <a:lnTo>
                    <a:pt x="375527" y="6764"/>
                  </a:lnTo>
                  <a:lnTo>
                    <a:pt x="358267" y="0"/>
                  </a:lnTo>
                  <a:close/>
                </a:path>
                <a:path w="434975" h="291464">
                  <a:moveTo>
                    <a:pt x="76454" y="0"/>
                  </a:moveTo>
                  <a:lnTo>
                    <a:pt x="30894" y="31771"/>
                  </a:lnTo>
                  <a:lnTo>
                    <a:pt x="11197" y="71139"/>
                  </a:lnTo>
                  <a:lnTo>
                    <a:pt x="1240" y="118868"/>
                  </a:lnTo>
                  <a:lnTo>
                    <a:pt x="0" y="145541"/>
                  </a:lnTo>
                  <a:lnTo>
                    <a:pt x="1188" y="171045"/>
                  </a:lnTo>
                  <a:lnTo>
                    <a:pt x="11197" y="219872"/>
                  </a:lnTo>
                  <a:lnTo>
                    <a:pt x="30894" y="259185"/>
                  </a:lnTo>
                  <a:lnTo>
                    <a:pt x="76454" y="290956"/>
                  </a:lnTo>
                  <a:lnTo>
                    <a:pt x="79375" y="281304"/>
                  </a:lnTo>
                  <a:lnTo>
                    <a:pt x="66040" y="274379"/>
                  </a:lnTo>
                  <a:lnTo>
                    <a:pt x="54419" y="264286"/>
                  </a:lnTo>
                  <a:lnTo>
                    <a:pt x="29894" y="215622"/>
                  </a:lnTo>
                  <a:lnTo>
                    <a:pt x="22516" y="171045"/>
                  </a:lnTo>
                  <a:lnTo>
                    <a:pt x="21590" y="145541"/>
                  </a:lnTo>
                  <a:lnTo>
                    <a:pt x="22516" y="120038"/>
                  </a:lnTo>
                  <a:lnTo>
                    <a:pt x="29894" y="75461"/>
                  </a:lnTo>
                  <a:lnTo>
                    <a:pt x="44513" y="39959"/>
                  </a:lnTo>
                  <a:lnTo>
                    <a:pt x="79375" y="9651"/>
                  </a:lnTo>
                  <a:lnTo>
                    <a:pt x="764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06107" y="2253614"/>
          <a:ext cx="6479540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公式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3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21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× 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79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𝒏+𝒎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marL="8940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2025" spc="284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900" spc="1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0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14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6965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21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÷</a:t>
                      </a:r>
                      <a:r>
                        <a:rPr sz="2850" spc="22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79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𝒏−𝒎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473BA"/>
                    </a:solidFill>
                  </a:tcPr>
                </a:tc>
                <a:tc>
                  <a:txBody>
                    <a:bodyPr/>
                    <a:lstStyle/>
                    <a:p>
                      <a:pPr marL="890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2025" spc="284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÷</a:t>
                      </a:r>
                      <a:r>
                        <a:rPr sz="1900" spc="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0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14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003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80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13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3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𝒎</a:t>
                      </a:r>
                      <a:r>
                        <a:rPr sz="1350" spc="3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50" spc="187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50" spc="-37" baseline="-20467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35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𝒏𝒎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90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baseline="28806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254" baseline="28806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2025" baseline="51440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025" spc="457" baseline="514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-37" baseline="28806" dirty="0">
                          <a:latin typeface="Cambria Math"/>
                          <a:cs typeface="Cambria Math"/>
                        </a:rPr>
                        <a:t>𝟔</a:t>
                      </a:r>
                      <a:endParaRPr sz="2025" baseline="28806">
                        <a:latin typeface="Cambria Math"/>
                        <a:cs typeface="Cambria Math"/>
                      </a:endParaRPr>
                    </a:p>
                  </a:txBody>
                  <a:tcPr marL="0" marR="0" marT="1416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815339" y="5268467"/>
            <a:ext cx="9679940" cy="539750"/>
            <a:chOff x="815339" y="5268467"/>
            <a:chExt cx="9679940" cy="539750"/>
          </a:xfrm>
        </p:grpSpPr>
        <p:sp>
          <p:nvSpPr>
            <p:cNvPr id="17" name="object 17"/>
            <p:cNvSpPr/>
            <p:nvPr/>
          </p:nvSpPr>
          <p:spPr>
            <a:xfrm>
              <a:off x="1536953" y="5538977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339" y="5268467"/>
              <a:ext cx="721360" cy="539750"/>
            </a:xfrm>
            <a:custGeom>
              <a:avLst/>
              <a:gdLst/>
              <a:ahLst/>
              <a:cxnLst/>
              <a:rect l="l" t="t" r="r" b="b"/>
              <a:pathLst>
                <a:path w="721360" h="539750">
                  <a:moveTo>
                    <a:pt x="559943" y="0"/>
                  </a:moveTo>
                  <a:lnTo>
                    <a:pt x="160972" y="0"/>
                  </a:lnTo>
                  <a:lnTo>
                    <a:pt x="118180" y="5745"/>
                  </a:lnTo>
                  <a:lnTo>
                    <a:pt x="79727" y="21961"/>
                  </a:lnTo>
                  <a:lnTo>
                    <a:pt x="47148" y="47116"/>
                  </a:lnTo>
                  <a:lnTo>
                    <a:pt x="21978" y="79680"/>
                  </a:lnTo>
                  <a:lnTo>
                    <a:pt x="5750" y="118121"/>
                  </a:lnTo>
                  <a:lnTo>
                    <a:pt x="0" y="160908"/>
                  </a:lnTo>
                  <a:lnTo>
                    <a:pt x="0" y="378523"/>
                  </a:lnTo>
                  <a:lnTo>
                    <a:pt x="5750" y="421315"/>
                  </a:lnTo>
                  <a:lnTo>
                    <a:pt x="21978" y="459768"/>
                  </a:lnTo>
                  <a:lnTo>
                    <a:pt x="47148" y="492347"/>
                  </a:lnTo>
                  <a:lnTo>
                    <a:pt x="79727" y="517517"/>
                  </a:lnTo>
                  <a:lnTo>
                    <a:pt x="118180" y="533745"/>
                  </a:lnTo>
                  <a:lnTo>
                    <a:pt x="160972" y="539495"/>
                  </a:lnTo>
                  <a:lnTo>
                    <a:pt x="559943" y="539495"/>
                  </a:lnTo>
                  <a:lnTo>
                    <a:pt x="602730" y="533745"/>
                  </a:lnTo>
                  <a:lnTo>
                    <a:pt x="641171" y="517517"/>
                  </a:lnTo>
                  <a:lnTo>
                    <a:pt x="673735" y="492347"/>
                  </a:lnTo>
                  <a:lnTo>
                    <a:pt x="698890" y="459768"/>
                  </a:lnTo>
                  <a:lnTo>
                    <a:pt x="715106" y="421315"/>
                  </a:lnTo>
                  <a:lnTo>
                    <a:pt x="720851" y="378523"/>
                  </a:lnTo>
                  <a:lnTo>
                    <a:pt x="720851" y="160908"/>
                  </a:lnTo>
                  <a:lnTo>
                    <a:pt x="715106" y="118121"/>
                  </a:lnTo>
                  <a:lnTo>
                    <a:pt x="698890" y="79680"/>
                  </a:lnTo>
                  <a:lnTo>
                    <a:pt x="673735" y="47116"/>
                  </a:lnTo>
                  <a:lnTo>
                    <a:pt x="641171" y="21961"/>
                  </a:lnTo>
                  <a:lnTo>
                    <a:pt x="602730" y="5745"/>
                  </a:lnTo>
                  <a:lnTo>
                    <a:pt x="55994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8931402" y="4205478"/>
            <a:ext cx="1548765" cy="937260"/>
          </a:xfrm>
          <a:custGeom>
            <a:avLst/>
            <a:gdLst/>
            <a:ahLst/>
            <a:cxnLst/>
            <a:rect l="l" t="t" r="r" b="b"/>
            <a:pathLst>
              <a:path w="1548765" h="937260">
                <a:moveTo>
                  <a:pt x="0" y="0"/>
                </a:moveTo>
                <a:lnTo>
                  <a:pt x="258064" y="0"/>
                </a:lnTo>
                <a:lnTo>
                  <a:pt x="645159" y="0"/>
                </a:lnTo>
                <a:lnTo>
                  <a:pt x="1548383" y="0"/>
                </a:lnTo>
                <a:lnTo>
                  <a:pt x="1548383" y="464947"/>
                </a:lnTo>
                <a:lnTo>
                  <a:pt x="1548383" y="664210"/>
                </a:lnTo>
                <a:lnTo>
                  <a:pt x="1548383" y="797052"/>
                </a:lnTo>
                <a:lnTo>
                  <a:pt x="645159" y="797052"/>
                </a:lnTo>
                <a:lnTo>
                  <a:pt x="482980" y="937133"/>
                </a:lnTo>
                <a:lnTo>
                  <a:pt x="258064" y="797052"/>
                </a:lnTo>
                <a:lnTo>
                  <a:pt x="0" y="797052"/>
                </a:lnTo>
                <a:lnTo>
                  <a:pt x="0" y="664210"/>
                </a:lnTo>
                <a:lnTo>
                  <a:pt x="0" y="46494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63608" y="4247134"/>
            <a:ext cx="12858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00"/>
              </a:spcBef>
              <a:buAutoNum type="arabicPlain" startAt="2"/>
              <a:tabLst>
                <a:tab pos="253365" algn="l"/>
              </a:tabLst>
            </a:pPr>
            <a:r>
              <a:rPr sz="2000" spc="-15" dirty="0">
                <a:latin typeface="メイリオ"/>
                <a:cs typeface="メイリオ"/>
              </a:rPr>
              <a:t>歩進むを</a:t>
            </a:r>
            <a:endParaRPr sz="2000">
              <a:latin typeface="メイリオ"/>
              <a:cs typeface="メイリオ"/>
            </a:endParaRPr>
          </a:p>
          <a:p>
            <a:pPr marL="379730" indent="-240665">
              <a:lnSpc>
                <a:spcPct val="100000"/>
              </a:lnSpc>
              <a:buAutoNum type="arabicPlain" startAt="2"/>
              <a:tabLst>
                <a:tab pos="379730" algn="l"/>
              </a:tabLst>
            </a:pPr>
            <a:r>
              <a:rPr sz="2000" spc="-20" dirty="0">
                <a:latin typeface="メイリオ"/>
                <a:cs typeface="メイリオ"/>
              </a:rPr>
              <a:t>回やる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3460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96083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5" h="539750">
                <a:moveTo>
                  <a:pt x="558419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7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9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1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8" y="378523"/>
                </a:lnTo>
                <a:lnTo>
                  <a:pt x="719328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397251" y="5290184"/>
            <a:ext cx="29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76828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9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9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1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7" y="378523"/>
                </a:lnTo>
                <a:lnTo>
                  <a:pt x="719327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74694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57571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7" y="378523"/>
                </a:lnTo>
                <a:lnTo>
                  <a:pt x="719327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155438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38315" y="5268467"/>
            <a:ext cx="719455" cy="539750"/>
          </a:xfrm>
          <a:custGeom>
            <a:avLst/>
            <a:gdLst/>
            <a:ahLst/>
            <a:cxnLst/>
            <a:rect l="l" t="t" r="r" b="b"/>
            <a:pathLst>
              <a:path w="719454" h="539750">
                <a:moveTo>
                  <a:pt x="558418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8418" y="539495"/>
                </a:lnTo>
                <a:lnTo>
                  <a:pt x="601206" y="533745"/>
                </a:lnTo>
                <a:lnTo>
                  <a:pt x="639647" y="517517"/>
                </a:lnTo>
                <a:lnTo>
                  <a:pt x="672210" y="492347"/>
                </a:lnTo>
                <a:lnTo>
                  <a:pt x="697366" y="459768"/>
                </a:lnTo>
                <a:lnTo>
                  <a:pt x="713582" y="421315"/>
                </a:lnTo>
                <a:lnTo>
                  <a:pt x="719328" y="378523"/>
                </a:lnTo>
                <a:lnTo>
                  <a:pt x="719328" y="160908"/>
                </a:lnTo>
                <a:lnTo>
                  <a:pt x="713582" y="118121"/>
                </a:lnTo>
                <a:lnTo>
                  <a:pt x="697366" y="79680"/>
                </a:lnTo>
                <a:lnTo>
                  <a:pt x="672211" y="47116"/>
                </a:lnTo>
                <a:lnTo>
                  <a:pt x="639647" y="21961"/>
                </a:lnTo>
                <a:lnTo>
                  <a:pt x="601206" y="5745"/>
                </a:lnTo>
                <a:lnTo>
                  <a:pt x="5584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36181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17535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4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2" y="378523"/>
                </a:lnTo>
                <a:lnTo>
                  <a:pt x="720852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5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916926" y="5291708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098280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9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7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6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9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297289" y="5290184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79023" y="5268467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59" h="539750">
                <a:moveTo>
                  <a:pt x="559943" y="0"/>
                </a:moveTo>
                <a:lnTo>
                  <a:pt x="160908" y="0"/>
                </a:lnTo>
                <a:lnTo>
                  <a:pt x="118121" y="5745"/>
                </a:lnTo>
                <a:lnTo>
                  <a:pt x="79680" y="21961"/>
                </a:lnTo>
                <a:lnTo>
                  <a:pt x="47116" y="47116"/>
                </a:lnTo>
                <a:lnTo>
                  <a:pt x="21961" y="79680"/>
                </a:lnTo>
                <a:lnTo>
                  <a:pt x="5745" y="118121"/>
                </a:lnTo>
                <a:lnTo>
                  <a:pt x="0" y="160908"/>
                </a:lnTo>
                <a:lnTo>
                  <a:pt x="0" y="378523"/>
                </a:lnTo>
                <a:lnTo>
                  <a:pt x="5745" y="421315"/>
                </a:lnTo>
                <a:lnTo>
                  <a:pt x="21961" y="459768"/>
                </a:lnTo>
                <a:lnTo>
                  <a:pt x="47117" y="492347"/>
                </a:lnTo>
                <a:lnTo>
                  <a:pt x="79680" y="517517"/>
                </a:lnTo>
                <a:lnTo>
                  <a:pt x="118121" y="533745"/>
                </a:lnTo>
                <a:lnTo>
                  <a:pt x="160908" y="539495"/>
                </a:lnTo>
                <a:lnTo>
                  <a:pt x="559943" y="539495"/>
                </a:lnTo>
                <a:lnTo>
                  <a:pt x="602730" y="533745"/>
                </a:lnTo>
                <a:lnTo>
                  <a:pt x="641171" y="517517"/>
                </a:lnTo>
                <a:lnTo>
                  <a:pt x="673735" y="492347"/>
                </a:lnTo>
                <a:lnTo>
                  <a:pt x="698890" y="459768"/>
                </a:lnTo>
                <a:lnTo>
                  <a:pt x="715106" y="421315"/>
                </a:lnTo>
                <a:lnTo>
                  <a:pt x="720851" y="378523"/>
                </a:lnTo>
                <a:lnTo>
                  <a:pt x="720851" y="160908"/>
                </a:lnTo>
                <a:lnTo>
                  <a:pt x="715106" y="118121"/>
                </a:lnTo>
                <a:lnTo>
                  <a:pt x="698890" y="79680"/>
                </a:lnTo>
                <a:lnTo>
                  <a:pt x="673734" y="47116"/>
                </a:lnTo>
                <a:lnTo>
                  <a:pt x="641171" y="21961"/>
                </a:lnTo>
                <a:lnTo>
                  <a:pt x="602730" y="5745"/>
                </a:lnTo>
                <a:lnTo>
                  <a:pt x="5599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678032" y="528866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0061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300" spc="-25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587246" y="5308091"/>
            <a:ext cx="7467600" cy="132715"/>
            <a:chOff x="1587246" y="5308091"/>
            <a:chExt cx="7467600" cy="132715"/>
          </a:xfrm>
        </p:grpSpPr>
        <p:sp>
          <p:nvSpPr>
            <p:cNvPr id="37" name="object 37"/>
            <p:cNvSpPr/>
            <p:nvPr/>
          </p:nvSpPr>
          <p:spPr>
            <a:xfrm>
              <a:off x="1587246" y="5308091"/>
              <a:ext cx="1959610" cy="132715"/>
            </a:xfrm>
            <a:custGeom>
              <a:avLst/>
              <a:gdLst/>
              <a:ahLst/>
              <a:cxnLst/>
              <a:rect l="l" t="t" r="r" b="b"/>
              <a:pathLst>
                <a:path w="195961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59610" h="132714">
                  <a:moveTo>
                    <a:pt x="1959356" y="66294"/>
                  </a:moveTo>
                  <a:lnTo>
                    <a:pt x="1934743" y="51943"/>
                  </a:lnTo>
                  <a:lnTo>
                    <a:pt x="1845691" y="0"/>
                  </a:lnTo>
                  <a:lnTo>
                    <a:pt x="1836928" y="2286"/>
                  </a:lnTo>
                  <a:lnTo>
                    <a:pt x="1832864" y="9144"/>
                  </a:lnTo>
                  <a:lnTo>
                    <a:pt x="1828927" y="15875"/>
                  </a:lnTo>
                  <a:lnTo>
                    <a:pt x="1831213" y="24638"/>
                  </a:lnTo>
                  <a:lnTo>
                    <a:pt x="1878063" y="51943"/>
                  </a:lnTo>
                  <a:lnTo>
                    <a:pt x="1405128" y="51943"/>
                  </a:lnTo>
                  <a:lnTo>
                    <a:pt x="1405128" y="80518"/>
                  </a:lnTo>
                  <a:lnTo>
                    <a:pt x="1878279" y="80518"/>
                  </a:lnTo>
                  <a:lnTo>
                    <a:pt x="1831213" y="107950"/>
                  </a:lnTo>
                  <a:lnTo>
                    <a:pt x="1828927" y="116713"/>
                  </a:lnTo>
                  <a:lnTo>
                    <a:pt x="1832864" y="123444"/>
                  </a:lnTo>
                  <a:lnTo>
                    <a:pt x="1836928" y="130302"/>
                  </a:lnTo>
                  <a:lnTo>
                    <a:pt x="1845691" y="132588"/>
                  </a:lnTo>
                  <a:lnTo>
                    <a:pt x="1934959" y="80518"/>
                  </a:lnTo>
                  <a:lnTo>
                    <a:pt x="1959356" y="66294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62450" y="5308091"/>
              <a:ext cx="1941195" cy="132715"/>
            </a:xfrm>
            <a:custGeom>
              <a:avLst/>
              <a:gdLst/>
              <a:ahLst/>
              <a:cxnLst/>
              <a:rect l="l" t="t" r="r" b="b"/>
              <a:pathLst>
                <a:path w="1941195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41195" h="132714">
                  <a:moveTo>
                    <a:pt x="1941068" y="66294"/>
                  </a:moveTo>
                  <a:lnTo>
                    <a:pt x="1916455" y="51943"/>
                  </a:lnTo>
                  <a:lnTo>
                    <a:pt x="1827403" y="0"/>
                  </a:lnTo>
                  <a:lnTo>
                    <a:pt x="1818640" y="2286"/>
                  </a:lnTo>
                  <a:lnTo>
                    <a:pt x="1814576" y="9144"/>
                  </a:lnTo>
                  <a:lnTo>
                    <a:pt x="1810639" y="15875"/>
                  </a:lnTo>
                  <a:lnTo>
                    <a:pt x="1812925" y="24638"/>
                  </a:lnTo>
                  <a:lnTo>
                    <a:pt x="1859775" y="51943"/>
                  </a:lnTo>
                  <a:lnTo>
                    <a:pt x="1386840" y="51943"/>
                  </a:lnTo>
                  <a:lnTo>
                    <a:pt x="1386840" y="80518"/>
                  </a:lnTo>
                  <a:lnTo>
                    <a:pt x="1859991" y="80518"/>
                  </a:lnTo>
                  <a:lnTo>
                    <a:pt x="1812925" y="107950"/>
                  </a:lnTo>
                  <a:lnTo>
                    <a:pt x="1810639" y="116713"/>
                  </a:lnTo>
                  <a:lnTo>
                    <a:pt x="1814576" y="123444"/>
                  </a:lnTo>
                  <a:lnTo>
                    <a:pt x="1818640" y="130302"/>
                  </a:lnTo>
                  <a:lnTo>
                    <a:pt x="1827403" y="132588"/>
                  </a:lnTo>
                  <a:lnTo>
                    <a:pt x="1916671" y="80518"/>
                  </a:lnTo>
                  <a:lnTo>
                    <a:pt x="1941068" y="66294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16318" y="5308091"/>
              <a:ext cx="1938020" cy="132715"/>
            </a:xfrm>
            <a:custGeom>
              <a:avLst/>
              <a:gdLst/>
              <a:ahLst/>
              <a:cxnLst/>
              <a:rect l="l" t="t" r="r" b="b"/>
              <a:pathLst>
                <a:path w="193802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38020" h="132714">
                  <a:moveTo>
                    <a:pt x="1938020" y="66294"/>
                  </a:moveTo>
                  <a:lnTo>
                    <a:pt x="1913407" y="51943"/>
                  </a:lnTo>
                  <a:lnTo>
                    <a:pt x="1824355" y="0"/>
                  </a:lnTo>
                  <a:lnTo>
                    <a:pt x="1815592" y="2286"/>
                  </a:lnTo>
                  <a:lnTo>
                    <a:pt x="1811528" y="9144"/>
                  </a:lnTo>
                  <a:lnTo>
                    <a:pt x="1807591" y="15875"/>
                  </a:lnTo>
                  <a:lnTo>
                    <a:pt x="1809877" y="24638"/>
                  </a:lnTo>
                  <a:lnTo>
                    <a:pt x="1856727" y="51943"/>
                  </a:lnTo>
                  <a:lnTo>
                    <a:pt x="1383792" y="51943"/>
                  </a:lnTo>
                  <a:lnTo>
                    <a:pt x="1383792" y="80518"/>
                  </a:lnTo>
                  <a:lnTo>
                    <a:pt x="1856943" y="80518"/>
                  </a:lnTo>
                  <a:lnTo>
                    <a:pt x="1809877" y="107950"/>
                  </a:lnTo>
                  <a:lnTo>
                    <a:pt x="1807591" y="116713"/>
                  </a:lnTo>
                  <a:lnTo>
                    <a:pt x="1811528" y="123444"/>
                  </a:lnTo>
                  <a:lnTo>
                    <a:pt x="1815592" y="130302"/>
                  </a:lnTo>
                  <a:lnTo>
                    <a:pt x="1824355" y="132588"/>
                  </a:lnTo>
                  <a:lnTo>
                    <a:pt x="1913623" y="80518"/>
                  </a:lnTo>
                  <a:lnTo>
                    <a:pt x="1938020" y="66294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61461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AC1381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AC1381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0496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8291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×2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補足：対数関数の公式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134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06107" y="2253614"/>
          <a:ext cx="6479540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公式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3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3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5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𝑵𝑴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</a:txBody>
                  <a:tcPr marL="0" marR="0" marT="129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9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87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latin typeface="Cambria Math"/>
                          <a:cs typeface="Cambria Math"/>
                        </a:rPr>
                        <a:t>𝟏𝟐𝟖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481965" marR="539750" indent="2042160">
                        <a:lnSpc>
                          <a:spcPct val="63900"/>
                        </a:lnSpc>
                        <a:spcBef>
                          <a:spcPts val="77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550" spc="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325" spc="-75" baseline="-3763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endParaRPr sz="2325" baseline="-37634">
                        <a:latin typeface="Cambria Math"/>
                        <a:cs typeface="Cambria Math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9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900" spc="2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2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3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550" spc="3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10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1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spc="-1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(𝑵</a:t>
                      </a:r>
                      <a:r>
                        <a:rPr sz="1725" spc="-15" baseline="2898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)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</a:txBody>
                  <a:tcPr marL="0" marR="0" marT="1295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900" spc="1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900" spc="1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900" spc="1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3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𝟔𝟒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324859" y="3639946"/>
            <a:ext cx="182880" cy="13970"/>
          </a:xfrm>
          <a:custGeom>
            <a:avLst/>
            <a:gdLst/>
            <a:ahLst/>
            <a:cxnLst/>
            <a:rect l="l" t="t" r="r" b="b"/>
            <a:pathLst>
              <a:path w="182879" h="13970">
                <a:moveTo>
                  <a:pt x="182879" y="0"/>
                </a:moveTo>
                <a:lnTo>
                  <a:pt x="0" y="0"/>
                </a:lnTo>
                <a:lnTo>
                  <a:pt x="0" y="13715"/>
                </a:lnTo>
                <a:lnTo>
                  <a:pt x="182879" y="13715"/>
                </a:lnTo>
                <a:lnTo>
                  <a:pt x="182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85509" y="6400038"/>
            <a:ext cx="6207125" cy="0"/>
          </a:xfrm>
          <a:custGeom>
            <a:avLst/>
            <a:gdLst/>
            <a:ahLst/>
            <a:cxnLst/>
            <a:rect l="l" t="t" r="r" b="b"/>
            <a:pathLst>
              <a:path w="6207125">
                <a:moveTo>
                  <a:pt x="0" y="0"/>
                </a:moveTo>
                <a:lnTo>
                  <a:pt x="6206870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68839" y="6570980"/>
            <a:ext cx="946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6884" y="6616700"/>
            <a:ext cx="3848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050" baseline="-15873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spc="397" baseline="-15873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7566" y="6499352"/>
            <a:ext cx="5452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※少し難しいが、対数関数には「底の変換公式」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200" spc="190" dirty="0">
                <a:solidFill>
                  <a:srgbClr val="A6A6A6"/>
                </a:solidFill>
                <a:latin typeface="Cambria Math"/>
                <a:cs typeface="Cambria Math"/>
              </a:rPr>
              <a:t> 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𝒃</a:t>
            </a:r>
            <a:r>
              <a:rPr sz="1200" spc="65" dirty="0">
                <a:solidFill>
                  <a:srgbClr val="A6A6A6"/>
                </a:solidFill>
                <a:latin typeface="Cambria Math"/>
                <a:cs typeface="Cambria Math"/>
              </a:rPr>
              <a:t> =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log</a:t>
            </a:r>
            <a:r>
              <a:rPr sz="1050" u="none" baseline="43650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u="none" spc="135" baseline="4365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𝒃</a:t>
            </a:r>
            <a:r>
              <a:rPr sz="1275" u="none" spc="397" baseline="4575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u="none" spc="-10" dirty="0">
                <a:solidFill>
                  <a:srgbClr val="A6A6A6"/>
                </a:solidFill>
                <a:latin typeface="メイリオ"/>
                <a:cs typeface="メイリオ"/>
              </a:rPr>
              <a:t>も知られている</a:t>
            </a:r>
            <a:endParaRPr sz="1200">
              <a:latin typeface="メイリオ"/>
              <a:cs typeface="メイリオ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5339" y="5177028"/>
            <a:ext cx="9679940" cy="719455"/>
            <a:chOff x="815339" y="5177028"/>
            <a:chExt cx="9679940" cy="719455"/>
          </a:xfrm>
        </p:grpSpPr>
        <p:sp>
          <p:nvSpPr>
            <p:cNvPr id="17" name="object 17"/>
            <p:cNvSpPr/>
            <p:nvPr/>
          </p:nvSpPr>
          <p:spPr>
            <a:xfrm>
              <a:off x="1536953" y="5537454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339" y="5177028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506222" y="0"/>
                  </a:moveTo>
                  <a:lnTo>
                    <a:pt x="214629" y="0"/>
                  </a:lnTo>
                  <a:lnTo>
                    <a:pt x="165415" y="5670"/>
                  </a:lnTo>
                  <a:lnTo>
                    <a:pt x="120239" y="21823"/>
                  </a:lnTo>
                  <a:lnTo>
                    <a:pt x="80387" y="47166"/>
                  </a:lnTo>
                  <a:lnTo>
                    <a:pt x="47150" y="80409"/>
                  </a:lnTo>
                  <a:lnTo>
                    <a:pt x="21814" y="120261"/>
                  </a:lnTo>
                  <a:lnTo>
                    <a:pt x="5668" y="165431"/>
                  </a:lnTo>
                  <a:lnTo>
                    <a:pt x="0" y="214630"/>
                  </a:lnTo>
                  <a:lnTo>
                    <a:pt x="0" y="504698"/>
                  </a:lnTo>
                  <a:lnTo>
                    <a:pt x="5668" y="553912"/>
                  </a:lnTo>
                  <a:lnTo>
                    <a:pt x="21814" y="599088"/>
                  </a:lnTo>
                  <a:lnTo>
                    <a:pt x="47150" y="638940"/>
                  </a:lnTo>
                  <a:lnTo>
                    <a:pt x="80387" y="672177"/>
                  </a:lnTo>
                  <a:lnTo>
                    <a:pt x="120239" y="697513"/>
                  </a:lnTo>
                  <a:lnTo>
                    <a:pt x="165415" y="713659"/>
                  </a:lnTo>
                  <a:lnTo>
                    <a:pt x="214629" y="719328"/>
                  </a:lnTo>
                  <a:lnTo>
                    <a:pt x="506222" y="719328"/>
                  </a:lnTo>
                  <a:lnTo>
                    <a:pt x="555420" y="713659"/>
                  </a:lnTo>
                  <a:lnTo>
                    <a:pt x="600590" y="697513"/>
                  </a:lnTo>
                  <a:lnTo>
                    <a:pt x="640442" y="672177"/>
                  </a:lnTo>
                  <a:lnTo>
                    <a:pt x="673685" y="638940"/>
                  </a:lnTo>
                  <a:lnTo>
                    <a:pt x="699028" y="599088"/>
                  </a:lnTo>
                  <a:lnTo>
                    <a:pt x="715181" y="553912"/>
                  </a:lnTo>
                  <a:lnTo>
                    <a:pt x="720851" y="504698"/>
                  </a:lnTo>
                  <a:lnTo>
                    <a:pt x="720851" y="214630"/>
                  </a:lnTo>
                  <a:lnTo>
                    <a:pt x="715181" y="165431"/>
                  </a:lnTo>
                  <a:lnTo>
                    <a:pt x="699028" y="120261"/>
                  </a:lnTo>
                  <a:lnTo>
                    <a:pt x="673685" y="80409"/>
                  </a:lnTo>
                  <a:lnTo>
                    <a:pt x="640442" y="47166"/>
                  </a:lnTo>
                  <a:lnTo>
                    <a:pt x="600590" y="21823"/>
                  </a:lnTo>
                  <a:lnTo>
                    <a:pt x="555420" y="5670"/>
                  </a:lnTo>
                  <a:lnTo>
                    <a:pt x="50622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0269473" y="4114038"/>
            <a:ext cx="1546860" cy="935355"/>
          </a:xfrm>
          <a:custGeom>
            <a:avLst/>
            <a:gdLst/>
            <a:ahLst/>
            <a:cxnLst/>
            <a:rect l="l" t="t" r="r" b="b"/>
            <a:pathLst>
              <a:path w="1546859" h="935354">
                <a:moveTo>
                  <a:pt x="0" y="0"/>
                </a:moveTo>
                <a:lnTo>
                  <a:pt x="257809" y="0"/>
                </a:lnTo>
                <a:lnTo>
                  <a:pt x="644525" y="0"/>
                </a:lnTo>
                <a:lnTo>
                  <a:pt x="1546859" y="0"/>
                </a:lnTo>
                <a:lnTo>
                  <a:pt x="1546859" y="464057"/>
                </a:lnTo>
                <a:lnTo>
                  <a:pt x="1546859" y="662939"/>
                </a:lnTo>
                <a:lnTo>
                  <a:pt x="1546859" y="795528"/>
                </a:lnTo>
                <a:lnTo>
                  <a:pt x="644525" y="795528"/>
                </a:lnTo>
                <a:lnTo>
                  <a:pt x="482473" y="935355"/>
                </a:lnTo>
                <a:lnTo>
                  <a:pt x="257809" y="795528"/>
                </a:lnTo>
                <a:lnTo>
                  <a:pt x="0" y="795528"/>
                </a:lnTo>
                <a:lnTo>
                  <a:pt x="0" y="662939"/>
                </a:lnTo>
                <a:lnTo>
                  <a:pt x="0" y="46405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400538" y="4155185"/>
            <a:ext cx="1287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メイリオ"/>
                <a:cs typeface="メイリオ"/>
              </a:rPr>
              <a:t>4</a:t>
            </a:r>
            <a:r>
              <a:rPr sz="2000" spc="-20" dirty="0">
                <a:latin typeface="メイリオ"/>
                <a:cs typeface="メイリオ"/>
              </a:rPr>
              <a:t> 歩進んで</a:t>
            </a:r>
            <a:endParaRPr sz="2000">
              <a:latin typeface="メイリオ"/>
              <a:cs typeface="メイリオ"/>
            </a:endParaRPr>
          </a:p>
          <a:p>
            <a:pPr marL="139065">
              <a:lnSpc>
                <a:spcPct val="100000"/>
              </a:lnSpc>
            </a:pPr>
            <a:r>
              <a:rPr sz="2000" dirty="0">
                <a:latin typeface="メイリオ"/>
                <a:cs typeface="メイリオ"/>
              </a:rPr>
              <a:t>3</a:t>
            </a:r>
            <a:r>
              <a:rPr sz="2000" spc="-20" dirty="0">
                <a:latin typeface="メイリオ"/>
                <a:cs typeface="メイリオ"/>
              </a:rPr>
              <a:t> 歩進む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9827" y="5297804"/>
            <a:ext cx="52133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0033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96083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5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90572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98267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76828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7131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79011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57571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05180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59502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338315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382258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40245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17535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2" y="504698"/>
                </a:lnTo>
                <a:lnTo>
                  <a:pt x="720852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763002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32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20990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098280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143745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64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01733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479023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475341" y="5297804"/>
            <a:ext cx="721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128</a:t>
            </a:r>
            <a:endParaRPr sz="1400">
              <a:latin typeface="Cambria Math"/>
              <a:cs typeface="Cambria Math"/>
            </a:endParaRPr>
          </a:p>
          <a:p>
            <a:pPr marL="3048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87246" y="5308091"/>
            <a:ext cx="8851265" cy="132715"/>
            <a:chOff x="1587246" y="5308091"/>
            <a:chExt cx="8851265" cy="132715"/>
          </a:xfrm>
        </p:grpSpPr>
        <p:sp>
          <p:nvSpPr>
            <p:cNvPr id="43" name="object 43"/>
            <p:cNvSpPr/>
            <p:nvPr/>
          </p:nvSpPr>
          <p:spPr>
            <a:xfrm>
              <a:off x="1587246" y="5308091"/>
              <a:ext cx="4716780" cy="132715"/>
            </a:xfrm>
            <a:custGeom>
              <a:avLst/>
              <a:gdLst/>
              <a:ahLst/>
              <a:cxnLst/>
              <a:rect l="l" t="t" r="r" b="b"/>
              <a:pathLst>
                <a:path w="471678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4716780" h="132714">
                  <a:moveTo>
                    <a:pt x="1959356" y="66294"/>
                  </a:moveTo>
                  <a:lnTo>
                    <a:pt x="1934743" y="51943"/>
                  </a:lnTo>
                  <a:lnTo>
                    <a:pt x="1845691" y="0"/>
                  </a:lnTo>
                  <a:lnTo>
                    <a:pt x="1836928" y="2286"/>
                  </a:lnTo>
                  <a:lnTo>
                    <a:pt x="1832864" y="9144"/>
                  </a:lnTo>
                  <a:lnTo>
                    <a:pt x="1828927" y="15875"/>
                  </a:lnTo>
                  <a:lnTo>
                    <a:pt x="1831213" y="24638"/>
                  </a:lnTo>
                  <a:lnTo>
                    <a:pt x="1878063" y="51943"/>
                  </a:lnTo>
                  <a:lnTo>
                    <a:pt x="1405128" y="51943"/>
                  </a:lnTo>
                  <a:lnTo>
                    <a:pt x="1405128" y="80518"/>
                  </a:lnTo>
                  <a:lnTo>
                    <a:pt x="1878279" y="80518"/>
                  </a:lnTo>
                  <a:lnTo>
                    <a:pt x="1831213" y="107950"/>
                  </a:lnTo>
                  <a:lnTo>
                    <a:pt x="1828927" y="116713"/>
                  </a:lnTo>
                  <a:lnTo>
                    <a:pt x="1832864" y="123444"/>
                  </a:lnTo>
                  <a:lnTo>
                    <a:pt x="1836928" y="130302"/>
                  </a:lnTo>
                  <a:lnTo>
                    <a:pt x="1845691" y="132588"/>
                  </a:lnTo>
                  <a:lnTo>
                    <a:pt x="1934959" y="80518"/>
                  </a:lnTo>
                  <a:lnTo>
                    <a:pt x="1959356" y="66294"/>
                  </a:lnTo>
                  <a:close/>
                </a:path>
                <a:path w="4716780" h="132714">
                  <a:moveTo>
                    <a:pt x="3329432" y="66294"/>
                  </a:moveTo>
                  <a:lnTo>
                    <a:pt x="3304819" y="51943"/>
                  </a:lnTo>
                  <a:lnTo>
                    <a:pt x="3215767" y="0"/>
                  </a:lnTo>
                  <a:lnTo>
                    <a:pt x="3207004" y="2286"/>
                  </a:lnTo>
                  <a:lnTo>
                    <a:pt x="3202940" y="9144"/>
                  </a:lnTo>
                  <a:lnTo>
                    <a:pt x="3199003" y="15875"/>
                  </a:lnTo>
                  <a:lnTo>
                    <a:pt x="3201289" y="24638"/>
                  </a:lnTo>
                  <a:lnTo>
                    <a:pt x="3248139" y="51943"/>
                  </a:lnTo>
                  <a:lnTo>
                    <a:pt x="2775204" y="51943"/>
                  </a:lnTo>
                  <a:lnTo>
                    <a:pt x="2775204" y="80518"/>
                  </a:lnTo>
                  <a:lnTo>
                    <a:pt x="3248355" y="80518"/>
                  </a:lnTo>
                  <a:lnTo>
                    <a:pt x="3201289" y="107950"/>
                  </a:lnTo>
                  <a:lnTo>
                    <a:pt x="3199003" y="116713"/>
                  </a:lnTo>
                  <a:lnTo>
                    <a:pt x="3202940" y="123444"/>
                  </a:lnTo>
                  <a:lnTo>
                    <a:pt x="3207004" y="130302"/>
                  </a:lnTo>
                  <a:lnTo>
                    <a:pt x="3215767" y="132588"/>
                  </a:lnTo>
                  <a:lnTo>
                    <a:pt x="3305035" y="80518"/>
                  </a:lnTo>
                  <a:lnTo>
                    <a:pt x="3329432" y="66294"/>
                  </a:lnTo>
                  <a:close/>
                </a:path>
                <a:path w="4716780" h="132714">
                  <a:moveTo>
                    <a:pt x="4716272" y="66294"/>
                  </a:moveTo>
                  <a:lnTo>
                    <a:pt x="4691659" y="51943"/>
                  </a:lnTo>
                  <a:lnTo>
                    <a:pt x="4602607" y="0"/>
                  </a:lnTo>
                  <a:lnTo>
                    <a:pt x="4593844" y="2286"/>
                  </a:lnTo>
                  <a:lnTo>
                    <a:pt x="4589780" y="9144"/>
                  </a:lnTo>
                  <a:lnTo>
                    <a:pt x="4585843" y="15875"/>
                  </a:lnTo>
                  <a:lnTo>
                    <a:pt x="4588129" y="24638"/>
                  </a:lnTo>
                  <a:lnTo>
                    <a:pt x="4634979" y="51943"/>
                  </a:lnTo>
                  <a:lnTo>
                    <a:pt x="4162044" y="51943"/>
                  </a:lnTo>
                  <a:lnTo>
                    <a:pt x="4162044" y="80518"/>
                  </a:lnTo>
                  <a:lnTo>
                    <a:pt x="4635195" y="80518"/>
                  </a:lnTo>
                  <a:lnTo>
                    <a:pt x="4588129" y="107950"/>
                  </a:lnTo>
                  <a:lnTo>
                    <a:pt x="4585843" y="116713"/>
                  </a:lnTo>
                  <a:lnTo>
                    <a:pt x="4589780" y="123444"/>
                  </a:lnTo>
                  <a:lnTo>
                    <a:pt x="4593844" y="130302"/>
                  </a:lnTo>
                  <a:lnTo>
                    <a:pt x="4602607" y="132588"/>
                  </a:lnTo>
                  <a:lnTo>
                    <a:pt x="4691875" y="80518"/>
                  </a:lnTo>
                  <a:lnTo>
                    <a:pt x="4716272" y="66294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16318" y="5308091"/>
              <a:ext cx="3322320" cy="132715"/>
            </a:xfrm>
            <a:custGeom>
              <a:avLst/>
              <a:gdLst/>
              <a:ahLst/>
              <a:cxnLst/>
              <a:rect l="l" t="t" r="r" b="b"/>
              <a:pathLst>
                <a:path w="332232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3322320" h="132714">
                  <a:moveTo>
                    <a:pt x="1938020" y="66294"/>
                  </a:moveTo>
                  <a:lnTo>
                    <a:pt x="1913407" y="51943"/>
                  </a:lnTo>
                  <a:lnTo>
                    <a:pt x="1824355" y="0"/>
                  </a:lnTo>
                  <a:lnTo>
                    <a:pt x="1815592" y="2286"/>
                  </a:lnTo>
                  <a:lnTo>
                    <a:pt x="1811528" y="9144"/>
                  </a:lnTo>
                  <a:lnTo>
                    <a:pt x="1807591" y="15875"/>
                  </a:lnTo>
                  <a:lnTo>
                    <a:pt x="1809877" y="24638"/>
                  </a:lnTo>
                  <a:lnTo>
                    <a:pt x="1856727" y="51943"/>
                  </a:lnTo>
                  <a:lnTo>
                    <a:pt x="1383792" y="51943"/>
                  </a:lnTo>
                  <a:lnTo>
                    <a:pt x="1383792" y="80518"/>
                  </a:lnTo>
                  <a:lnTo>
                    <a:pt x="1856943" y="80518"/>
                  </a:lnTo>
                  <a:lnTo>
                    <a:pt x="1809877" y="107950"/>
                  </a:lnTo>
                  <a:lnTo>
                    <a:pt x="1807591" y="116713"/>
                  </a:lnTo>
                  <a:lnTo>
                    <a:pt x="1811528" y="123444"/>
                  </a:lnTo>
                  <a:lnTo>
                    <a:pt x="1815592" y="130302"/>
                  </a:lnTo>
                  <a:lnTo>
                    <a:pt x="1824355" y="132588"/>
                  </a:lnTo>
                  <a:lnTo>
                    <a:pt x="1913623" y="80518"/>
                  </a:lnTo>
                  <a:lnTo>
                    <a:pt x="1938020" y="66294"/>
                  </a:lnTo>
                  <a:close/>
                </a:path>
                <a:path w="3322320" h="132714">
                  <a:moveTo>
                    <a:pt x="3321812" y="66294"/>
                  </a:moveTo>
                  <a:lnTo>
                    <a:pt x="3297199" y="51943"/>
                  </a:lnTo>
                  <a:lnTo>
                    <a:pt x="3208147" y="0"/>
                  </a:lnTo>
                  <a:lnTo>
                    <a:pt x="3199384" y="2286"/>
                  </a:lnTo>
                  <a:lnTo>
                    <a:pt x="3195320" y="9144"/>
                  </a:lnTo>
                  <a:lnTo>
                    <a:pt x="3191383" y="15875"/>
                  </a:lnTo>
                  <a:lnTo>
                    <a:pt x="3193669" y="24638"/>
                  </a:lnTo>
                  <a:lnTo>
                    <a:pt x="3240519" y="51943"/>
                  </a:lnTo>
                  <a:lnTo>
                    <a:pt x="2767584" y="51943"/>
                  </a:lnTo>
                  <a:lnTo>
                    <a:pt x="2767584" y="80518"/>
                  </a:lnTo>
                  <a:lnTo>
                    <a:pt x="3240735" y="80518"/>
                  </a:lnTo>
                  <a:lnTo>
                    <a:pt x="3193669" y="107950"/>
                  </a:lnTo>
                  <a:lnTo>
                    <a:pt x="3191383" y="116713"/>
                  </a:lnTo>
                  <a:lnTo>
                    <a:pt x="3195320" y="123444"/>
                  </a:lnTo>
                  <a:lnTo>
                    <a:pt x="3199384" y="130302"/>
                  </a:lnTo>
                  <a:lnTo>
                    <a:pt x="3208147" y="132588"/>
                  </a:lnTo>
                  <a:lnTo>
                    <a:pt x="3297415" y="80518"/>
                  </a:lnTo>
                  <a:lnTo>
                    <a:pt x="3321812" y="66294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61461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0496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8291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960991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251572" y="2263901"/>
            <a:ext cx="4211320" cy="719455"/>
          </a:xfrm>
          <a:custGeom>
            <a:avLst/>
            <a:gdLst/>
            <a:ahLst/>
            <a:cxnLst/>
            <a:rect l="l" t="t" r="r" b="b"/>
            <a:pathLst>
              <a:path w="4211320" h="719455">
                <a:moveTo>
                  <a:pt x="200025" y="0"/>
                </a:moveTo>
                <a:lnTo>
                  <a:pt x="868552" y="0"/>
                </a:lnTo>
                <a:lnTo>
                  <a:pt x="1871345" y="0"/>
                </a:lnTo>
                <a:lnTo>
                  <a:pt x="4211193" y="0"/>
                </a:lnTo>
                <a:lnTo>
                  <a:pt x="4211193" y="419608"/>
                </a:lnTo>
                <a:lnTo>
                  <a:pt x="4211193" y="599439"/>
                </a:lnTo>
                <a:lnTo>
                  <a:pt x="4211193" y="719327"/>
                </a:lnTo>
                <a:lnTo>
                  <a:pt x="1871345" y="719327"/>
                </a:lnTo>
                <a:lnTo>
                  <a:pt x="868552" y="719327"/>
                </a:lnTo>
                <a:lnTo>
                  <a:pt x="200025" y="719327"/>
                </a:lnTo>
                <a:lnTo>
                  <a:pt x="200025" y="599439"/>
                </a:lnTo>
                <a:lnTo>
                  <a:pt x="0" y="558673"/>
                </a:lnTo>
                <a:lnTo>
                  <a:pt x="200025" y="419608"/>
                </a:lnTo>
                <a:lnTo>
                  <a:pt x="200025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560818" y="2342768"/>
            <a:ext cx="3794125" cy="5067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679450" marR="30480" indent="-641985">
              <a:lnSpc>
                <a:spcPts val="1870"/>
              </a:lnSpc>
              <a:spcBef>
                <a:spcPts val="200"/>
              </a:spcBef>
            </a:pPr>
            <a:r>
              <a:rPr sz="1600" dirty="0">
                <a:latin typeface="Cambria Math"/>
                <a:cs typeface="Cambria Math"/>
              </a:rPr>
              <a:t>𝐥𝐨𝐠</a:t>
            </a:r>
            <a:r>
              <a:rPr sz="1725" baseline="-14492" dirty="0">
                <a:latin typeface="Cambria Math"/>
                <a:cs typeface="Cambria Math"/>
              </a:rPr>
              <a:t>𝟐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204" dirty="0">
                <a:latin typeface="Cambria Math"/>
                <a:cs typeface="Cambria Math"/>
              </a:rPr>
              <a:t> </a:t>
            </a:r>
            <a:r>
              <a:rPr sz="1600" b="1" spc="-25" dirty="0">
                <a:latin typeface="メイリオ"/>
                <a:cs typeface="メイリオ"/>
              </a:rPr>
              <a:t>は「</a:t>
            </a:r>
            <a:r>
              <a:rPr sz="1600" b="1" dirty="0">
                <a:latin typeface="メイリオ"/>
                <a:cs typeface="メイリオ"/>
              </a:rPr>
              <a:t>2</a:t>
            </a:r>
            <a:r>
              <a:rPr sz="1600" b="1" spc="-25" dirty="0">
                <a:latin typeface="メイリオ"/>
                <a:cs typeface="メイリオ"/>
              </a:rPr>
              <a:t> を何乗したら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195" dirty="0">
                <a:latin typeface="Cambria Math"/>
                <a:cs typeface="Cambria Math"/>
              </a:rPr>
              <a:t> </a:t>
            </a:r>
            <a:r>
              <a:rPr sz="1600" b="1" spc="-30" dirty="0">
                <a:latin typeface="メイリオ"/>
                <a:cs typeface="メイリオ"/>
              </a:rPr>
              <a:t>になるか」であることを思い出そう！</a:t>
            </a:r>
            <a:endParaRPr sz="16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補足：対数関数の公式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135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24859" y="3639946"/>
            <a:ext cx="182880" cy="13970"/>
          </a:xfrm>
          <a:custGeom>
            <a:avLst/>
            <a:gdLst/>
            <a:ahLst/>
            <a:cxnLst/>
            <a:rect l="l" t="t" r="r" b="b"/>
            <a:pathLst>
              <a:path w="182879" h="13970">
                <a:moveTo>
                  <a:pt x="182879" y="0"/>
                </a:moveTo>
                <a:lnTo>
                  <a:pt x="0" y="0"/>
                </a:lnTo>
                <a:lnTo>
                  <a:pt x="0" y="13715"/>
                </a:lnTo>
                <a:lnTo>
                  <a:pt x="182879" y="13715"/>
                </a:lnTo>
                <a:lnTo>
                  <a:pt x="182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85509" y="6400038"/>
            <a:ext cx="6207125" cy="0"/>
          </a:xfrm>
          <a:custGeom>
            <a:avLst/>
            <a:gdLst/>
            <a:ahLst/>
            <a:cxnLst/>
            <a:rect l="l" t="t" r="r" b="b"/>
            <a:pathLst>
              <a:path w="6207125">
                <a:moveTo>
                  <a:pt x="0" y="0"/>
                </a:moveTo>
                <a:lnTo>
                  <a:pt x="6206870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68839" y="6570980"/>
            <a:ext cx="946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36884" y="6616700"/>
            <a:ext cx="3848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050" baseline="-15873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spc="397" baseline="-15873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7566" y="6499352"/>
            <a:ext cx="5452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※少し難しいが、対数関数には「底の変換公式」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200" spc="190" dirty="0">
                <a:solidFill>
                  <a:srgbClr val="A6A6A6"/>
                </a:solidFill>
                <a:latin typeface="Cambria Math"/>
                <a:cs typeface="Cambria Math"/>
              </a:rPr>
              <a:t> 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𝒃</a:t>
            </a:r>
            <a:r>
              <a:rPr sz="1200" spc="65" dirty="0">
                <a:solidFill>
                  <a:srgbClr val="A6A6A6"/>
                </a:solidFill>
                <a:latin typeface="Cambria Math"/>
                <a:cs typeface="Cambria Math"/>
              </a:rPr>
              <a:t> =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log</a:t>
            </a:r>
            <a:r>
              <a:rPr sz="1050" u="none" baseline="43650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u="none" spc="135" baseline="4365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𝒃</a:t>
            </a:r>
            <a:r>
              <a:rPr sz="1275" u="none" spc="397" baseline="4575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u="none" spc="-10" dirty="0">
                <a:solidFill>
                  <a:srgbClr val="A6A6A6"/>
                </a:solidFill>
                <a:latin typeface="メイリオ"/>
                <a:cs typeface="メイリオ"/>
              </a:rPr>
              <a:t>も知られている</a:t>
            </a:r>
            <a:endParaRPr sz="1200">
              <a:latin typeface="メイリオ"/>
              <a:cs typeface="メイリオ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5339" y="5177028"/>
            <a:ext cx="9679940" cy="719455"/>
            <a:chOff x="815339" y="5177028"/>
            <a:chExt cx="9679940" cy="719455"/>
          </a:xfrm>
        </p:grpSpPr>
        <p:sp>
          <p:nvSpPr>
            <p:cNvPr id="16" name="object 16"/>
            <p:cNvSpPr/>
            <p:nvPr/>
          </p:nvSpPr>
          <p:spPr>
            <a:xfrm>
              <a:off x="1536953" y="5537454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339" y="5177028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506222" y="0"/>
                  </a:moveTo>
                  <a:lnTo>
                    <a:pt x="214629" y="0"/>
                  </a:lnTo>
                  <a:lnTo>
                    <a:pt x="165415" y="5670"/>
                  </a:lnTo>
                  <a:lnTo>
                    <a:pt x="120239" y="21823"/>
                  </a:lnTo>
                  <a:lnTo>
                    <a:pt x="80387" y="47166"/>
                  </a:lnTo>
                  <a:lnTo>
                    <a:pt x="47150" y="80409"/>
                  </a:lnTo>
                  <a:lnTo>
                    <a:pt x="21814" y="120261"/>
                  </a:lnTo>
                  <a:lnTo>
                    <a:pt x="5668" y="165431"/>
                  </a:lnTo>
                  <a:lnTo>
                    <a:pt x="0" y="214630"/>
                  </a:lnTo>
                  <a:lnTo>
                    <a:pt x="0" y="504698"/>
                  </a:lnTo>
                  <a:lnTo>
                    <a:pt x="5668" y="553912"/>
                  </a:lnTo>
                  <a:lnTo>
                    <a:pt x="21814" y="599088"/>
                  </a:lnTo>
                  <a:lnTo>
                    <a:pt x="47150" y="638940"/>
                  </a:lnTo>
                  <a:lnTo>
                    <a:pt x="80387" y="672177"/>
                  </a:lnTo>
                  <a:lnTo>
                    <a:pt x="120239" y="697513"/>
                  </a:lnTo>
                  <a:lnTo>
                    <a:pt x="165415" y="713659"/>
                  </a:lnTo>
                  <a:lnTo>
                    <a:pt x="214629" y="719328"/>
                  </a:lnTo>
                  <a:lnTo>
                    <a:pt x="506222" y="719328"/>
                  </a:lnTo>
                  <a:lnTo>
                    <a:pt x="555420" y="713659"/>
                  </a:lnTo>
                  <a:lnTo>
                    <a:pt x="600590" y="697513"/>
                  </a:lnTo>
                  <a:lnTo>
                    <a:pt x="640442" y="672177"/>
                  </a:lnTo>
                  <a:lnTo>
                    <a:pt x="673685" y="638940"/>
                  </a:lnTo>
                  <a:lnTo>
                    <a:pt x="699028" y="599088"/>
                  </a:lnTo>
                  <a:lnTo>
                    <a:pt x="715181" y="553912"/>
                  </a:lnTo>
                  <a:lnTo>
                    <a:pt x="720851" y="504698"/>
                  </a:lnTo>
                  <a:lnTo>
                    <a:pt x="720851" y="214630"/>
                  </a:lnTo>
                  <a:lnTo>
                    <a:pt x="715181" y="165431"/>
                  </a:lnTo>
                  <a:lnTo>
                    <a:pt x="699028" y="120261"/>
                  </a:lnTo>
                  <a:lnTo>
                    <a:pt x="673685" y="80409"/>
                  </a:lnTo>
                  <a:lnTo>
                    <a:pt x="640442" y="47166"/>
                  </a:lnTo>
                  <a:lnTo>
                    <a:pt x="600590" y="21823"/>
                  </a:lnTo>
                  <a:lnTo>
                    <a:pt x="555420" y="5670"/>
                  </a:lnTo>
                  <a:lnTo>
                    <a:pt x="50622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9827" y="5297804"/>
            <a:ext cx="52133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0033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96083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5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98267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76828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7131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9011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57571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5180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59502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38315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82258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40245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17535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2" y="504698"/>
                </a:lnTo>
                <a:lnTo>
                  <a:pt x="720852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763002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32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20990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098280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143745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64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01733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479023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475341" y="5297804"/>
            <a:ext cx="721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128</a:t>
            </a:r>
            <a:endParaRPr sz="1400">
              <a:latin typeface="Cambria Math"/>
              <a:cs typeface="Cambria Math"/>
            </a:endParaRPr>
          </a:p>
          <a:p>
            <a:pPr marL="3048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587246" y="5308091"/>
            <a:ext cx="4716780" cy="132715"/>
          </a:xfrm>
          <a:custGeom>
            <a:avLst/>
            <a:gdLst/>
            <a:ahLst/>
            <a:cxnLst/>
            <a:rect l="l" t="t" r="r" b="b"/>
            <a:pathLst>
              <a:path w="4716780" h="132714">
                <a:moveTo>
                  <a:pt x="554228" y="66294"/>
                </a:moveTo>
                <a:lnTo>
                  <a:pt x="529615" y="51943"/>
                </a:lnTo>
                <a:lnTo>
                  <a:pt x="440563" y="0"/>
                </a:lnTo>
                <a:lnTo>
                  <a:pt x="431800" y="2286"/>
                </a:lnTo>
                <a:lnTo>
                  <a:pt x="427736" y="9144"/>
                </a:lnTo>
                <a:lnTo>
                  <a:pt x="423799" y="15875"/>
                </a:lnTo>
                <a:lnTo>
                  <a:pt x="426085" y="24638"/>
                </a:lnTo>
                <a:lnTo>
                  <a:pt x="472935" y="51943"/>
                </a:lnTo>
                <a:lnTo>
                  <a:pt x="0" y="51943"/>
                </a:lnTo>
                <a:lnTo>
                  <a:pt x="0" y="80518"/>
                </a:lnTo>
                <a:lnTo>
                  <a:pt x="473151" y="80518"/>
                </a:lnTo>
                <a:lnTo>
                  <a:pt x="426085" y="107950"/>
                </a:lnTo>
                <a:lnTo>
                  <a:pt x="423799" y="116713"/>
                </a:lnTo>
                <a:lnTo>
                  <a:pt x="427736" y="123444"/>
                </a:lnTo>
                <a:lnTo>
                  <a:pt x="431800" y="130302"/>
                </a:lnTo>
                <a:lnTo>
                  <a:pt x="440563" y="132588"/>
                </a:lnTo>
                <a:lnTo>
                  <a:pt x="529831" y="80518"/>
                </a:lnTo>
                <a:lnTo>
                  <a:pt x="554228" y="66294"/>
                </a:lnTo>
                <a:close/>
              </a:path>
              <a:path w="4716780" h="132714">
                <a:moveTo>
                  <a:pt x="1959356" y="66294"/>
                </a:moveTo>
                <a:lnTo>
                  <a:pt x="1934743" y="51943"/>
                </a:lnTo>
                <a:lnTo>
                  <a:pt x="1845691" y="0"/>
                </a:lnTo>
                <a:lnTo>
                  <a:pt x="1836928" y="2286"/>
                </a:lnTo>
                <a:lnTo>
                  <a:pt x="1832864" y="9144"/>
                </a:lnTo>
                <a:lnTo>
                  <a:pt x="1828927" y="15875"/>
                </a:lnTo>
                <a:lnTo>
                  <a:pt x="1831213" y="24638"/>
                </a:lnTo>
                <a:lnTo>
                  <a:pt x="1878063" y="51943"/>
                </a:lnTo>
                <a:lnTo>
                  <a:pt x="1405128" y="51943"/>
                </a:lnTo>
                <a:lnTo>
                  <a:pt x="1405128" y="80518"/>
                </a:lnTo>
                <a:lnTo>
                  <a:pt x="1878279" y="80518"/>
                </a:lnTo>
                <a:lnTo>
                  <a:pt x="1831213" y="107950"/>
                </a:lnTo>
                <a:lnTo>
                  <a:pt x="1828927" y="116713"/>
                </a:lnTo>
                <a:lnTo>
                  <a:pt x="1832864" y="123444"/>
                </a:lnTo>
                <a:lnTo>
                  <a:pt x="1836928" y="130302"/>
                </a:lnTo>
                <a:lnTo>
                  <a:pt x="1845691" y="132588"/>
                </a:lnTo>
                <a:lnTo>
                  <a:pt x="1934959" y="80518"/>
                </a:lnTo>
                <a:lnTo>
                  <a:pt x="1959356" y="66294"/>
                </a:lnTo>
                <a:close/>
              </a:path>
              <a:path w="4716780" h="132714">
                <a:moveTo>
                  <a:pt x="3329432" y="66294"/>
                </a:moveTo>
                <a:lnTo>
                  <a:pt x="3304819" y="51943"/>
                </a:lnTo>
                <a:lnTo>
                  <a:pt x="3215767" y="0"/>
                </a:lnTo>
                <a:lnTo>
                  <a:pt x="3207004" y="2286"/>
                </a:lnTo>
                <a:lnTo>
                  <a:pt x="3202940" y="9144"/>
                </a:lnTo>
                <a:lnTo>
                  <a:pt x="3199003" y="15875"/>
                </a:lnTo>
                <a:lnTo>
                  <a:pt x="3201289" y="24638"/>
                </a:lnTo>
                <a:lnTo>
                  <a:pt x="3248139" y="51943"/>
                </a:lnTo>
                <a:lnTo>
                  <a:pt x="2775204" y="51943"/>
                </a:lnTo>
                <a:lnTo>
                  <a:pt x="2775204" y="80518"/>
                </a:lnTo>
                <a:lnTo>
                  <a:pt x="3248355" y="80518"/>
                </a:lnTo>
                <a:lnTo>
                  <a:pt x="3201289" y="107950"/>
                </a:lnTo>
                <a:lnTo>
                  <a:pt x="3199003" y="116713"/>
                </a:lnTo>
                <a:lnTo>
                  <a:pt x="3202940" y="123444"/>
                </a:lnTo>
                <a:lnTo>
                  <a:pt x="3207004" y="130302"/>
                </a:lnTo>
                <a:lnTo>
                  <a:pt x="3215767" y="132588"/>
                </a:lnTo>
                <a:lnTo>
                  <a:pt x="3305035" y="80518"/>
                </a:lnTo>
                <a:lnTo>
                  <a:pt x="3329432" y="66294"/>
                </a:lnTo>
                <a:close/>
              </a:path>
              <a:path w="4716780" h="132714">
                <a:moveTo>
                  <a:pt x="4716272" y="66294"/>
                </a:moveTo>
                <a:lnTo>
                  <a:pt x="4691659" y="51943"/>
                </a:lnTo>
                <a:lnTo>
                  <a:pt x="4602607" y="0"/>
                </a:lnTo>
                <a:lnTo>
                  <a:pt x="4593844" y="2286"/>
                </a:lnTo>
                <a:lnTo>
                  <a:pt x="4589780" y="9144"/>
                </a:lnTo>
                <a:lnTo>
                  <a:pt x="4585843" y="15875"/>
                </a:lnTo>
                <a:lnTo>
                  <a:pt x="4588129" y="24638"/>
                </a:lnTo>
                <a:lnTo>
                  <a:pt x="4634979" y="51943"/>
                </a:lnTo>
                <a:lnTo>
                  <a:pt x="4162044" y="51943"/>
                </a:lnTo>
                <a:lnTo>
                  <a:pt x="4162044" y="80518"/>
                </a:lnTo>
                <a:lnTo>
                  <a:pt x="4635195" y="80518"/>
                </a:lnTo>
                <a:lnTo>
                  <a:pt x="4588129" y="107950"/>
                </a:lnTo>
                <a:lnTo>
                  <a:pt x="4585843" y="116713"/>
                </a:lnTo>
                <a:lnTo>
                  <a:pt x="4589780" y="123444"/>
                </a:lnTo>
                <a:lnTo>
                  <a:pt x="4593844" y="130302"/>
                </a:lnTo>
                <a:lnTo>
                  <a:pt x="4602607" y="132588"/>
                </a:lnTo>
                <a:lnTo>
                  <a:pt x="4691875" y="80518"/>
                </a:lnTo>
                <a:lnTo>
                  <a:pt x="4716272" y="66294"/>
                </a:lnTo>
                <a:close/>
              </a:path>
            </a:pathLst>
          </a:custGeom>
          <a:solidFill>
            <a:srgbClr val="6473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51572" y="2263901"/>
            <a:ext cx="4211320" cy="719455"/>
          </a:xfrm>
          <a:custGeom>
            <a:avLst/>
            <a:gdLst/>
            <a:ahLst/>
            <a:cxnLst/>
            <a:rect l="l" t="t" r="r" b="b"/>
            <a:pathLst>
              <a:path w="4211320" h="719455">
                <a:moveTo>
                  <a:pt x="200025" y="0"/>
                </a:moveTo>
                <a:lnTo>
                  <a:pt x="868552" y="0"/>
                </a:lnTo>
                <a:lnTo>
                  <a:pt x="1871345" y="0"/>
                </a:lnTo>
                <a:lnTo>
                  <a:pt x="4211193" y="0"/>
                </a:lnTo>
                <a:lnTo>
                  <a:pt x="4211193" y="419608"/>
                </a:lnTo>
                <a:lnTo>
                  <a:pt x="4211193" y="599439"/>
                </a:lnTo>
                <a:lnTo>
                  <a:pt x="4211193" y="719327"/>
                </a:lnTo>
                <a:lnTo>
                  <a:pt x="1871345" y="719327"/>
                </a:lnTo>
                <a:lnTo>
                  <a:pt x="868552" y="719327"/>
                </a:lnTo>
                <a:lnTo>
                  <a:pt x="200025" y="719327"/>
                </a:lnTo>
                <a:lnTo>
                  <a:pt x="200025" y="599439"/>
                </a:lnTo>
                <a:lnTo>
                  <a:pt x="0" y="558673"/>
                </a:lnTo>
                <a:lnTo>
                  <a:pt x="200025" y="419608"/>
                </a:lnTo>
                <a:lnTo>
                  <a:pt x="200025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560818" y="2342768"/>
            <a:ext cx="3794125" cy="5067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679450" marR="30480" indent="-641985">
              <a:lnSpc>
                <a:spcPts val="1870"/>
              </a:lnSpc>
              <a:spcBef>
                <a:spcPts val="200"/>
              </a:spcBef>
            </a:pPr>
            <a:r>
              <a:rPr sz="1600" dirty="0">
                <a:latin typeface="Cambria Math"/>
                <a:cs typeface="Cambria Math"/>
              </a:rPr>
              <a:t>𝐥𝐨𝐠</a:t>
            </a:r>
            <a:r>
              <a:rPr sz="1725" baseline="-14492" dirty="0">
                <a:latin typeface="Cambria Math"/>
                <a:cs typeface="Cambria Math"/>
              </a:rPr>
              <a:t>𝟐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204" dirty="0">
                <a:latin typeface="Cambria Math"/>
                <a:cs typeface="Cambria Math"/>
              </a:rPr>
              <a:t> </a:t>
            </a:r>
            <a:r>
              <a:rPr sz="1600" b="1" spc="-25" dirty="0">
                <a:latin typeface="メイリオ"/>
                <a:cs typeface="メイリオ"/>
              </a:rPr>
              <a:t>は「</a:t>
            </a:r>
            <a:r>
              <a:rPr sz="1600" b="1" dirty="0">
                <a:latin typeface="メイリオ"/>
                <a:cs typeface="メイリオ"/>
              </a:rPr>
              <a:t>2</a:t>
            </a:r>
            <a:r>
              <a:rPr sz="1600" b="1" spc="-25" dirty="0">
                <a:latin typeface="メイリオ"/>
                <a:cs typeface="メイリオ"/>
              </a:rPr>
              <a:t> を何乗したら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195" dirty="0">
                <a:latin typeface="Cambria Math"/>
                <a:cs typeface="Cambria Math"/>
              </a:rPr>
              <a:t> </a:t>
            </a:r>
            <a:r>
              <a:rPr sz="1600" b="1" spc="-30" dirty="0">
                <a:latin typeface="メイリオ"/>
                <a:cs typeface="メイリオ"/>
              </a:rPr>
              <a:t>になるか」であることを思い出そう！</a:t>
            </a:r>
            <a:endParaRPr sz="1600">
              <a:latin typeface="メイリオ"/>
              <a:cs typeface="メイリオ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96819" y="5625058"/>
            <a:ext cx="3309620" cy="132715"/>
          </a:xfrm>
          <a:custGeom>
            <a:avLst/>
            <a:gdLst/>
            <a:ahLst/>
            <a:cxnLst/>
            <a:rect l="l" t="t" r="r" b="b"/>
            <a:pathLst>
              <a:path w="3309620" h="132714">
                <a:moveTo>
                  <a:pt x="554228" y="52031"/>
                </a:moveTo>
                <a:lnTo>
                  <a:pt x="81203" y="52031"/>
                </a:lnTo>
                <a:lnTo>
                  <a:pt x="128143" y="24676"/>
                </a:lnTo>
                <a:lnTo>
                  <a:pt x="130429" y="15925"/>
                </a:lnTo>
                <a:lnTo>
                  <a:pt x="122555" y="2298"/>
                </a:lnTo>
                <a:lnTo>
                  <a:pt x="113792" y="0"/>
                </a:lnTo>
                <a:lnTo>
                  <a:pt x="0" y="66319"/>
                </a:lnTo>
                <a:lnTo>
                  <a:pt x="113792" y="132638"/>
                </a:lnTo>
                <a:lnTo>
                  <a:pt x="122555" y="130340"/>
                </a:lnTo>
                <a:lnTo>
                  <a:pt x="130429" y="116713"/>
                </a:lnTo>
                <a:lnTo>
                  <a:pt x="128143" y="107962"/>
                </a:lnTo>
                <a:lnTo>
                  <a:pt x="81203" y="80606"/>
                </a:lnTo>
                <a:lnTo>
                  <a:pt x="554228" y="80606"/>
                </a:lnTo>
                <a:lnTo>
                  <a:pt x="554228" y="52031"/>
                </a:lnTo>
                <a:close/>
              </a:path>
              <a:path w="3309620" h="132714">
                <a:moveTo>
                  <a:pt x="1924304" y="52031"/>
                </a:moveTo>
                <a:lnTo>
                  <a:pt x="1451279" y="52031"/>
                </a:lnTo>
                <a:lnTo>
                  <a:pt x="1498219" y="24676"/>
                </a:lnTo>
                <a:lnTo>
                  <a:pt x="1500505" y="15925"/>
                </a:lnTo>
                <a:lnTo>
                  <a:pt x="1492631" y="2298"/>
                </a:lnTo>
                <a:lnTo>
                  <a:pt x="1483868" y="0"/>
                </a:lnTo>
                <a:lnTo>
                  <a:pt x="1370076" y="66319"/>
                </a:lnTo>
                <a:lnTo>
                  <a:pt x="1483868" y="132638"/>
                </a:lnTo>
                <a:lnTo>
                  <a:pt x="1492631" y="130340"/>
                </a:lnTo>
                <a:lnTo>
                  <a:pt x="1500505" y="116713"/>
                </a:lnTo>
                <a:lnTo>
                  <a:pt x="1498219" y="107962"/>
                </a:lnTo>
                <a:lnTo>
                  <a:pt x="1451279" y="80606"/>
                </a:lnTo>
                <a:lnTo>
                  <a:pt x="1924304" y="80606"/>
                </a:lnTo>
                <a:lnTo>
                  <a:pt x="1924304" y="52031"/>
                </a:lnTo>
                <a:close/>
              </a:path>
              <a:path w="3309620" h="132714">
                <a:moveTo>
                  <a:pt x="3309620" y="52031"/>
                </a:moveTo>
                <a:lnTo>
                  <a:pt x="2836595" y="52031"/>
                </a:lnTo>
                <a:lnTo>
                  <a:pt x="2883535" y="24676"/>
                </a:lnTo>
                <a:lnTo>
                  <a:pt x="2885821" y="15925"/>
                </a:lnTo>
                <a:lnTo>
                  <a:pt x="2877947" y="2298"/>
                </a:lnTo>
                <a:lnTo>
                  <a:pt x="2869184" y="0"/>
                </a:lnTo>
                <a:lnTo>
                  <a:pt x="2755392" y="66319"/>
                </a:lnTo>
                <a:lnTo>
                  <a:pt x="2869184" y="132638"/>
                </a:lnTo>
                <a:lnTo>
                  <a:pt x="2877947" y="130340"/>
                </a:lnTo>
                <a:lnTo>
                  <a:pt x="2885821" y="116713"/>
                </a:lnTo>
                <a:lnTo>
                  <a:pt x="2883535" y="107962"/>
                </a:lnTo>
                <a:lnTo>
                  <a:pt x="2836595" y="80606"/>
                </a:lnTo>
                <a:lnTo>
                  <a:pt x="3309620" y="80606"/>
                </a:lnTo>
                <a:lnTo>
                  <a:pt x="3309620" y="52031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106673" y="5735218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43864"/>
                </a:solidFill>
                <a:latin typeface="メイリオ"/>
                <a:cs typeface="メイリオ"/>
              </a:rPr>
              <a:t>-</a:t>
            </a:r>
            <a:r>
              <a:rPr sz="1800" b="1" spc="-50" dirty="0">
                <a:solidFill>
                  <a:srgbClr val="F43864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87417" y="5735218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43864"/>
                </a:solidFill>
                <a:latin typeface="メイリオ"/>
                <a:cs typeface="メイリオ"/>
              </a:rPr>
              <a:t>-</a:t>
            </a:r>
            <a:r>
              <a:rPr sz="1800" b="1" spc="-50" dirty="0">
                <a:solidFill>
                  <a:srgbClr val="F43864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70575" y="5733389"/>
            <a:ext cx="287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43864"/>
                </a:solidFill>
                <a:latin typeface="メイリオ"/>
                <a:cs typeface="メイリオ"/>
              </a:rPr>
              <a:t>-</a:t>
            </a:r>
            <a:r>
              <a:rPr sz="1800" b="1" spc="-50" dirty="0">
                <a:solidFill>
                  <a:srgbClr val="F43864"/>
                </a:solidFill>
                <a:latin typeface="メイリオ"/>
                <a:cs typeface="メイリオ"/>
              </a:rPr>
              <a:t>1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159889" y="4195953"/>
            <a:ext cx="1565910" cy="956310"/>
            <a:chOff x="2159889" y="4195953"/>
            <a:chExt cx="1565910" cy="956310"/>
          </a:xfrm>
        </p:grpSpPr>
        <p:sp>
          <p:nvSpPr>
            <p:cNvPr id="49" name="object 49"/>
            <p:cNvSpPr/>
            <p:nvPr/>
          </p:nvSpPr>
          <p:spPr>
            <a:xfrm>
              <a:off x="2169414" y="4205478"/>
              <a:ext cx="1546860" cy="937260"/>
            </a:xfrm>
            <a:custGeom>
              <a:avLst/>
              <a:gdLst/>
              <a:ahLst/>
              <a:cxnLst/>
              <a:rect l="l" t="t" r="r" b="b"/>
              <a:pathLst>
                <a:path w="1546860" h="937260">
                  <a:moveTo>
                    <a:pt x="1546860" y="0"/>
                  </a:moveTo>
                  <a:lnTo>
                    <a:pt x="0" y="0"/>
                  </a:lnTo>
                  <a:lnTo>
                    <a:pt x="0" y="797052"/>
                  </a:lnTo>
                  <a:lnTo>
                    <a:pt x="257810" y="797052"/>
                  </a:lnTo>
                  <a:lnTo>
                    <a:pt x="482473" y="937133"/>
                  </a:lnTo>
                  <a:lnTo>
                    <a:pt x="644525" y="797052"/>
                  </a:lnTo>
                  <a:lnTo>
                    <a:pt x="1546860" y="797052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69414" y="4205478"/>
              <a:ext cx="1546860" cy="937260"/>
            </a:xfrm>
            <a:custGeom>
              <a:avLst/>
              <a:gdLst/>
              <a:ahLst/>
              <a:cxnLst/>
              <a:rect l="l" t="t" r="r" b="b"/>
              <a:pathLst>
                <a:path w="1546860" h="937260">
                  <a:moveTo>
                    <a:pt x="0" y="0"/>
                  </a:moveTo>
                  <a:lnTo>
                    <a:pt x="257810" y="0"/>
                  </a:lnTo>
                  <a:lnTo>
                    <a:pt x="644525" y="0"/>
                  </a:lnTo>
                  <a:lnTo>
                    <a:pt x="1546860" y="0"/>
                  </a:lnTo>
                  <a:lnTo>
                    <a:pt x="1546860" y="464947"/>
                  </a:lnTo>
                  <a:lnTo>
                    <a:pt x="1546860" y="664210"/>
                  </a:lnTo>
                  <a:lnTo>
                    <a:pt x="1546860" y="797052"/>
                  </a:lnTo>
                  <a:lnTo>
                    <a:pt x="644525" y="797052"/>
                  </a:lnTo>
                  <a:lnTo>
                    <a:pt x="482473" y="937133"/>
                  </a:lnTo>
                  <a:lnTo>
                    <a:pt x="257810" y="797052"/>
                  </a:lnTo>
                  <a:lnTo>
                    <a:pt x="0" y="797052"/>
                  </a:lnTo>
                  <a:lnTo>
                    <a:pt x="0" y="664210"/>
                  </a:lnTo>
                  <a:lnTo>
                    <a:pt x="0" y="46494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806107" y="2253614"/>
          <a:ext cx="6479540" cy="2188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公式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3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3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5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𝑵𝑴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</a:txBody>
                  <a:tcPr marL="0" marR="0" marT="129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1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900" spc="1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87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14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𝟏𝟐𝟖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481965" marR="539750" indent="2042160">
                        <a:lnSpc>
                          <a:spcPct val="63900"/>
                        </a:lnSpc>
                        <a:spcBef>
                          <a:spcPts val="77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550" spc="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325" spc="-75" baseline="-3763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endParaRPr sz="2325" baseline="-37634">
                        <a:latin typeface="Cambria Math"/>
                        <a:cs typeface="Cambria Math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9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900" spc="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2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50" dirty="0">
                          <a:latin typeface="Cambria Math"/>
                          <a:cs typeface="Cambria Math"/>
                        </a:rPr>
                        <a:t>𝟐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62992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550" spc="3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10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1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spc="-1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(𝑵</a:t>
                      </a:r>
                      <a:r>
                        <a:rPr sz="1725" spc="-15" baseline="2898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)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  <a:p>
                      <a:pPr marL="1496695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latin typeface="メイリオ"/>
                          <a:cs typeface="メイリオ"/>
                        </a:rPr>
                        <a:t>4</a:t>
                      </a:r>
                      <a:r>
                        <a:rPr sz="2000" spc="-20" dirty="0">
                          <a:latin typeface="メイリオ"/>
                          <a:cs typeface="メイリオ"/>
                        </a:rPr>
                        <a:t> 歩進んで</a:t>
                      </a:r>
                      <a:endParaRPr sz="2000">
                        <a:latin typeface="メイリオ"/>
                        <a:cs typeface="メイリオ"/>
                      </a:endParaRPr>
                    </a:p>
                  </a:txBody>
                  <a:tcPr marL="0" marR="0" marT="1295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900" spc="1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900" spc="1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900" spc="1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3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𝟔𝟒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2290572" y="4551934"/>
            <a:ext cx="119253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メイリオ"/>
                <a:cs typeface="メイリオ"/>
              </a:rPr>
              <a:t>3</a:t>
            </a:r>
            <a:r>
              <a:rPr sz="2000" spc="-20" dirty="0">
                <a:latin typeface="メイリオ"/>
                <a:cs typeface="メイリオ"/>
              </a:rPr>
              <a:t> 歩戻る</a:t>
            </a:r>
            <a:endParaRPr sz="2000">
              <a:latin typeface="メイリオ"/>
              <a:cs typeface="メイリオ"/>
            </a:endParaRPr>
          </a:p>
          <a:p>
            <a:pPr marL="782955">
              <a:lnSpc>
                <a:spcPts val="2090"/>
              </a:lnSpc>
              <a:spcBef>
                <a:spcPts val="1455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  <a:p>
            <a:pPr marL="38100">
              <a:lnSpc>
                <a:spcPts val="1610"/>
              </a:lnSpc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612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メイリオ"/>
                <a:cs typeface="メイリオ"/>
              </a:rPr>
              <a:t>補足：対数関数の公式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136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06107" y="2253614"/>
          <a:ext cx="6479540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公式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spc="-3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具体例</a:t>
                      </a:r>
                      <a:endParaRPr sz="1900">
                        <a:latin typeface="メイリオ"/>
                        <a:cs typeface="メイリオ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3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5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42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𝑵𝑴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</a:txBody>
                  <a:tcPr marL="0" marR="0" marT="129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1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900" spc="1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87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14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𝟏𝟐𝟖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481965" marR="539750" indent="2042160">
                        <a:lnSpc>
                          <a:spcPct val="63900"/>
                        </a:lnSpc>
                        <a:spcBef>
                          <a:spcPts val="77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550" spc="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7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r>
                        <a:rPr sz="1550" spc="1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4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5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325" spc="-75" baseline="-3763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endParaRPr sz="2325" baseline="-37634">
                        <a:latin typeface="Cambria Math"/>
                        <a:cs typeface="Cambria Math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9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𝟏𝟔</a:t>
                      </a:r>
                      <a:r>
                        <a:rPr sz="1900" spc="5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900" spc="2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72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1900" spc="13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4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550" spc="3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725" spc="120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𝑵</a:t>
                      </a:r>
                      <a:r>
                        <a:rPr sz="1550" spc="10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550" spc="114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1725" spc="-15" baseline="-14492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𝒂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(𝑵</a:t>
                      </a:r>
                      <a:r>
                        <a:rPr sz="1725" spc="-15" baseline="2898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550" spc="-1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)</a:t>
                      </a:r>
                      <a:endParaRPr sz="1550">
                        <a:latin typeface="Cambria Math"/>
                        <a:cs typeface="Cambria Math"/>
                      </a:endParaRPr>
                    </a:p>
                  </a:txBody>
                  <a:tcPr marL="0" marR="0" marT="1295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900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9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sz="1900" spc="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9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9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dirty="0">
                          <a:latin typeface="Cambria Math"/>
                          <a:cs typeface="Cambria Math"/>
                        </a:rPr>
                        <a:t>log</a:t>
                      </a:r>
                      <a:r>
                        <a:rPr sz="2025" baseline="-16460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025" spc="165" baseline="-164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900" spc="-25" dirty="0">
                          <a:latin typeface="Cambria Math"/>
                          <a:cs typeface="Cambria Math"/>
                        </a:rPr>
                        <a:t>𝟔𝟒</a:t>
                      </a:r>
                      <a:endParaRPr sz="1900">
                        <a:latin typeface="Cambria Math"/>
                        <a:cs typeface="Cambria Math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324859" y="3639946"/>
            <a:ext cx="182880" cy="13970"/>
          </a:xfrm>
          <a:custGeom>
            <a:avLst/>
            <a:gdLst/>
            <a:ahLst/>
            <a:cxnLst/>
            <a:rect l="l" t="t" r="r" b="b"/>
            <a:pathLst>
              <a:path w="182879" h="13970">
                <a:moveTo>
                  <a:pt x="182879" y="0"/>
                </a:moveTo>
                <a:lnTo>
                  <a:pt x="0" y="0"/>
                </a:lnTo>
                <a:lnTo>
                  <a:pt x="0" y="13715"/>
                </a:lnTo>
                <a:lnTo>
                  <a:pt x="182879" y="13715"/>
                </a:lnTo>
                <a:lnTo>
                  <a:pt x="182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85509" y="6400038"/>
            <a:ext cx="6207125" cy="0"/>
          </a:xfrm>
          <a:custGeom>
            <a:avLst/>
            <a:gdLst/>
            <a:ahLst/>
            <a:cxnLst/>
            <a:rect l="l" t="t" r="r" b="b"/>
            <a:pathLst>
              <a:path w="6207125">
                <a:moveTo>
                  <a:pt x="0" y="0"/>
                </a:moveTo>
                <a:lnTo>
                  <a:pt x="6206870" y="0"/>
                </a:lnTo>
              </a:path>
            </a:pathLst>
          </a:custGeom>
          <a:ln w="190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68839" y="6570980"/>
            <a:ext cx="946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6884" y="6616700"/>
            <a:ext cx="3848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050" baseline="-15873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spc="397" baseline="-15873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850" spc="-50" dirty="0">
                <a:solidFill>
                  <a:srgbClr val="A6A6A6"/>
                </a:solidFill>
                <a:latin typeface="Cambria Math"/>
                <a:cs typeface="Cambria Math"/>
              </a:rPr>
              <a:t>𝒂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7566" y="6499352"/>
            <a:ext cx="5452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6A6A6"/>
                </a:solidFill>
                <a:latin typeface="メイリオ"/>
                <a:cs typeface="メイリオ"/>
              </a:rPr>
              <a:t>※少し難しいが、対数関数には「底の変換公式」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log</a:t>
            </a:r>
            <a:r>
              <a:rPr sz="1200" spc="190" dirty="0">
                <a:solidFill>
                  <a:srgbClr val="A6A6A6"/>
                </a:solidFill>
                <a:latin typeface="Cambria Math"/>
                <a:cs typeface="Cambria Math"/>
              </a:rPr>
              <a:t>  </a:t>
            </a:r>
            <a:r>
              <a:rPr sz="1200" dirty="0">
                <a:solidFill>
                  <a:srgbClr val="A6A6A6"/>
                </a:solidFill>
                <a:latin typeface="Cambria Math"/>
                <a:cs typeface="Cambria Math"/>
              </a:rPr>
              <a:t>𝒃</a:t>
            </a:r>
            <a:r>
              <a:rPr sz="1200" spc="65" dirty="0">
                <a:solidFill>
                  <a:srgbClr val="A6A6A6"/>
                </a:solidFill>
                <a:latin typeface="Cambria Math"/>
                <a:cs typeface="Cambria Math"/>
              </a:rPr>
              <a:t> =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log</a:t>
            </a:r>
            <a:r>
              <a:rPr sz="1050" u="none" baseline="43650" dirty="0">
                <a:solidFill>
                  <a:srgbClr val="A6A6A6"/>
                </a:solidFill>
                <a:latin typeface="Cambria Math"/>
                <a:cs typeface="Cambria Math"/>
              </a:rPr>
              <a:t>𝒄</a:t>
            </a:r>
            <a:r>
              <a:rPr sz="1050" u="none" spc="135" baseline="43650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75" u="sng" baseline="45751" dirty="0">
                <a:solidFill>
                  <a:srgbClr val="A6A6A6"/>
                </a:solidFill>
                <a:uFill>
                  <a:solidFill>
                    <a:srgbClr val="A6A6A6"/>
                  </a:solidFill>
                </a:uFill>
                <a:latin typeface="Cambria Math"/>
                <a:cs typeface="Cambria Math"/>
              </a:rPr>
              <a:t>𝒃</a:t>
            </a:r>
            <a:r>
              <a:rPr sz="1275" u="none" spc="397" baseline="45751" dirty="0">
                <a:solidFill>
                  <a:srgbClr val="A6A6A6"/>
                </a:solidFill>
                <a:latin typeface="Cambria Math"/>
                <a:cs typeface="Cambria Math"/>
              </a:rPr>
              <a:t> </a:t>
            </a:r>
            <a:r>
              <a:rPr sz="1200" b="1" u="none" spc="-10" dirty="0">
                <a:solidFill>
                  <a:srgbClr val="A6A6A6"/>
                </a:solidFill>
                <a:latin typeface="メイリオ"/>
                <a:cs typeface="メイリオ"/>
              </a:rPr>
              <a:t>も知られている</a:t>
            </a:r>
            <a:endParaRPr sz="1200">
              <a:latin typeface="メイリオ"/>
              <a:cs typeface="メイリオ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5339" y="5177028"/>
            <a:ext cx="9679940" cy="719455"/>
            <a:chOff x="815339" y="5177028"/>
            <a:chExt cx="9679940" cy="719455"/>
          </a:xfrm>
        </p:grpSpPr>
        <p:sp>
          <p:nvSpPr>
            <p:cNvPr id="17" name="object 17"/>
            <p:cNvSpPr/>
            <p:nvPr/>
          </p:nvSpPr>
          <p:spPr>
            <a:xfrm>
              <a:off x="1536953" y="5537454"/>
              <a:ext cx="8943975" cy="0"/>
            </a:xfrm>
            <a:custGeom>
              <a:avLst/>
              <a:gdLst/>
              <a:ahLst/>
              <a:cxnLst/>
              <a:rect l="l" t="t" r="r" b="b"/>
              <a:pathLst>
                <a:path w="8943975">
                  <a:moveTo>
                    <a:pt x="0" y="0"/>
                  </a:moveTo>
                  <a:lnTo>
                    <a:pt x="8943594" y="0"/>
                  </a:lnTo>
                </a:path>
              </a:pathLst>
            </a:custGeom>
            <a:ln w="285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339" y="5177028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506222" y="0"/>
                  </a:moveTo>
                  <a:lnTo>
                    <a:pt x="214629" y="0"/>
                  </a:lnTo>
                  <a:lnTo>
                    <a:pt x="165415" y="5670"/>
                  </a:lnTo>
                  <a:lnTo>
                    <a:pt x="120239" y="21823"/>
                  </a:lnTo>
                  <a:lnTo>
                    <a:pt x="80387" y="47166"/>
                  </a:lnTo>
                  <a:lnTo>
                    <a:pt x="47150" y="80409"/>
                  </a:lnTo>
                  <a:lnTo>
                    <a:pt x="21814" y="120261"/>
                  </a:lnTo>
                  <a:lnTo>
                    <a:pt x="5668" y="165431"/>
                  </a:lnTo>
                  <a:lnTo>
                    <a:pt x="0" y="214630"/>
                  </a:lnTo>
                  <a:lnTo>
                    <a:pt x="0" y="504698"/>
                  </a:lnTo>
                  <a:lnTo>
                    <a:pt x="5668" y="553912"/>
                  </a:lnTo>
                  <a:lnTo>
                    <a:pt x="21814" y="599088"/>
                  </a:lnTo>
                  <a:lnTo>
                    <a:pt x="47150" y="638940"/>
                  </a:lnTo>
                  <a:lnTo>
                    <a:pt x="80387" y="672177"/>
                  </a:lnTo>
                  <a:lnTo>
                    <a:pt x="120239" y="697513"/>
                  </a:lnTo>
                  <a:lnTo>
                    <a:pt x="165415" y="713659"/>
                  </a:lnTo>
                  <a:lnTo>
                    <a:pt x="214629" y="719328"/>
                  </a:lnTo>
                  <a:lnTo>
                    <a:pt x="506222" y="719328"/>
                  </a:lnTo>
                  <a:lnTo>
                    <a:pt x="555420" y="713659"/>
                  </a:lnTo>
                  <a:lnTo>
                    <a:pt x="600590" y="697513"/>
                  </a:lnTo>
                  <a:lnTo>
                    <a:pt x="640442" y="672177"/>
                  </a:lnTo>
                  <a:lnTo>
                    <a:pt x="673685" y="638940"/>
                  </a:lnTo>
                  <a:lnTo>
                    <a:pt x="699028" y="599088"/>
                  </a:lnTo>
                  <a:lnTo>
                    <a:pt x="715181" y="553912"/>
                  </a:lnTo>
                  <a:lnTo>
                    <a:pt x="720851" y="504698"/>
                  </a:lnTo>
                  <a:lnTo>
                    <a:pt x="720851" y="214630"/>
                  </a:lnTo>
                  <a:lnTo>
                    <a:pt x="715181" y="165431"/>
                  </a:lnTo>
                  <a:lnTo>
                    <a:pt x="699028" y="120261"/>
                  </a:lnTo>
                  <a:lnTo>
                    <a:pt x="673685" y="80409"/>
                  </a:lnTo>
                  <a:lnTo>
                    <a:pt x="640442" y="47166"/>
                  </a:lnTo>
                  <a:lnTo>
                    <a:pt x="600590" y="21823"/>
                  </a:lnTo>
                  <a:lnTo>
                    <a:pt x="555420" y="5670"/>
                  </a:lnTo>
                  <a:lnTo>
                    <a:pt x="50622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9827" y="5297804"/>
            <a:ext cx="52133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0033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96083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5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90572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8267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76828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7131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79011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57571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7" y="504698"/>
                </a:lnTo>
                <a:lnTo>
                  <a:pt x="719327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51805" y="5297804"/>
            <a:ext cx="5213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195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59502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38315" y="5177028"/>
            <a:ext cx="719455" cy="719455"/>
          </a:xfrm>
          <a:custGeom>
            <a:avLst/>
            <a:gdLst/>
            <a:ahLst/>
            <a:cxnLst/>
            <a:rect l="l" t="t" r="r" b="b"/>
            <a:pathLst>
              <a:path w="719454" h="719454">
                <a:moveTo>
                  <a:pt x="504698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4698" y="719328"/>
                </a:lnTo>
                <a:lnTo>
                  <a:pt x="553896" y="713659"/>
                </a:lnTo>
                <a:lnTo>
                  <a:pt x="599066" y="697513"/>
                </a:lnTo>
                <a:lnTo>
                  <a:pt x="638918" y="672177"/>
                </a:lnTo>
                <a:lnTo>
                  <a:pt x="672161" y="638940"/>
                </a:lnTo>
                <a:lnTo>
                  <a:pt x="697504" y="599088"/>
                </a:lnTo>
                <a:lnTo>
                  <a:pt x="713657" y="553912"/>
                </a:lnTo>
                <a:lnTo>
                  <a:pt x="719328" y="504698"/>
                </a:lnTo>
                <a:lnTo>
                  <a:pt x="719328" y="214630"/>
                </a:lnTo>
                <a:lnTo>
                  <a:pt x="713657" y="165431"/>
                </a:lnTo>
                <a:lnTo>
                  <a:pt x="697504" y="120261"/>
                </a:lnTo>
                <a:lnTo>
                  <a:pt x="672161" y="80409"/>
                </a:lnTo>
                <a:lnTo>
                  <a:pt x="638918" y="47166"/>
                </a:lnTo>
                <a:lnTo>
                  <a:pt x="599066" y="21823"/>
                </a:lnTo>
                <a:lnTo>
                  <a:pt x="553896" y="5670"/>
                </a:lnTo>
                <a:lnTo>
                  <a:pt x="50469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382258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40245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7535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30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30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2" y="504698"/>
                </a:lnTo>
                <a:lnTo>
                  <a:pt x="720852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63002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32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20990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098280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43745" y="52978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64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01733" y="5511190"/>
            <a:ext cx="306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479023" y="5177028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59" h="719454">
                <a:moveTo>
                  <a:pt x="506222" y="0"/>
                </a:moveTo>
                <a:lnTo>
                  <a:pt x="214629" y="0"/>
                </a:lnTo>
                <a:lnTo>
                  <a:pt x="165431" y="5670"/>
                </a:lnTo>
                <a:lnTo>
                  <a:pt x="120261" y="21823"/>
                </a:lnTo>
                <a:lnTo>
                  <a:pt x="80409" y="47166"/>
                </a:lnTo>
                <a:lnTo>
                  <a:pt x="47166" y="80409"/>
                </a:lnTo>
                <a:lnTo>
                  <a:pt x="21823" y="120261"/>
                </a:lnTo>
                <a:lnTo>
                  <a:pt x="5670" y="165431"/>
                </a:lnTo>
                <a:lnTo>
                  <a:pt x="0" y="214630"/>
                </a:lnTo>
                <a:lnTo>
                  <a:pt x="0" y="504698"/>
                </a:lnTo>
                <a:lnTo>
                  <a:pt x="5670" y="553912"/>
                </a:lnTo>
                <a:lnTo>
                  <a:pt x="21823" y="599088"/>
                </a:lnTo>
                <a:lnTo>
                  <a:pt x="47166" y="638940"/>
                </a:lnTo>
                <a:lnTo>
                  <a:pt x="80409" y="672177"/>
                </a:lnTo>
                <a:lnTo>
                  <a:pt x="120261" y="697513"/>
                </a:lnTo>
                <a:lnTo>
                  <a:pt x="165431" y="713659"/>
                </a:lnTo>
                <a:lnTo>
                  <a:pt x="214629" y="719328"/>
                </a:lnTo>
                <a:lnTo>
                  <a:pt x="506222" y="719328"/>
                </a:lnTo>
                <a:lnTo>
                  <a:pt x="555420" y="713659"/>
                </a:lnTo>
                <a:lnTo>
                  <a:pt x="600590" y="697513"/>
                </a:lnTo>
                <a:lnTo>
                  <a:pt x="640442" y="672177"/>
                </a:lnTo>
                <a:lnTo>
                  <a:pt x="673685" y="638940"/>
                </a:lnTo>
                <a:lnTo>
                  <a:pt x="699028" y="599088"/>
                </a:lnTo>
                <a:lnTo>
                  <a:pt x="715181" y="553912"/>
                </a:lnTo>
                <a:lnTo>
                  <a:pt x="720851" y="504698"/>
                </a:lnTo>
                <a:lnTo>
                  <a:pt x="720851" y="214630"/>
                </a:lnTo>
                <a:lnTo>
                  <a:pt x="715181" y="165431"/>
                </a:lnTo>
                <a:lnTo>
                  <a:pt x="699028" y="120261"/>
                </a:lnTo>
                <a:lnTo>
                  <a:pt x="673685" y="80409"/>
                </a:lnTo>
                <a:lnTo>
                  <a:pt x="640442" y="47166"/>
                </a:lnTo>
                <a:lnTo>
                  <a:pt x="600590" y="21823"/>
                </a:lnTo>
                <a:lnTo>
                  <a:pt x="555420" y="5670"/>
                </a:lnTo>
                <a:lnTo>
                  <a:pt x="50622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475341" y="5297804"/>
            <a:ext cx="721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500" baseline="-16666" dirty="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1500" spc="217" baseline="-16666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 Math"/>
                <a:cs typeface="Cambria Math"/>
              </a:rPr>
              <a:t>128</a:t>
            </a:r>
            <a:endParaRPr sz="1400">
              <a:latin typeface="Cambria Math"/>
              <a:cs typeface="Cambria Math"/>
            </a:endParaRPr>
          </a:p>
          <a:p>
            <a:pPr marL="3048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400" spc="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mbria Math"/>
                <a:cs typeface="Cambria Math"/>
              </a:rPr>
              <a:t>7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87246" y="5308091"/>
            <a:ext cx="7467600" cy="132715"/>
            <a:chOff x="1587246" y="5308091"/>
            <a:chExt cx="7467600" cy="132715"/>
          </a:xfrm>
        </p:grpSpPr>
        <p:sp>
          <p:nvSpPr>
            <p:cNvPr id="41" name="object 41"/>
            <p:cNvSpPr/>
            <p:nvPr/>
          </p:nvSpPr>
          <p:spPr>
            <a:xfrm>
              <a:off x="1587246" y="5308091"/>
              <a:ext cx="1959610" cy="132715"/>
            </a:xfrm>
            <a:custGeom>
              <a:avLst/>
              <a:gdLst/>
              <a:ahLst/>
              <a:cxnLst/>
              <a:rect l="l" t="t" r="r" b="b"/>
              <a:pathLst>
                <a:path w="195961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59610" h="132714">
                  <a:moveTo>
                    <a:pt x="1959356" y="66294"/>
                  </a:moveTo>
                  <a:lnTo>
                    <a:pt x="1934743" y="51943"/>
                  </a:lnTo>
                  <a:lnTo>
                    <a:pt x="1845691" y="0"/>
                  </a:lnTo>
                  <a:lnTo>
                    <a:pt x="1836928" y="2286"/>
                  </a:lnTo>
                  <a:lnTo>
                    <a:pt x="1832864" y="9144"/>
                  </a:lnTo>
                  <a:lnTo>
                    <a:pt x="1828927" y="15875"/>
                  </a:lnTo>
                  <a:lnTo>
                    <a:pt x="1831213" y="24638"/>
                  </a:lnTo>
                  <a:lnTo>
                    <a:pt x="1878063" y="51943"/>
                  </a:lnTo>
                  <a:lnTo>
                    <a:pt x="1405128" y="51943"/>
                  </a:lnTo>
                  <a:lnTo>
                    <a:pt x="1405128" y="80518"/>
                  </a:lnTo>
                  <a:lnTo>
                    <a:pt x="1878279" y="80518"/>
                  </a:lnTo>
                  <a:lnTo>
                    <a:pt x="1831213" y="107950"/>
                  </a:lnTo>
                  <a:lnTo>
                    <a:pt x="1828927" y="116713"/>
                  </a:lnTo>
                  <a:lnTo>
                    <a:pt x="1832864" y="123444"/>
                  </a:lnTo>
                  <a:lnTo>
                    <a:pt x="1836928" y="130302"/>
                  </a:lnTo>
                  <a:lnTo>
                    <a:pt x="1845691" y="132588"/>
                  </a:lnTo>
                  <a:lnTo>
                    <a:pt x="1934959" y="80518"/>
                  </a:lnTo>
                  <a:lnTo>
                    <a:pt x="1959356" y="66294"/>
                  </a:lnTo>
                  <a:close/>
                </a:path>
              </a:pathLst>
            </a:custGeom>
            <a:solidFill>
              <a:srgbClr val="647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62450" y="5308091"/>
              <a:ext cx="1941195" cy="132715"/>
            </a:xfrm>
            <a:custGeom>
              <a:avLst/>
              <a:gdLst/>
              <a:ahLst/>
              <a:cxnLst/>
              <a:rect l="l" t="t" r="r" b="b"/>
              <a:pathLst>
                <a:path w="1941195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41195" h="132714">
                  <a:moveTo>
                    <a:pt x="1941068" y="66294"/>
                  </a:moveTo>
                  <a:lnTo>
                    <a:pt x="1916455" y="51943"/>
                  </a:lnTo>
                  <a:lnTo>
                    <a:pt x="1827403" y="0"/>
                  </a:lnTo>
                  <a:lnTo>
                    <a:pt x="1818640" y="2286"/>
                  </a:lnTo>
                  <a:lnTo>
                    <a:pt x="1814576" y="9144"/>
                  </a:lnTo>
                  <a:lnTo>
                    <a:pt x="1810639" y="15875"/>
                  </a:lnTo>
                  <a:lnTo>
                    <a:pt x="1812925" y="24638"/>
                  </a:lnTo>
                  <a:lnTo>
                    <a:pt x="1859775" y="51943"/>
                  </a:lnTo>
                  <a:lnTo>
                    <a:pt x="1386840" y="51943"/>
                  </a:lnTo>
                  <a:lnTo>
                    <a:pt x="1386840" y="80518"/>
                  </a:lnTo>
                  <a:lnTo>
                    <a:pt x="1859991" y="80518"/>
                  </a:lnTo>
                  <a:lnTo>
                    <a:pt x="1812925" y="107950"/>
                  </a:lnTo>
                  <a:lnTo>
                    <a:pt x="1810639" y="116713"/>
                  </a:lnTo>
                  <a:lnTo>
                    <a:pt x="1814576" y="123444"/>
                  </a:lnTo>
                  <a:lnTo>
                    <a:pt x="1818640" y="130302"/>
                  </a:lnTo>
                  <a:lnTo>
                    <a:pt x="1827403" y="132588"/>
                  </a:lnTo>
                  <a:lnTo>
                    <a:pt x="1916671" y="80518"/>
                  </a:lnTo>
                  <a:lnTo>
                    <a:pt x="1941068" y="66294"/>
                  </a:lnTo>
                  <a:close/>
                </a:path>
              </a:pathLst>
            </a:custGeom>
            <a:solidFill>
              <a:srgbClr val="AC13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16318" y="5308091"/>
              <a:ext cx="1938020" cy="132715"/>
            </a:xfrm>
            <a:custGeom>
              <a:avLst/>
              <a:gdLst/>
              <a:ahLst/>
              <a:cxnLst/>
              <a:rect l="l" t="t" r="r" b="b"/>
              <a:pathLst>
                <a:path w="1938020" h="132714">
                  <a:moveTo>
                    <a:pt x="554228" y="66294"/>
                  </a:moveTo>
                  <a:lnTo>
                    <a:pt x="529615" y="51943"/>
                  </a:lnTo>
                  <a:lnTo>
                    <a:pt x="440563" y="0"/>
                  </a:lnTo>
                  <a:lnTo>
                    <a:pt x="431800" y="2286"/>
                  </a:lnTo>
                  <a:lnTo>
                    <a:pt x="427736" y="9144"/>
                  </a:lnTo>
                  <a:lnTo>
                    <a:pt x="423799" y="15875"/>
                  </a:lnTo>
                  <a:lnTo>
                    <a:pt x="426085" y="24638"/>
                  </a:lnTo>
                  <a:lnTo>
                    <a:pt x="472935" y="51943"/>
                  </a:lnTo>
                  <a:lnTo>
                    <a:pt x="0" y="51943"/>
                  </a:lnTo>
                  <a:lnTo>
                    <a:pt x="0" y="80518"/>
                  </a:lnTo>
                  <a:lnTo>
                    <a:pt x="473151" y="80518"/>
                  </a:lnTo>
                  <a:lnTo>
                    <a:pt x="426085" y="107950"/>
                  </a:lnTo>
                  <a:lnTo>
                    <a:pt x="423799" y="116713"/>
                  </a:lnTo>
                  <a:lnTo>
                    <a:pt x="427736" y="123444"/>
                  </a:lnTo>
                  <a:lnTo>
                    <a:pt x="431800" y="130302"/>
                  </a:lnTo>
                  <a:lnTo>
                    <a:pt x="440563" y="132588"/>
                  </a:lnTo>
                  <a:lnTo>
                    <a:pt x="529831" y="80518"/>
                  </a:lnTo>
                  <a:lnTo>
                    <a:pt x="554228" y="66294"/>
                  </a:lnTo>
                  <a:close/>
                </a:path>
                <a:path w="1938020" h="132714">
                  <a:moveTo>
                    <a:pt x="1938020" y="66294"/>
                  </a:moveTo>
                  <a:lnTo>
                    <a:pt x="1913407" y="51943"/>
                  </a:lnTo>
                  <a:lnTo>
                    <a:pt x="1824355" y="0"/>
                  </a:lnTo>
                  <a:lnTo>
                    <a:pt x="1815592" y="2286"/>
                  </a:lnTo>
                  <a:lnTo>
                    <a:pt x="1811528" y="9144"/>
                  </a:lnTo>
                  <a:lnTo>
                    <a:pt x="1807591" y="15875"/>
                  </a:lnTo>
                  <a:lnTo>
                    <a:pt x="1809877" y="24638"/>
                  </a:lnTo>
                  <a:lnTo>
                    <a:pt x="1856727" y="51943"/>
                  </a:lnTo>
                  <a:lnTo>
                    <a:pt x="1383792" y="51943"/>
                  </a:lnTo>
                  <a:lnTo>
                    <a:pt x="1383792" y="80518"/>
                  </a:lnTo>
                  <a:lnTo>
                    <a:pt x="1856943" y="80518"/>
                  </a:lnTo>
                  <a:lnTo>
                    <a:pt x="1809877" y="107950"/>
                  </a:lnTo>
                  <a:lnTo>
                    <a:pt x="1807591" y="116713"/>
                  </a:lnTo>
                  <a:lnTo>
                    <a:pt x="1811528" y="123444"/>
                  </a:lnTo>
                  <a:lnTo>
                    <a:pt x="1815592" y="130302"/>
                  </a:lnTo>
                  <a:lnTo>
                    <a:pt x="1824355" y="132588"/>
                  </a:lnTo>
                  <a:lnTo>
                    <a:pt x="1913623" y="80518"/>
                  </a:lnTo>
                  <a:lnTo>
                    <a:pt x="1938020" y="66294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680717" y="504146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61461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473BA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42205" y="5041772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AC1381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25490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AC1381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0496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82914" y="5040248"/>
            <a:ext cx="370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43864"/>
                </a:solidFill>
                <a:latin typeface="メイリオ"/>
                <a:cs typeface="メイリオ"/>
              </a:rPr>
              <a:t>+1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51572" y="2263901"/>
            <a:ext cx="4211320" cy="719455"/>
          </a:xfrm>
          <a:custGeom>
            <a:avLst/>
            <a:gdLst/>
            <a:ahLst/>
            <a:cxnLst/>
            <a:rect l="l" t="t" r="r" b="b"/>
            <a:pathLst>
              <a:path w="4211320" h="719455">
                <a:moveTo>
                  <a:pt x="200025" y="0"/>
                </a:moveTo>
                <a:lnTo>
                  <a:pt x="868552" y="0"/>
                </a:lnTo>
                <a:lnTo>
                  <a:pt x="1871345" y="0"/>
                </a:lnTo>
                <a:lnTo>
                  <a:pt x="4211193" y="0"/>
                </a:lnTo>
                <a:lnTo>
                  <a:pt x="4211193" y="419608"/>
                </a:lnTo>
                <a:lnTo>
                  <a:pt x="4211193" y="599439"/>
                </a:lnTo>
                <a:lnTo>
                  <a:pt x="4211193" y="719327"/>
                </a:lnTo>
                <a:lnTo>
                  <a:pt x="1871345" y="719327"/>
                </a:lnTo>
                <a:lnTo>
                  <a:pt x="868552" y="719327"/>
                </a:lnTo>
                <a:lnTo>
                  <a:pt x="200025" y="719327"/>
                </a:lnTo>
                <a:lnTo>
                  <a:pt x="200025" y="599439"/>
                </a:lnTo>
                <a:lnTo>
                  <a:pt x="0" y="558673"/>
                </a:lnTo>
                <a:lnTo>
                  <a:pt x="200025" y="419608"/>
                </a:lnTo>
                <a:lnTo>
                  <a:pt x="200025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560818" y="2342768"/>
            <a:ext cx="3794125" cy="5067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679450" marR="30480" indent="-641985">
              <a:lnSpc>
                <a:spcPts val="1870"/>
              </a:lnSpc>
              <a:spcBef>
                <a:spcPts val="200"/>
              </a:spcBef>
            </a:pPr>
            <a:r>
              <a:rPr sz="1600" dirty="0">
                <a:latin typeface="Cambria Math"/>
                <a:cs typeface="Cambria Math"/>
              </a:rPr>
              <a:t>𝐥𝐨𝐠</a:t>
            </a:r>
            <a:r>
              <a:rPr sz="1725" baseline="-14492" dirty="0">
                <a:latin typeface="Cambria Math"/>
                <a:cs typeface="Cambria Math"/>
              </a:rPr>
              <a:t>𝟐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204" dirty="0">
                <a:latin typeface="Cambria Math"/>
                <a:cs typeface="Cambria Math"/>
              </a:rPr>
              <a:t> </a:t>
            </a:r>
            <a:r>
              <a:rPr sz="1600" b="1" spc="-25" dirty="0">
                <a:latin typeface="メイリオ"/>
                <a:cs typeface="メイリオ"/>
              </a:rPr>
              <a:t>は「</a:t>
            </a:r>
            <a:r>
              <a:rPr sz="1600" b="1" dirty="0">
                <a:latin typeface="メイリオ"/>
                <a:cs typeface="メイリオ"/>
              </a:rPr>
              <a:t>2</a:t>
            </a:r>
            <a:r>
              <a:rPr sz="1600" b="1" spc="-25" dirty="0">
                <a:latin typeface="メイリオ"/>
                <a:cs typeface="メイリオ"/>
              </a:rPr>
              <a:t> を何乗したら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195" dirty="0">
                <a:latin typeface="Cambria Math"/>
                <a:cs typeface="Cambria Math"/>
              </a:rPr>
              <a:t> </a:t>
            </a:r>
            <a:r>
              <a:rPr sz="1600" b="1" spc="-30" dirty="0">
                <a:latin typeface="メイリオ"/>
                <a:cs typeface="メイリオ"/>
              </a:rPr>
              <a:t>になるか」であることを思い出そう！</a:t>
            </a:r>
            <a:endParaRPr sz="1600">
              <a:latin typeface="メイリオ"/>
              <a:cs typeface="メイリオ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931402" y="4205478"/>
            <a:ext cx="1548765" cy="937260"/>
          </a:xfrm>
          <a:custGeom>
            <a:avLst/>
            <a:gdLst/>
            <a:ahLst/>
            <a:cxnLst/>
            <a:rect l="l" t="t" r="r" b="b"/>
            <a:pathLst>
              <a:path w="1548765" h="937260">
                <a:moveTo>
                  <a:pt x="0" y="0"/>
                </a:moveTo>
                <a:lnTo>
                  <a:pt x="258064" y="0"/>
                </a:lnTo>
                <a:lnTo>
                  <a:pt x="645159" y="0"/>
                </a:lnTo>
                <a:lnTo>
                  <a:pt x="1548383" y="0"/>
                </a:lnTo>
                <a:lnTo>
                  <a:pt x="1548383" y="464947"/>
                </a:lnTo>
                <a:lnTo>
                  <a:pt x="1548383" y="664210"/>
                </a:lnTo>
                <a:lnTo>
                  <a:pt x="1548383" y="797052"/>
                </a:lnTo>
                <a:lnTo>
                  <a:pt x="645159" y="797052"/>
                </a:lnTo>
                <a:lnTo>
                  <a:pt x="482980" y="937133"/>
                </a:lnTo>
                <a:lnTo>
                  <a:pt x="258064" y="797052"/>
                </a:lnTo>
                <a:lnTo>
                  <a:pt x="0" y="797052"/>
                </a:lnTo>
                <a:lnTo>
                  <a:pt x="0" y="664210"/>
                </a:lnTo>
                <a:lnTo>
                  <a:pt x="0" y="46494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063608" y="4247134"/>
            <a:ext cx="12858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00"/>
              </a:spcBef>
              <a:buAutoNum type="arabicPlain" startAt="2"/>
              <a:tabLst>
                <a:tab pos="253365" algn="l"/>
              </a:tabLst>
            </a:pPr>
            <a:r>
              <a:rPr sz="2000" spc="-15" dirty="0">
                <a:latin typeface="メイリオ"/>
                <a:cs typeface="メイリオ"/>
              </a:rPr>
              <a:t>歩進むを</a:t>
            </a:r>
            <a:endParaRPr sz="2000">
              <a:latin typeface="メイリオ"/>
              <a:cs typeface="メイリオ"/>
            </a:endParaRPr>
          </a:p>
          <a:p>
            <a:pPr marL="379730" indent="-240665">
              <a:lnSpc>
                <a:spcPct val="100000"/>
              </a:lnSpc>
              <a:buAutoNum type="arabicPlain" startAt="2"/>
              <a:tabLst>
                <a:tab pos="379730" algn="l"/>
              </a:tabLst>
            </a:pPr>
            <a:r>
              <a:rPr sz="2000" spc="-20" dirty="0">
                <a:latin typeface="メイリオ"/>
                <a:cs typeface="メイリオ"/>
              </a:rPr>
              <a:t>回やる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1295400" y="0"/>
                </a:moveTo>
                <a:lnTo>
                  <a:pt x="0" y="0"/>
                </a:lnTo>
                <a:lnTo>
                  <a:pt x="0" y="1295400"/>
                </a:lnTo>
                <a:lnTo>
                  <a:pt x="1295400" y="1295400"/>
                </a:lnTo>
                <a:lnTo>
                  <a:pt x="1295400" y="0"/>
                </a:lnTo>
                <a:close/>
              </a:path>
            </a:pathLst>
          </a:custGeom>
          <a:solidFill>
            <a:srgbClr val="F4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5400" y="0"/>
            <a:ext cx="10896600" cy="1295400"/>
            <a:chOff x="1295400" y="0"/>
            <a:chExt cx="10896600" cy="1295400"/>
          </a:xfrm>
        </p:grpSpPr>
        <p:sp>
          <p:nvSpPr>
            <p:cNvPr id="5" name="object 5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122" y="198501"/>
            <a:ext cx="88093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メイリオ"/>
                <a:cs typeface="メイリオ"/>
              </a:rPr>
              <a:t>“本章のゴール” を解こう（難</a:t>
            </a:r>
            <a:r>
              <a:rPr sz="4800" b="1" spc="-50" dirty="0">
                <a:solidFill>
                  <a:srgbClr val="FFFFFF"/>
                </a:solidFill>
                <a:latin typeface="メイリオ"/>
                <a:cs typeface="メイリオ"/>
              </a:rPr>
              <a:t>）</a:t>
            </a:r>
            <a:endParaRPr sz="4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137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283207"/>
            <a:ext cx="12192000" cy="5575300"/>
            <a:chOff x="0" y="1283207"/>
            <a:chExt cx="12192000" cy="5575300"/>
          </a:xfrm>
        </p:grpSpPr>
        <p:sp>
          <p:nvSpPr>
            <p:cNvPr id="11" name="object 11"/>
            <p:cNvSpPr/>
            <p:nvPr/>
          </p:nvSpPr>
          <p:spPr>
            <a:xfrm>
              <a:off x="0" y="1283207"/>
              <a:ext cx="12192000" cy="5575300"/>
            </a:xfrm>
            <a:custGeom>
              <a:avLst/>
              <a:gdLst/>
              <a:ahLst/>
              <a:cxnLst/>
              <a:rect l="l" t="t" r="r" b="b"/>
              <a:pathLst>
                <a:path w="12192000" h="5575300">
                  <a:moveTo>
                    <a:pt x="12192000" y="0"/>
                  </a:moveTo>
                  <a:lnTo>
                    <a:pt x="0" y="0"/>
                  </a:lnTo>
                  <a:lnTo>
                    <a:pt x="0" y="5574792"/>
                  </a:lnTo>
                  <a:lnTo>
                    <a:pt x="12192000" y="557479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04040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18719" y="3289426"/>
              <a:ext cx="4561840" cy="2587625"/>
            </a:xfrm>
            <a:custGeom>
              <a:avLst/>
              <a:gdLst/>
              <a:ahLst/>
              <a:cxnLst/>
              <a:rect l="l" t="t" r="r" b="b"/>
              <a:pathLst>
                <a:path w="4561840" h="2587625">
                  <a:moveTo>
                    <a:pt x="4561598" y="2520823"/>
                  </a:moveTo>
                  <a:lnTo>
                    <a:pt x="4537087" y="2506535"/>
                  </a:lnTo>
                  <a:lnTo>
                    <a:pt x="4447933" y="2454503"/>
                  </a:lnTo>
                  <a:lnTo>
                    <a:pt x="4439170" y="2456802"/>
                  </a:lnTo>
                  <a:lnTo>
                    <a:pt x="4435106" y="2463622"/>
                  </a:lnTo>
                  <a:lnTo>
                    <a:pt x="4431169" y="2470429"/>
                  </a:lnTo>
                  <a:lnTo>
                    <a:pt x="4433455" y="2479179"/>
                  </a:lnTo>
                  <a:lnTo>
                    <a:pt x="4480357" y="2506535"/>
                  </a:lnTo>
                  <a:lnTo>
                    <a:pt x="3480828" y="2506535"/>
                  </a:lnTo>
                  <a:lnTo>
                    <a:pt x="3480828" y="215773"/>
                  </a:lnTo>
                  <a:lnTo>
                    <a:pt x="3048012" y="215773"/>
                  </a:lnTo>
                  <a:lnTo>
                    <a:pt x="3048012" y="2506535"/>
                  </a:lnTo>
                  <a:lnTo>
                    <a:pt x="2926092" y="2506535"/>
                  </a:lnTo>
                  <a:lnTo>
                    <a:pt x="2926092" y="1367917"/>
                  </a:lnTo>
                  <a:lnTo>
                    <a:pt x="2493276" y="1367917"/>
                  </a:lnTo>
                  <a:lnTo>
                    <a:pt x="2493276" y="2506535"/>
                  </a:lnTo>
                  <a:lnTo>
                    <a:pt x="2371356" y="2506535"/>
                  </a:lnTo>
                  <a:lnTo>
                    <a:pt x="2371356" y="1943989"/>
                  </a:lnTo>
                  <a:lnTo>
                    <a:pt x="1940064" y="1943989"/>
                  </a:lnTo>
                  <a:lnTo>
                    <a:pt x="1940064" y="2506535"/>
                  </a:lnTo>
                  <a:lnTo>
                    <a:pt x="1818144" y="2506535"/>
                  </a:lnTo>
                  <a:lnTo>
                    <a:pt x="1818144" y="2232025"/>
                  </a:lnTo>
                  <a:lnTo>
                    <a:pt x="1385328" y="2232025"/>
                  </a:lnTo>
                  <a:lnTo>
                    <a:pt x="1385328" y="2506535"/>
                  </a:lnTo>
                  <a:lnTo>
                    <a:pt x="1263408" y="2506535"/>
                  </a:lnTo>
                  <a:lnTo>
                    <a:pt x="1263408" y="2376805"/>
                  </a:lnTo>
                  <a:lnTo>
                    <a:pt x="832116" y="2376805"/>
                  </a:lnTo>
                  <a:lnTo>
                    <a:pt x="832116" y="2506535"/>
                  </a:lnTo>
                  <a:lnTo>
                    <a:pt x="708672" y="2506535"/>
                  </a:lnTo>
                  <a:lnTo>
                    <a:pt x="708672" y="2448433"/>
                  </a:lnTo>
                  <a:lnTo>
                    <a:pt x="277380" y="2448433"/>
                  </a:lnTo>
                  <a:lnTo>
                    <a:pt x="277380" y="2506535"/>
                  </a:lnTo>
                  <a:lnTo>
                    <a:pt x="80530" y="2506535"/>
                  </a:lnTo>
                  <a:lnTo>
                    <a:pt x="80530" y="81038"/>
                  </a:lnTo>
                  <a:lnTo>
                    <a:pt x="80530" y="35560"/>
                  </a:lnTo>
                  <a:lnTo>
                    <a:pt x="80530" y="28448"/>
                  </a:lnTo>
                  <a:lnTo>
                    <a:pt x="80657" y="81254"/>
                  </a:lnTo>
                  <a:lnTo>
                    <a:pt x="104025" y="121285"/>
                  </a:lnTo>
                  <a:lnTo>
                    <a:pt x="107962" y="128143"/>
                  </a:lnTo>
                  <a:lnTo>
                    <a:pt x="116725" y="130429"/>
                  </a:lnTo>
                  <a:lnTo>
                    <a:pt x="123456" y="126492"/>
                  </a:lnTo>
                  <a:lnTo>
                    <a:pt x="130314" y="122555"/>
                  </a:lnTo>
                  <a:lnTo>
                    <a:pt x="132600" y="113792"/>
                  </a:lnTo>
                  <a:lnTo>
                    <a:pt x="128663" y="106934"/>
                  </a:lnTo>
                  <a:lnTo>
                    <a:pt x="82892" y="28448"/>
                  </a:lnTo>
                  <a:lnTo>
                    <a:pt x="66306" y="0"/>
                  </a:lnTo>
                  <a:lnTo>
                    <a:pt x="3949" y="106934"/>
                  </a:lnTo>
                  <a:lnTo>
                    <a:pt x="0" y="113792"/>
                  </a:lnTo>
                  <a:lnTo>
                    <a:pt x="2298" y="122555"/>
                  </a:lnTo>
                  <a:lnTo>
                    <a:pt x="9156" y="126492"/>
                  </a:lnTo>
                  <a:lnTo>
                    <a:pt x="15875" y="130429"/>
                  </a:lnTo>
                  <a:lnTo>
                    <a:pt x="24650" y="128143"/>
                  </a:lnTo>
                  <a:lnTo>
                    <a:pt x="28575" y="121285"/>
                  </a:lnTo>
                  <a:lnTo>
                    <a:pt x="51955" y="81254"/>
                  </a:lnTo>
                  <a:lnTo>
                    <a:pt x="51955" y="81038"/>
                  </a:lnTo>
                  <a:lnTo>
                    <a:pt x="66306" y="56667"/>
                  </a:lnTo>
                  <a:lnTo>
                    <a:pt x="52082" y="81038"/>
                  </a:lnTo>
                  <a:lnTo>
                    <a:pt x="51955" y="2521648"/>
                  </a:lnTo>
                  <a:lnTo>
                    <a:pt x="66306" y="2521648"/>
                  </a:lnTo>
                  <a:lnTo>
                    <a:pt x="66306" y="2535110"/>
                  </a:lnTo>
                  <a:lnTo>
                    <a:pt x="4480357" y="2535110"/>
                  </a:lnTo>
                  <a:lnTo>
                    <a:pt x="4433455" y="2562466"/>
                  </a:lnTo>
                  <a:lnTo>
                    <a:pt x="4431169" y="2571216"/>
                  </a:lnTo>
                  <a:lnTo>
                    <a:pt x="4435106" y="2578023"/>
                  </a:lnTo>
                  <a:lnTo>
                    <a:pt x="4439170" y="2584843"/>
                  </a:lnTo>
                  <a:lnTo>
                    <a:pt x="4447933" y="2587142"/>
                  </a:lnTo>
                  <a:lnTo>
                    <a:pt x="4537087" y="2535110"/>
                  </a:lnTo>
                  <a:lnTo>
                    <a:pt x="4561598" y="2520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01096" y="4505705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45" dirty="0">
                <a:solidFill>
                  <a:srgbClr val="FFFFFF"/>
                </a:solidFill>
                <a:latin typeface="メイリオ"/>
                <a:cs typeface="メイリオ"/>
              </a:rPr>
              <a:t>•••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8809" y="5462727"/>
            <a:ext cx="248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43292" y="5387085"/>
            <a:ext cx="248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20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97393" y="5253609"/>
            <a:ext cx="248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40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54033" y="4948554"/>
            <a:ext cx="248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80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9588" y="4375480"/>
            <a:ext cx="3594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160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03689" y="3220338"/>
            <a:ext cx="3594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メイリオ"/>
                <a:cs typeface="メイリオ"/>
              </a:rPr>
              <a:t>320</a:t>
            </a:r>
            <a:endParaRPr sz="1400">
              <a:latin typeface="メイリオ"/>
              <a:cs typeface="メイリオ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08800" y="5876035"/>
            <a:ext cx="5048250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23240" algn="l"/>
              </a:tabLst>
            </a:pP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現</a:t>
            </a:r>
            <a:r>
              <a:rPr sz="2100" spc="-75" baseline="1984" dirty="0">
                <a:solidFill>
                  <a:srgbClr val="FFFFFF"/>
                </a:solidFill>
                <a:latin typeface="メイリオ"/>
                <a:cs typeface="メイリオ"/>
              </a:rPr>
              <a:t>在</a:t>
            </a: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2100" spc="-15" baseline="1984" dirty="0">
                <a:solidFill>
                  <a:srgbClr val="FFFFFF"/>
                </a:solidFill>
                <a:latin typeface="メイリオ"/>
                <a:cs typeface="メイリオ"/>
              </a:rPr>
              <a:t>1</a:t>
            </a: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週後</a:t>
            </a:r>
            <a:r>
              <a:rPr sz="2100" spc="367" baseline="1984" dirty="0">
                <a:solidFill>
                  <a:srgbClr val="FFFFFF"/>
                </a:solidFill>
                <a:latin typeface="メイリオ"/>
                <a:cs typeface="メイリオ"/>
              </a:rPr>
              <a:t> </a:t>
            </a:r>
            <a:r>
              <a:rPr sz="2100" spc="-15" baseline="1984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週後</a:t>
            </a:r>
            <a:r>
              <a:rPr sz="2100" spc="472" baseline="1984" dirty="0">
                <a:solidFill>
                  <a:srgbClr val="FFFFFF"/>
                </a:solidFill>
                <a:latin typeface="メイリオ"/>
                <a:cs typeface="メイリオ"/>
              </a:rPr>
              <a:t> </a:t>
            </a:r>
            <a:r>
              <a:rPr sz="2100" spc="-15" baseline="1984" dirty="0">
                <a:solidFill>
                  <a:srgbClr val="FFFFFF"/>
                </a:solidFill>
                <a:latin typeface="メイリオ"/>
                <a:cs typeface="メイリオ"/>
              </a:rPr>
              <a:t>3</a:t>
            </a: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週後</a:t>
            </a:r>
            <a:r>
              <a:rPr sz="2100" spc="254" baseline="1984" dirty="0">
                <a:solidFill>
                  <a:srgbClr val="FFFFFF"/>
                </a:solidFill>
                <a:latin typeface="メイリオ"/>
                <a:cs typeface="メイリオ"/>
              </a:rPr>
              <a:t> </a:t>
            </a:r>
            <a:r>
              <a:rPr sz="2100" spc="-15" baseline="1984" dirty="0">
                <a:solidFill>
                  <a:srgbClr val="FFFFFF"/>
                </a:solidFill>
                <a:latin typeface="メイリオ"/>
                <a:cs typeface="メイリオ"/>
              </a:rPr>
              <a:t>4</a:t>
            </a:r>
            <a:r>
              <a:rPr sz="2100" baseline="1984" dirty="0">
                <a:solidFill>
                  <a:srgbClr val="FFFFFF"/>
                </a:solidFill>
                <a:latin typeface="メイリオ"/>
                <a:cs typeface="メイリオ"/>
              </a:rPr>
              <a:t>週後</a:t>
            </a:r>
            <a:r>
              <a:rPr sz="2100" spc="284" baseline="1984" dirty="0">
                <a:solidFill>
                  <a:srgbClr val="FFFFFF"/>
                </a:solidFill>
                <a:latin typeface="メイリオ"/>
                <a:cs typeface="メイリオ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メイリオ"/>
                <a:cs typeface="メイリオ"/>
              </a:rPr>
              <a:t>5</a:t>
            </a:r>
            <a:r>
              <a:rPr sz="1400" dirty="0">
                <a:solidFill>
                  <a:srgbClr val="FFFFFF"/>
                </a:solidFill>
                <a:latin typeface="メイリオ"/>
                <a:cs typeface="メイリオ"/>
              </a:rPr>
              <a:t>週</a:t>
            </a:r>
            <a:r>
              <a:rPr sz="1400" spc="-50" dirty="0">
                <a:solidFill>
                  <a:srgbClr val="FFFFFF"/>
                </a:solidFill>
                <a:latin typeface="メイリオ"/>
                <a:cs typeface="メイリオ"/>
              </a:rPr>
              <a:t>後</a:t>
            </a:r>
            <a:endParaRPr sz="14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メイリオ"/>
              <a:cs typeface="メイリオ"/>
            </a:endParaRPr>
          </a:p>
          <a:p>
            <a:pPr marL="1085850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メイリオ"/>
                <a:cs typeface="メイリオ"/>
              </a:rPr>
              <a:t>※ </a:t>
            </a:r>
            <a:r>
              <a:rPr sz="12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1275" baseline="-16339" dirty="0">
                <a:solidFill>
                  <a:srgbClr val="FFFFFF"/>
                </a:solidFill>
                <a:latin typeface="Cambria Math"/>
                <a:cs typeface="Cambria Math"/>
              </a:rPr>
              <a:t>𝟏𝟎</a:t>
            </a:r>
            <a:r>
              <a:rPr sz="1275" spc="112" baseline="-16339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1200" spc="1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メイリオ"/>
                <a:cs typeface="メイリオ"/>
              </a:rPr>
              <a:t>の値は「常用対数表」で検索すると出てきます</a:t>
            </a:r>
            <a:endParaRPr sz="12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1466" y="1930120"/>
            <a:ext cx="9573260" cy="14052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0"/>
              </a:spcBef>
            </a:pPr>
            <a:r>
              <a:rPr sz="2000" b="1" spc="-20" dirty="0">
                <a:solidFill>
                  <a:srgbClr val="FFFFFF"/>
                </a:solidFill>
                <a:latin typeface="メイリオ"/>
                <a:cs typeface="メイリオ"/>
              </a:rPr>
              <a:t>ある週の東京都の新型コロナウイルス感染者数は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2000" b="1" spc="-20" dirty="0">
                <a:solidFill>
                  <a:srgbClr val="FFFFFF"/>
                </a:solidFill>
                <a:latin typeface="メイリオ"/>
                <a:cs typeface="メイリオ"/>
              </a:rPr>
              <a:t> 人でした。</a:t>
            </a:r>
            <a:endParaRPr sz="2000">
              <a:latin typeface="メイリオ"/>
              <a:cs typeface="メイリオ"/>
            </a:endParaRPr>
          </a:p>
          <a:p>
            <a:pPr marL="508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solidFill>
                  <a:srgbClr val="FFFFFF"/>
                </a:solidFill>
                <a:latin typeface="メイリオ"/>
                <a:cs typeface="メイリオ"/>
              </a:rPr>
              <a:t>一週間で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2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 倍になるとき、感染者数が </a:t>
            </a:r>
            <a:r>
              <a:rPr sz="2000" b="1" dirty="0">
                <a:solidFill>
                  <a:srgbClr val="FFFFFF"/>
                </a:solidFill>
                <a:latin typeface="メイリオ"/>
                <a:cs typeface="メイリオ"/>
              </a:rPr>
              <a:t>10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 万人を超えるのは何週間後でしょうか。</a:t>
            </a:r>
            <a:endParaRPr sz="2000">
              <a:latin typeface="メイリオ"/>
              <a:cs typeface="メイリオ"/>
            </a:endParaRPr>
          </a:p>
          <a:p>
            <a:pPr marL="50800">
              <a:lnSpc>
                <a:spcPct val="100000"/>
              </a:lnSpc>
              <a:spcBef>
                <a:spcPts val="1260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ただし、</a:t>
            </a:r>
            <a:r>
              <a:rPr sz="2000" dirty="0">
                <a:solidFill>
                  <a:srgbClr val="FFFFFF"/>
                </a:solidFill>
                <a:latin typeface="Cambria Math"/>
                <a:cs typeface="Cambria Math"/>
              </a:rPr>
              <a:t>log</a:t>
            </a:r>
            <a:r>
              <a:rPr sz="2175" baseline="-15325" dirty="0">
                <a:solidFill>
                  <a:srgbClr val="FFFFFF"/>
                </a:solidFill>
                <a:latin typeface="Cambria Math"/>
                <a:cs typeface="Cambria Math"/>
              </a:rPr>
              <a:t>𝟏𝟎</a:t>
            </a:r>
            <a:r>
              <a:rPr sz="2175" spc="142" baseline="-153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000" spc="95" dirty="0">
                <a:solidFill>
                  <a:srgbClr val="FFFFFF"/>
                </a:solidFill>
                <a:latin typeface="Cambria Math"/>
                <a:cs typeface="Cambria Math"/>
              </a:rPr>
              <a:t> = </a:t>
            </a:r>
            <a:r>
              <a:rPr sz="2000" spc="-1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r>
              <a:rPr sz="2000" spc="-50" dirty="0">
                <a:solidFill>
                  <a:srgbClr val="FFFFFF"/>
                </a:solidFill>
                <a:latin typeface="Cambria Math"/>
                <a:cs typeface="Cambria Math"/>
              </a:rPr>
              <a:t>. </a:t>
            </a:r>
            <a:r>
              <a:rPr sz="2000" dirty="0">
                <a:solidFill>
                  <a:srgbClr val="FFFFFF"/>
                </a:solidFill>
                <a:latin typeface="Cambria Math"/>
                <a:cs typeface="Cambria Math"/>
              </a:rPr>
              <a:t>𝟑𝟎𝟏</a:t>
            </a:r>
            <a:r>
              <a:rPr sz="2000" spc="2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とします</a:t>
            </a:r>
            <a:r>
              <a:rPr sz="1950" b="1" baseline="25641" dirty="0">
                <a:solidFill>
                  <a:srgbClr val="FFFFFF"/>
                </a:solidFill>
                <a:latin typeface="メイリオ"/>
                <a:cs typeface="メイリオ"/>
              </a:rPr>
              <a:t>※</a:t>
            </a:r>
            <a:r>
              <a:rPr sz="2000" b="1" spc="-50" dirty="0">
                <a:solidFill>
                  <a:srgbClr val="FFFFFF"/>
                </a:solidFill>
                <a:latin typeface="メイリオ"/>
                <a:cs typeface="メイリオ"/>
              </a:rPr>
              <a:t>。</a:t>
            </a:r>
            <a:endParaRPr sz="2000">
              <a:latin typeface="メイリオ"/>
              <a:cs typeface="メイリオ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80997" y="3921328"/>
            <a:ext cx="4602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メイリオ"/>
                <a:cs typeface="メイリオ"/>
              </a:rPr>
              <a:t>（</a:t>
            </a:r>
            <a:r>
              <a:rPr sz="2000" b="1" spc="-15" dirty="0">
                <a:solidFill>
                  <a:srgbClr val="FFFFFF"/>
                </a:solidFill>
                <a:latin typeface="メイリオ"/>
                <a:cs typeface="メイリオ"/>
              </a:rPr>
              <a:t>難しいので飛ばしてもかまいません</a:t>
            </a:r>
            <a:r>
              <a:rPr sz="2000" b="1" spc="-50" dirty="0">
                <a:solidFill>
                  <a:srgbClr val="FFFFFF"/>
                </a:solidFill>
                <a:latin typeface="メイリオ"/>
                <a:cs typeface="メイリオ"/>
              </a:rPr>
              <a:t>）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98729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5</a:t>
            </a:r>
            <a:r>
              <a:rPr dirty="0"/>
              <a:t>	</a:t>
            </a:r>
            <a:r>
              <a:rPr sz="4800" dirty="0"/>
              <a:t>“本章のゴール” を解こう（難</a:t>
            </a:r>
            <a:r>
              <a:rPr sz="4800" spc="-50" dirty="0"/>
              <a:t>）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138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166" y="1938654"/>
            <a:ext cx="58845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5" dirty="0">
                <a:latin typeface="メイリオ"/>
                <a:cs typeface="メイリオ"/>
              </a:rPr>
              <a:t>もちろん直接計算しても良いが、とても面倒！</a:t>
            </a:r>
            <a:endParaRPr sz="2200">
              <a:latin typeface="メイリオ"/>
              <a:cs typeface="メイリオ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06107" y="2778251"/>
          <a:ext cx="2880360" cy="3238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感染者数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0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10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20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2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40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80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4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160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646421" y="2778251"/>
          <a:ext cx="2880360" cy="3238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感染者数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5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320</a:t>
                      </a:r>
                      <a:r>
                        <a:rPr sz="1800" b="1" spc="-40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6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640</a:t>
                      </a:r>
                      <a:r>
                        <a:rPr sz="1800" b="1" spc="-3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7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1280</a:t>
                      </a:r>
                      <a:r>
                        <a:rPr sz="1800" b="1" spc="-4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8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2560</a:t>
                      </a:r>
                      <a:r>
                        <a:rPr sz="1800" b="1" spc="-4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9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5120</a:t>
                      </a:r>
                      <a:r>
                        <a:rPr sz="1800" b="1" spc="-4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572754" y="2778251"/>
          <a:ext cx="2880360" cy="3238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感染者数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10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10240</a:t>
                      </a:r>
                      <a:r>
                        <a:rPr sz="1800" b="1" spc="-4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11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20480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84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12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40960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13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81920</a:t>
                      </a:r>
                      <a:r>
                        <a:rPr sz="1800" b="1" spc="-50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14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メイリオ"/>
                          <a:cs typeface="メイリオ"/>
                        </a:rPr>
                        <a:t> 週後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386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 dirty="0">
                          <a:latin typeface="メイリオ"/>
                          <a:cs typeface="メイリオ"/>
                        </a:rPr>
                        <a:t>163840</a:t>
                      </a:r>
                      <a:r>
                        <a:rPr sz="1800" b="1" spc="-55" dirty="0">
                          <a:latin typeface="メイリオ"/>
                          <a:cs typeface="メイリオ"/>
                        </a:rPr>
                        <a:t> 人</a:t>
                      </a:r>
                      <a:endParaRPr sz="1800">
                        <a:latin typeface="メイリオ"/>
                        <a:cs typeface="メイリオ"/>
                      </a:endParaRPr>
                    </a:p>
                  </a:txBody>
                  <a:tcPr marL="0" marR="0" marT="990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98729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5</a:t>
            </a:r>
            <a:r>
              <a:rPr dirty="0"/>
              <a:t>	</a:t>
            </a:r>
            <a:r>
              <a:rPr sz="4800" dirty="0"/>
              <a:t>“本章のゴール” を解こう（難</a:t>
            </a:r>
            <a:r>
              <a:rPr sz="4800" spc="-50" dirty="0"/>
              <a:t>）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139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166" y="1938654"/>
            <a:ext cx="50469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5" dirty="0">
                <a:latin typeface="メイリオ"/>
                <a:cs typeface="メイリオ"/>
              </a:rPr>
              <a:t>そこで、計算方法を少し工夫してみよう</a:t>
            </a:r>
            <a:endParaRPr sz="22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516" y="2610611"/>
            <a:ext cx="10793095" cy="2834640"/>
          </a:xfrm>
          <a:prstGeom prst="rect">
            <a:avLst/>
          </a:prstGeom>
          <a:solidFill>
            <a:srgbClr val="21379E">
              <a:alpha val="19999"/>
            </a:srgbClr>
          </a:solidFill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</a:pPr>
            <a:r>
              <a:rPr sz="2000" b="1" spc="-10" dirty="0">
                <a:latin typeface="メイリオ"/>
                <a:cs typeface="メイリオ"/>
              </a:rPr>
              <a:t>まず、</a:t>
            </a:r>
            <a:r>
              <a:rPr sz="2000" dirty="0">
                <a:latin typeface="Cambria Math"/>
                <a:cs typeface="Cambria Math"/>
              </a:rPr>
              <a:t>𝒙</a:t>
            </a:r>
            <a:r>
              <a:rPr sz="2000" spc="210" dirty="0">
                <a:latin typeface="Cambria Math"/>
                <a:cs typeface="Cambria Math"/>
              </a:rPr>
              <a:t> </a:t>
            </a:r>
            <a:r>
              <a:rPr sz="2000" b="1" spc="-10" dirty="0">
                <a:latin typeface="メイリオ"/>
                <a:cs typeface="メイリオ"/>
              </a:rPr>
              <a:t>週間後の感染者数は最初の </a:t>
            </a:r>
            <a:r>
              <a:rPr sz="2000" dirty="0">
                <a:latin typeface="Cambria Math"/>
                <a:cs typeface="Cambria Math"/>
              </a:rPr>
              <a:t>𝟐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675" baseline="28735" dirty="0">
                <a:latin typeface="Cambria Math"/>
                <a:cs typeface="Cambria Math"/>
              </a:rPr>
              <a:t> </a:t>
            </a:r>
            <a:r>
              <a:rPr sz="2000" b="1" spc="-20" dirty="0">
                <a:latin typeface="メイリオ"/>
                <a:cs typeface="メイリオ"/>
              </a:rPr>
              <a:t>倍になっているが、「感染者数 </a:t>
            </a:r>
            <a:r>
              <a:rPr sz="2000" b="1" dirty="0">
                <a:latin typeface="メイリオ"/>
                <a:cs typeface="メイリオ"/>
              </a:rPr>
              <a:t>10</a:t>
            </a:r>
            <a:r>
              <a:rPr sz="2000" b="1" spc="-10" dirty="0">
                <a:latin typeface="メイリオ"/>
                <a:cs typeface="メイリオ"/>
              </a:rPr>
              <a:t> 人」が </a:t>
            </a:r>
            <a:r>
              <a:rPr sz="2000" b="1" spc="-25" dirty="0">
                <a:latin typeface="メイリオ"/>
                <a:cs typeface="メイリオ"/>
              </a:rPr>
              <a:t>10</a:t>
            </a:r>
            <a:endParaRPr sz="2000">
              <a:latin typeface="メイリオ"/>
              <a:cs typeface="メイリオ"/>
            </a:endParaRPr>
          </a:p>
          <a:p>
            <a:pPr marL="372110">
              <a:lnSpc>
                <a:spcPct val="100000"/>
              </a:lnSpc>
              <a:spcBef>
                <a:spcPts val="1140"/>
              </a:spcBef>
            </a:pPr>
            <a:r>
              <a:rPr sz="2000" b="1" spc="-10" dirty="0">
                <a:latin typeface="メイリオ"/>
                <a:cs typeface="メイリオ"/>
              </a:rPr>
              <a:t>万人になるためには </a:t>
            </a:r>
            <a:r>
              <a:rPr sz="2000" b="1" dirty="0">
                <a:solidFill>
                  <a:srgbClr val="F43864"/>
                </a:solidFill>
                <a:latin typeface="メイリオ"/>
                <a:cs typeface="メイリオ"/>
              </a:rPr>
              <a:t>10000</a:t>
            </a:r>
            <a:r>
              <a:rPr sz="2000" b="1" spc="-20" dirty="0">
                <a:solidFill>
                  <a:srgbClr val="F43864"/>
                </a:solidFill>
                <a:latin typeface="メイリオ"/>
                <a:cs typeface="メイリオ"/>
              </a:rPr>
              <a:t> 倍</a:t>
            </a:r>
            <a:r>
              <a:rPr sz="2000" b="1" spc="-10" dirty="0">
                <a:latin typeface="メイリオ"/>
                <a:cs typeface="メイリオ"/>
              </a:rPr>
              <a:t>になる必要があるので、</a:t>
            </a:r>
            <a:endParaRPr sz="2000">
              <a:latin typeface="メイリオ"/>
              <a:cs typeface="メイリオ"/>
            </a:endParaRPr>
          </a:p>
          <a:p>
            <a:pPr marL="635" algn="ctr">
              <a:lnSpc>
                <a:spcPct val="100000"/>
              </a:lnSpc>
              <a:spcBef>
                <a:spcPts val="2620"/>
              </a:spcBef>
            </a:pPr>
            <a:r>
              <a:rPr sz="2000" dirty="0">
                <a:latin typeface="Cambria Math"/>
                <a:cs typeface="Cambria Math"/>
              </a:rPr>
              <a:t>𝟐</a:t>
            </a:r>
            <a:r>
              <a:rPr sz="2175" baseline="28735" dirty="0">
                <a:latin typeface="Cambria Math"/>
                <a:cs typeface="Cambria Math"/>
              </a:rPr>
              <a:t>𝒙</a:t>
            </a:r>
            <a:r>
              <a:rPr sz="2175" spc="450" baseline="287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𝟏𝟎𝟎𝟎𝟎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ambria Math"/>
              <a:cs typeface="Cambria Math"/>
            </a:endParaRPr>
          </a:p>
          <a:p>
            <a:pPr marL="37211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メイリオ"/>
                <a:cs typeface="メイリオ"/>
              </a:rPr>
              <a:t>を満たす </a:t>
            </a:r>
            <a:r>
              <a:rPr sz="2000" dirty="0">
                <a:latin typeface="Cambria Math"/>
                <a:cs typeface="Cambria Math"/>
              </a:rPr>
              <a:t>𝒙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メイリオ"/>
                <a:cs typeface="メイリオ"/>
              </a:rPr>
              <a:t>が（大まかな）</a:t>
            </a:r>
            <a:r>
              <a:rPr sz="2000" b="1" spc="-15" dirty="0">
                <a:latin typeface="メイリオ"/>
                <a:cs typeface="メイリオ"/>
              </a:rPr>
              <a:t>答えである。</a:t>
            </a:r>
            <a:endParaRPr sz="20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12954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295400" y="1295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95400" y="0"/>
              <a:ext cx="10896600" cy="1295400"/>
            </a:xfrm>
            <a:custGeom>
              <a:avLst/>
              <a:gdLst/>
              <a:ahLst/>
              <a:cxnLst/>
              <a:rect l="l" t="t" r="r" b="b"/>
              <a:pathLst>
                <a:path w="10896600" h="1295400">
                  <a:moveTo>
                    <a:pt x="108966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0896600" y="1295400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43864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79252" y="216408"/>
              <a:ext cx="1161415" cy="862965"/>
            </a:xfrm>
            <a:custGeom>
              <a:avLst/>
              <a:gdLst/>
              <a:ahLst/>
              <a:cxnLst/>
              <a:rect l="l" t="t" r="r" b="b"/>
              <a:pathLst>
                <a:path w="1161415" h="862965">
                  <a:moveTo>
                    <a:pt x="796036" y="0"/>
                  </a:moveTo>
                  <a:lnTo>
                    <a:pt x="365251" y="0"/>
                  </a:lnTo>
                  <a:lnTo>
                    <a:pt x="315699" y="3335"/>
                  </a:lnTo>
                  <a:lnTo>
                    <a:pt x="268169" y="13050"/>
                  </a:lnTo>
                  <a:lnTo>
                    <a:pt x="223099" y="28709"/>
                  </a:lnTo>
                  <a:lnTo>
                    <a:pt x="180923" y="49878"/>
                  </a:lnTo>
                  <a:lnTo>
                    <a:pt x="142077" y="76119"/>
                  </a:lnTo>
                  <a:lnTo>
                    <a:pt x="106997" y="106997"/>
                  </a:lnTo>
                  <a:lnTo>
                    <a:pt x="76119" y="142077"/>
                  </a:lnTo>
                  <a:lnTo>
                    <a:pt x="49878" y="180923"/>
                  </a:lnTo>
                  <a:lnTo>
                    <a:pt x="28709" y="223099"/>
                  </a:lnTo>
                  <a:lnTo>
                    <a:pt x="13050" y="268169"/>
                  </a:lnTo>
                  <a:lnTo>
                    <a:pt x="3335" y="315699"/>
                  </a:lnTo>
                  <a:lnTo>
                    <a:pt x="0" y="365252"/>
                  </a:lnTo>
                  <a:lnTo>
                    <a:pt x="0" y="497332"/>
                  </a:lnTo>
                  <a:lnTo>
                    <a:pt x="3335" y="546884"/>
                  </a:lnTo>
                  <a:lnTo>
                    <a:pt x="13050" y="594414"/>
                  </a:lnTo>
                  <a:lnTo>
                    <a:pt x="28709" y="639484"/>
                  </a:lnTo>
                  <a:lnTo>
                    <a:pt x="49878" y="681660"/>
                  </a:lnTo>
                  <a:lnTo>
                    <a:pt x="76119" y="720506"/>
                  </a:lnTo>
                  <a:lnTo>
                    <a:pt x="106997" y="755586"/>
                  </a:lnTo>
                  <a:lnTo>
                    <a:pt x="142077" y="786464"/>
                  </a:lnTo>
                  <a:lnTo>
                    <a:pt x="180923" y="812705"/>
                  </a:lnTo>
                  <a:lnTo>
                    <a:pt x="223099" y="833874"/>
                  </a:lnTo>
                  <a:lnTo>
                    <a:pt x="268169" y="849533"/>
                  </a:lnTo>
                  <a:lnTo>
                    <a:pt x="315699" y="859248"/>
                  </a:lnTo>
                  <a:lnTo>
                    <a:pt x="365251" y="862584"/>
                  </a:lnTo>
                  <a:lnTo>
                    <a:pt x="796036" y="862584"/>
                  </a:lnTo>
                  <a:lnTo>
                    <a:pt x="845588" y="859248"/>
                  </a:lnTo>
                  <a:lnTo>
                    <a:pt x="893118" y="849533"/>
                  </a:lnTo>
                  <a:lnTo>
                    <a:pt x="938188" y="833874"/>
                  </a:lnTo>
                  <a:lnTo>
                    <a:pt x="980364" y="812705"/>
                  </a:lnTo>
                  <a:lnTo>
                    <a:pt x="1019210" y="786464"/>
                  </a:lnTo>
                  <a:lnTo>
                    <a:pt x="1054290" y="755586"/>
                  </a:lnTo>
                  <a:lnTo>
                    <a:pt x="1085168" y="720506"/>
                  </a:lnTo>
                  <a:lnTo>
                    <a:pt x="1111409" y="681660"/>
                  </a:lnTo>
                  <a:lnTo>
                    <a:pt x="1132578" y="639484"/>
                  </a:lnTo>
                  <a:lnTo>
                    <a:pt x="1148237" y="594414"/>
                  </a:lnTo>
                  <a:lnTo>
                    <a:pt x="1157952" y="546884"/>
                  </a:lnTo>
                  <a:lnTo>
                    <a:pt x="1161288" y="497332"/>
                  </a:lnTo>
                  <a:lnTo>
                    <a:pt x="1161288" y="365252"/>
                  </a:lnTo>
                  <a:lnTo>
                    <a:pt x="1157952" y="315699"/>
                  </a:lnTo>
                  <a:lnTo>
                    <a:pt x="1148237" y="268169"/>
                  </a:lnTo>
                  <a:lnTo>
                    <a:pt x="1132578" y="223099"/>
                  </a:lnTo>
                  <a:lnTo>
                    <a:pt x="1111409" y="180923"/>
                  </a:lnTo>
                  <a:lnTo>
                    <a:pt x="1085168" y="142077"/>
                  </a:lnTo>
                  <a:lnTo>
                    <a:pt x="1054290" y="106997"/>
                  </a:lnTo>
                  <a:lnTo>
                    <a:pt x="1019210" y="76119"/>
                  </a:lnTo>
                  <a:lnTo>
                    <a:pt x="980364" y="49878"/>
                  </a:lnTo>
                  <a:lnTo>
                    <a:pt x="938188" y="28709"/>
                  </a:lnTo>
                  <a:lnTo>
                    <a:pt x="893118" y="13050"/>
                  </a:lnTo>
                  <a:lnTo>
                    <a:pt x="845588" y="3335"/>
                  </a:lnTo>
                  <a:lnTo>
                    <a:pt x="796036" y="0"/>
                  </a:lnTo>
                  <a:close/>
                </a:path>
              </a:pathLst>
            </a:custGeom>
            <a:solidFill>
              <a:srgbClr val="F4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29950" y="371093"/>
              <a:ext cx="649605" cy="554355"/>
            </a:xfrm>
            <a:custGeom>
              <a:avLst/>
              <a:gdLst/>
              <a:ahLst/>
              <a:cxnLst/>
              <a:rect l="l" t="t" r="r" b="b"/>
              <a:pathLst>
                <a:path w="649604" h="554355">
                  <a:moveTo>
                    <a:pt x="0" y="554227"/>
                  </a:moveTo>
                  <a:lnTo>
                    <a:pt x="649477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8040" y="205866"/>
            <a:ext cx="98729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325" algn="l"/>
              </a:tabLst>
            </a:pPr>
            <a:r>
              <a:rPr spc="-50" dirty="0"/>
              <a:t>5</a:t>
            </a:r>
            <a:r>
              <a:rPr dirty="0"/>
              <a:t>	</a:t>
            </a:r>
            <a:r>
              <a:rPr sz="4800" dirty="0"/>
              <a:t>“本章のゴール” を解こう（難</a:t>
            </a:r>
            <a:r>
              <a:rPr sz="4800" spc="-50" dirty="0"/>
              <a:t>）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10890884" y="287909"/>
            <a:ext cx="944880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140</a:t>
            </a:r>
            <a:endParaRPr sz="1800">
              <a:latin typeface="メイリオ"/>
              <a:cs typeface="メイリオ"/>
            </a:endParaRPr>
          </a:p>
          <a:p>
            <a:pPr marL="464184">
              <a:lnSpc>
                <a:spcPct val="100000"/>
              </a:lnSpc>
              <a:spcBef>
                <a:spcPts val="330"/>
              </a:spcBef>
            </a:pPr>
            <a:r>
              <a:rPr sz="1800" b="1" spc="-25" dirty="0">
                <a:solidFill>
                  <a:srgbClr val="FFFFFF"/>
                </a:solidFill>
                <a:latin typeface="メイリオ"/>
                <a:cs typeface="メイリオ"/>
              </a:rPr>
              <a:t>259</a:t>
            </a:r>
            <a:endParaRPr sz="1800">
              <a:latin typeface="メイリオ"/>
              <a:cs typeface="メイリオ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466" y="1946274"/>
            <a:ext cx="7840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200" b="1" spc="-35" dirty="0">
                <a:latin typeface="メイリオ"/>
                <a:cs typeface="メイリオ"/>
              </a:rPr>
              <a:t>さて、</a:t>
            </a:r>
            <a:r>
              <a:rPr sz="2200" dirty="0">
                <a:latin typeface="Cambria Math"/>
                <a:cs typeface="Cambria Math"/>
              </a:rPr>
              <a:t>𝟐</a:t>
            </a:r>
            <a:r>
              <a:rPr sz="2400" baseline="27777" dirty="0">
                <a:latin typeface="Cambria Math"/>
                <a:cs typeface="Cambria Math"/>
              </a:rPr>
              <a:t>𝒙</a:t>
            </a:r>
            <a:r>
              <a:rPr sz="2400" spc="532" baseline="27777" dirty="0">
                <a:latin typeface="Cambria Math"/>
                <a:cs typeface="Cambria Math"/>
              </a:rPr>
              <a:t> </a:t>
            </a:r>
            <a:r>
              <a:rPr sz="2200" spc="65" dirty="0">
                <a:latin typeface="Cambria Math"/>
                <a:cs typeface="Cambria Math"/>
              </a:rPr>
              <a:t>= </a:t>
            </a:r>
            <a:r>
              <a:rPr sz="2200" dirty="0">
                <a:latin typeface="Cambria Math"/>
                <a:cs typeface="Cambria Math"/>
              </a:rPr>
              <a:t>𝟏𝟎𝟎𝟎𝟎</a:t>
            </a:r>
            <a:r>
              <a:rPr sz="2200" spc="270" dirty="0">
                <a:latin typeface="Cambria Math"/>
                <a:cs typeface="Cambria Math"/>
              </a:rPr>
              <a:t> </a:t>
            </a:r>
            <a:r>
              <a:rPr sz="2200" b="1" spc="-15" dirty="0">
                <a:latin typeface="メイリオ"/>
                <a:cs typeface="メイリオ"/>
              </a:rPr>
              <a:t>を満たす 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sz="2200" spc="260" dirty="0">
                <a:latin typeface="Cambria Math"/>
                <a:cs typeface="Cambria Math"/>
              </a:rPr>
              <a:t> </a:t>
            </a:r>
            <a:r>
              <a:rPr sz="2200" b="1" spc="-35" dirty="0">
                <a:latin typeface="メイリオ"/>
                <a:cs typeface="メイリオ"/>
              </a:rPr>
              <a:t>はどうやって求められるのか？</a:t>
            </a:r>
            <a:endParaRPr sz="2200">
              <a:latin typeface="メイリオ"/>
              <a:cs typeface="メイリオ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9516" y="2610611"/>
            <a:ext cx="10793095" cy="3546475"/>
            <a:chOff x="699516" y="2610611"/>
            <a:chExt cx="10793095" cy="3546475"/>
          </a:xfrm>
        </p:grpSpPr>
        <p:sp>
          <p:nvSpPr>
            <p:cNvPr id="11" name="object 11"/>
            <p:cNvSpPr/>
            <p:nvPr/>
          </p:nvSpPr>
          <p:spPr>
            <a:xfrm>
              <a:off x="699516" y="2610611"/>
              <a:ext cx="10793095" cy="3546475"/>
            </a:xfrm>
            <a:custGeom>
              <a:avLst/>
              <a:gdLst/>
              <a:ahLst/>
              <a:cxnLst/>
              <a:rect l="l" t="t" r="r" b="b"/>
              <a:pathLst>
                <a:path w="10793095" h="3546475">
                  <a:moveTo>
                    <a:pt x="10792968" y="0"/>
                  </a:moveTo>
                  <a:lnTo>
                    <a:pt x="0" y="0"/>
                  </a:lnTo>
                  <a:lnTo>
                    <a:pt x="0" y="3546348"/>
                  </a:lnTo>
                  <a:lnTo>
                    <a:pt x="10792968" y="3546348"/>
                  </a:lnTo>
                  <a:lnTo>
                    <a:pt x="10792968" y="0"/>
                  </a:lnTo>
                  <a:close/>
                </a:path>
              </a:pathLst>
            </a:custGeom>
            <a:solidFill>
              <a:srgbClr val="CE8608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34777" y="4148836"/>
              <a:ext cx="838200" cy="212090"/>
            </a:xfrm>
            <a:custGeom>
              <a:avLst/>
              <a:gdLst/>
              <a:ahLst/>
              <a:cxnLst/>
              <a:rect l="l" t="t" r="r" b="b"/>
              <a:pathLst>
                <a:path w="838200" h="212089">
                  <a:moveTo>
                    <a:pt x="770508" y="0"/>
                  </a:moveTo>
                  <a:lnTo>
                    <a:pt x="767461" y="8508"/>
                  </a:lnTo>
                  <a:lnTo>
                    <a:pt x="779746" y="13892"/>
                  </a:lnTo>
                  <a:lnTo>
                    <a:pt x="790305" y="21288"/>
                  </a:lnTo>
                  <a:lnTo>
                    <a:pt x="811696" y="55429"/>
                  </a:lnTo>
                  <a:lnTo>
                    <a:pt x="817948" y="86483"/>
                  </a:lnTo>
                  <a:lnTo>
                    <a:pt x="817983" y="86723"/>
                  </a:lnTo>
                  <a:lnTo>
                    <a:pt x="818769" y="104775"/>
                  </a:lnTo>
                  <a:lnTo>
                    <a:pt x="817983" y="123443"/>
                  </a:lnTo>
                  <a:lnTo>
                    <a:pt x="815625" y="140398"/>
                  </a:lnTo>
                  <a:lnTo>
                    <a:pt x="799078" y="180784"/>
                  </a:lnTo>
                  <a:lnTo>
                    <a:pt x="767842" y="203072"/>
                  </a:lnTo>
                  <a:lnTo>
                    <a:pt x="770508" y="211708"/>
                  </a:lnTo>
                  <a:lnTo>
                    <a:pt x="810978" y="187706"/>
                  </a:lnTo>
                  <a:lnTo>
                    <a:pt x="833707" y="143335"/>
                  </a:lnTo>
                  <a:lnTo>
                    <a:pt x="838073" y="105918"/>
                  </a:lnTo>
                  <a:lnTo>
                    <a:pt x="836991" y="86723"/>
                  </a:lnTo>
                  <a:lnTo>
                    <a:pt x="836977" y="86483"/>
                  </a:lnTo>
                  <a:lnTo>
                    <a:pt x="820547" y="37083"/>
                  </a:lnTo>
                  <a:lnTo>
                    <a:pt x="785864" y="5526"/>
                  </a:lnTo>
                  <a:lnTo>
                    <a:pt x="770508" y="0"/>
                  </a:lnTo>
                  <a:close/>
                </a:path>
                <a:path w="838200" h="212089">
                  <a:moveTo>
                    <a:pt x="67564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04" y="159799"/>
                  </a:lnTo>
                  <a:lnTo>
                    <a:pt x="38671" y="198183"/>
                  </a:lnTo>
                  <a:lnTo>
                    <a:pt x="67564" y="211708"/>
                  </a:lnTo>
                  <a:lnTo>
                    <a:pt x="70230" y="203072"/>
                  </a:lnTo>
                  <a:lnTo>
                    <a:pt x="58183" y="197738"/>
                  </a:lnTo>
                  <a:lnTo>
                    <a:pt x="47767" y="190309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3"/>
                  </a:lnTo>
                  <a:lnTo>
                    <a:pt x="58398" y="13892"/>
                  </a:lnTo>
                  <a:lnTo>
                    <a:pt x="70612" y="8508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9516" y="2610611"/>
            <a:ext cx="10793095" cy="35464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endParaRPr sz="18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𝟐</a:t>
            </a:r>
            <a:r>
              <a:rPr sz="1950" baseline="27777" dirty="0">
                <a:latin typeface="Cambria Math"/>
                <a:cs typeface="Cambria Math"/>
              </a:rPr>
              <a:t>𝒙</a:t>
            </a:r>
            <a:r>
              <a:rPr sz="1950" spc="465" baseline="27777" dirty="0">
                <a:latin typeface="Cambria Math"/>
                <a:cs typeface="Cambria Math"/>
              </a:rPr>
              <a:t> </a:t>
            </a:r>
            <a:r>
              <a:rPr sz="1800" spc="70" dirty="0">
                <a:latin typeface="Cambria Math"/>
                <a:cs typeface="Cambria Math"/>
              </a:rPr>
              <a:t>= </a:t>
            </a:r>
            <a:r>
              <a:rPr sz="1800" dirty="0">
                <a:latin typeface="Cambria Math"/>
                <a:cs typeface="Cambria Math"/>
              </a:rPr>
              <a:t>𝟏𝟎𝟎𝟎𝟎</a:t>
            </a:r>
            <a:r>
              <a:rPr sz="1800" spc="225" dirty="0">
                <a:latin typeface="Cambria Math"/>
                <a:cs typeface="Cambria Math"/>
              </a:rPr>
              <a:t> </a:t>
            </a:r>
            <a:r>
              <a:rPr sz="1800" b="1" spc="-15" dirty="0">
                <a:latin typeface="メイリオ"/>
                <a:cs typeface="メイリオ"/>
              </a:rPr>
              <a:t>を満たすということは、 </a:t>
            </a:r>
            <a:r>
              <a:rPr sz="1800" dirty="0">
                <a:latin typeface="Cambria Math"/>
                <a:cs typeface="Cambria Math"/>
              </a:rPr>
              <a:t>log</a:t>
            </a:r>
            <a:r>
              <a:rPr sz="1950" baseline="-14957" dirty="0">
                <a:latin typeface="Cambria Math"/>
                <a:cs typeface="Cambria Math"/>
              </a:rPr>
              <a:t>𝟏𝟎</a:t>
            </a:r>
            <a:r>
              <a:rPr sz="1800" dirty="0">
                <a:latin typeface="Cambria Math"/>
                <a:cs typeface="Cambria Math"/>
              </a:rPr>
              <a:t>(𝟐</a:t>
            </a:r>
            <a:r>
              <a:rPr sz="1950" baseline="27777" dirty="0">
                <a:latin typeface="Cambria Math"/>
                <a:cs typeface="Cambria Math"/>
              </a:rPr>
              <a:t>𝒙</a:t>
            </a:r>
            <a:r>
              <a:rPr sz="1800" spc="65" dirty="0">
                <a:latin typeface="Cambria Math"/>
                <a:cs typeface="Cambria Math"/>
              </a:rPr>
              <a:t>) = </a:t>
            </a:r>
            <a:r>
              <a:rPr sz="1800" dirty="0">
                <a:latin typeface="Cambria Math"/>
                <a:cs typeface="Cambria Math"/>
              </a:rPr>
              <a:t>log</a:t>
            </a:r>
            <a:r>
              <a:rPr sz="1950" baseline="-14957" dirty="0">
                <a:latin typeface="Cambria Math"/>
                <a:cs typeface="Cambria Math"/>
              </a:rPr>
              <a:t>𝟏𝟎</a:t>
            </a:r>
            <a:r>
              <a:rPr sz="1950" spc="16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𝟏𝟎𝟎𝟎𝟎</a:t>
            </a:r>
            <a:r>
              <a:rPr sz="1800" spc="245" dirty="0">
                <a:latin typeface="Cambria Math"/>
                <a:cs typeface="Cambria Math"/>
              </a:rPr>
              <a:t> </a:t>
            </a:r>
            <a:r>
              <a:rPr sz="1800" b="1" spc="-20" dirty="0">
                <a:latin typeface="メイリオ"/>
                <a:cs typeface="メイリオ"/>
              </a:rPr>
              <a:t>すなわち</a:t>
            </a:r>
            <a:endParaRPr sz="1800">
              <a:latin typeface="メイリオ"/>
              <a:cs typeface="メイリオ"/>
            </a:endParaRPr>
          </a:p>
          <a:p>
            <a:pPr marR="850265" algn="ctr">
              <a:lnSpc>
                <a:spcPct val="100000"/>
              </a:lnSpc>
              <a:spcBef>
                <a:spcPts val="2230"/>
              </a:spcBef>
            </a:pPr>
            <a:r>
              <a:rPr sz="1800" dirty="0">
                <a:latin typeface="Cambria Math"/>
                <a:cs typeface="Cambria Math"/>
              </a:rPr>
              <a:t>log</a:t>
            </a:r>
            <a:r>
              <a:rPr sz="1950" baseline="-14957" dirty="0">
                <a:latin typeface="Cambria Math"/>
                <a:cs typeface="Cambria Math"/>
              </a:rPr>
              <a:t>𝟏𝟎</a:t>
            </a:r>
            <a:r>
              <a:rPr sz="1800" dirty="0">
                <a:latin typeface="Cambria Math"/>
                <a:cs typeface="Cambria Math"/>
              </a:rPr>
              <a:t>(𝟐</a:t>
            </a:r>
            <a:r>
              <a:rPr sz="1950" baseline="27777" dirty="0">
                <a:latin typeface="Cambria Math"/>
                <a:cs typeface="Cambria Math"/>
              </a:rPr>
              <a:t>𝒙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204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Cambria Math"/>
              <a:cs typeface="Cambria Math"/>
            </a:endParaRPr>
          </a:p>
          <a:p>
            <a:pPr marL="372110">
              <a:lnSpc>
                <a:spcPct val="100000"/>
              </a:lnSpc>
              <a:tabLst>
                <a:tab pos="9410700" algn="l"/>
                <a:tab pos="10245725" algn="l"/>
              </a:tabLst>
            </a:pPr>
            <a:r>
              <a:rPr sz="1800" b="1" dirty="0">
                <a:latin typeface="メイリオ"/>
                <a:cs typeface="メイリオ"/>
              </a:rPr>
              <a:t>を満たすということである。そこで対数関数の公式</a:t>
            </a:r>
            <a:r>
              <a:rPr sz="1800" b="1" spc="-10" dirty="0">
                <a:latin typeface="メイリオ"/>
                <a:cs typeface="メイリオ"/>
              </a:rPr>
              <a:t>（p.136）</a:t>
            </a:r>
            <a:r>
              <a:rPr sz="1800" b="1" dirty="0">
                <a:latin typeface="メイリオ"/>
                <a:cs typeface="メイリオ"/>
              </a:rPr>
              <a:t>より、</a:t>
            </a:r>
            <a:r>
              <a:rPr sz="1800" b="1" spc="-15" dirty="0">
                <a:latin typeface="メイリオ"/>
                <a:cs typeface="メイリオ"/>
              </a:rPr>
              <a:t> </a:t>
            </a:r>
            <a:r>
              <a:rPr sz="1800" dirty="0">
                <a:latin typeface="Cambria Math"/>
                <a:cs typeface="Cambria Math"/>
              </a:rPr>
              <a:t>log</a:t>
            </a:r>
            <a:r>
              <a:rPr sz="1950" baseline="-14957" dirty="0">
                <a:latin typeface="Cambria Math"/>
                <a:cs typeface="Cambria Math"/>
              </a:rPr>
              <a:t>𝟏𝟎</a:t>
            </a:r>
            <a:r>
              <a:rPr sz="1800" dirty="0">
                <a:latin typeface="Cambria Math"/>
                <a:cs typeface="Cambria Math"/>
              </a:rPr>
              <a:t>(𝟐</a:t>
            </a:r>
            <a:r>
              <a:rPr sz="1950" baseline="27777" dirty="0">
                <a:latin typeface="Cambria Math"/>
                <a:cs typeface="Cambria Math"/>
              </a:rPr>
              <a:t>𝒙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メイリオ"/>
                <a:cs typeface="メイリオ"/>
              </a:rPr>
              <a:t>の値</a:t>
            </a:r>
            <a:r>
              <a:rPr sz="1800" b="1" spc="-50" dirty="0">
                <a:latin typeface="メイリオ"/>
                <a:cs typeface="メイリオ"/>
              </a:rPr>
              <a:t>は</a:t>
            </a:r>
            <a:r>
              <a:rPr sz="1800" b="1" dirty="0">
                <a:latin typeface="メイリオ"/>
                <a:cs typeface="メイリオ"/>
              </a:rPr>
              <a:t>	</a:t>
            </a:r>
            <a:r>
              <a:rPr sz="1800" dirty="0">
                <a:latin typeface="Cambria Math"/>
                <a:cs typeface="Cambria Math"/>
              </a:rPr>
              <a:t>log</a:t>
            </a:r>
            <a:r>
              <a:rPr sz="1950" baseline="-14957" dirty="0">
                <a:latin typeface="Cambria Math"/>
                <a:cs typeface="Cambria Math"/>
              </a:rPr>
              <a:t>𝟏𝟎</a:t>
            </a:r>
            <a:r>
              <a:rPr sz="1950" spc="217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	×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 marL="37211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メイリオ"/>
                <a:cs typeface="メイリオ"/>
              </a:rPr>
              <a:t>すなわち </a:t>
            </a:r>
            <a:r>
              <a:rPr sz="1800" dirty="0">
                <a:latin typeface="Cambria Math"/>
                <a:cs typeface="Cambria Math"/>
              </a:rPr>
              <a:t>𝟎</a:t>
            </a:r>
            <a:r>
              <a:rPr sz="1800" spc="-50" dirty="0">
                <a:latin typeface="Cambria Math"/>
                <a:cs typeface="Cambria Math"/>
              </a:rPr>
              <a:t>. </a:t>
            </a:r>
            <a:r>
              <a:rPr sz="1800" dirty="0">
                <a:latin typeface="Cambria Math"/>
                <a:cs typeface="Cambria Math"/>
              </a:rPr>
              <a:t>𝟑𝟎𝟏𝒙</a:t>
            </a:r>
            <a:r>
              <a:rPr sz="1800" spc="180" dirty="0">
                <a:latin typeface="Cambria Math"/>
                <a:cs typeface="Cambria Math"/>
              </a:rPr>
              <a:t> </a:t>
            </a:r>
            <a:r>
              <a:rPr sz="1800" b="1" spc="-10" dirty="0">
                <a:latin typeface="メイリオ"/>
                <a:cs typeface="メイリオ"/>
              </a:rPr>
              <a:t>と等しいため、</a:t>
            </a:r>
            <a:endParaRPr sz="1800">
              <a:latin typeface="メイリオ"/>
              <a:cs typeface="メイリオ"/>
            </a:endParaRPr>
          </a:p>
          <a:p>
            <a:pPr marR="852169" algn="ctr">
              <a:lnSpc>
                <a:spcPct val="100000"/>
              </a:lnSpc>
              <a:spcBef>
                <a:spcPts val="1220"/>
              </a:spcBef>
            </a:pPr>
            <a:r>
              <a:rPr sz="1800" spc="-10" dirty="0">
                <a:latin typeface="Cambria Math"/>
                <a:cs typeface="Cambria Math"/>
              </a:rPr>
              <a:t>𝟎.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𝟑𝟎𝟏𝒙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Cambria Math"/>
              <a:cs typeface="Cambria Math"/>
            </a:endParaRPr>
          </a:p>
          <a:p>
            <a:pPr marL="372110">
              <a:lnSpc>
                <a:spcPct val="100000"/>
              </a:lnSpc>
            </a:pPr>
            <a:r>
              <a:rPr sz="1800" b="1" spc="-10" dirty="0">
                <a:latin typeface="メイリオ"/>
                <a:cs typeface="メイリオ"/>
              </a:rPr>
              <a:t>と式変形できる。したがって答えは </a:t>
            </a:r>
            <a:r>
              <a:rPr sz="1800" dirty="0">
                <a:latin typeface="Cambria Math"/>
                <a:cs typeface="Cambria Math"/>
              </a:rPr>
              <a:t>𝟒</a:t>
            </a:r>
            <a:r>
              <a:rPr sz="1800" spc="5" dirty="0">
                <a:latin typeface="Cambria Math"/>
                <a:cs typeface="Cambria Math"/>
              </a:rPr>
              <a:t> ÷ </a:t>
            </a:r>
            <a:r>
              <a:rPr sz="1800" spc="-10" dirty="0">
                <a:latin typeface="Cambria Math"/>
                <a:cs typeface="Cambria Math"/>
              </a:rPr>
              <a:t>𝟎</a:t>
            </a:r>
            <a:r>
              <a:rPr sz="1800" spc="-50" dirty="0">
                <a:latin typeface="Cambria Math"/>
                <a:cs typeface="Cambria Math"/>
              </a:rPr>
              <a:t>. </a:t>
            </a:r>
            <a:r>
              <a:rPr sz="1800" dirty="0">
                <a:latin typeface="Cambria Math"/>
                <a:cs typeface="Cambria Math"/>
              </a:rPr>
              <a:t>𝟑𝟎𝟏</a:t>
            </a:r>
            <a:r>
              <a:rPr sz="1800" spc="65" dirty="0">
                <a:latin typeface="Cambria Math"/>
                <a:cs typeface="Cambria Math"/>
              </a:rPr>
              <a:t> = </a:t>
            </a:r>
            <a:r>
              <a:rPr sz="1800" spc="-10" dirty="0">
                <a:latin typeface="Cambria Math"/>
                <a:cs typeface="Cambria Math"/>
              </a:rPr>
              <a:t>𝟏𝟑</a:t>
            </a:r>
            <a:r>
              <a:rPr sz="1800" spc="-50" dirty="0">
                <a:latin typeface="Cambria Math"/>
                <a:cs typeface="Cambria Math"/>
              </a:rPr>
              <a:t>. </a:t>
            </a:r>
            <a:r>
              <a:rPr sz="1800" dirty="0">
                <a:latin typeface="Cambria Math"/>
                <a:cs typeface="Cambria Math"/>
              </a:rPr>
              <a:t>𝟐𝟖</a:t>
            </a:r>
            <a:r>
              <a:rPr sz="1800" spc="-55" dirty="0">
                <a:latin typeface="Cambria Math"/>
                <a:cs typeface="Cambria Math"/>
              </a:rPr>
              <a:t> …</a:t>
            </a:r>
            <a:r>
              <a:rPr sz="1800" b="1" spc="-10" dirty="0">
                <a:solidFill>
                  <a:srgbClr val="F43864"/>
                </a:solidFill>
                <a:latin typeface="メイリオ"/>
                <a:cs typeface="メイリオ"/>
              </a:rPr>
              <a:t>（</a:t>
            </a:r>
            <a:r>
              <a:rPr sz="1800" b="1" spc="-5" dirty="0">
                <a:solidFill>
                  <a:srgbClr val="F43864"/>
                </a:solidFill>
                <a:latin typeface="メイリオ"/>
                <a:cs typeface="メイリオ"/>
              </a:rPr>
              <a:t>つまり </a:t>
            </a:r>
            <a:r>
              <a:rPr sz="1800" b="1" dirty="0">
                <a:solidFill>
                  <a:srgbClr val="F43864"/>
                </a:solidFill>
                <a:latin typeface="メイリオ"/>
                <a:cs typeface="メイリオ"/>
              </a:rPr>
              <a:t>14</a:t>
            </a:r>
            <a:r>
              <a:rPr sz="1800" b="1" spc="-10" dirty="0">
                <a:solidFill>
                  <a:srgbClr val="F43864"/>
                </a:solidFill>
                <a:latin typeface="メイリオ"/>
                <a:cs typeface="メイリオ"/>
              </a:rPr>
              <a:t> 週後</a:t>
            </a:r>
            <a:r>
              <a:rPr sz="1800" b="1" spc="-50" dirty="0">
                <a:solidFill>
                  <a:srgbClr val="F43864"/>
                </a:solidFill>
                <a:latin typeface="メイリオ"/>
                <a:cs typeface="メイリオ"/>
              </a:rPr>
              <a:t>）</a:t>
            </a:r>
            <a:endParaRPr sz="1800">
              <a:latin typeface="メイリオ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1394</Words>
  <Application>Microsoft Office PowerPoint</Application>
  <PresentationFormat>ワイド画面</PresentationFormat>
  <Paragraphs>493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メイリオ</vt:lpstr>
      <vt:lpstr>Cambria Math</vt:lpstr>
      <vt:lpstr>Times New Roman</vt:lpstr>
      <vt:lpstr>Office Theme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</vt:lpstr>
      <vt:lpstr>5 “本章のゴール” を解こう（難）</vt:lpstr>
      <vt:lpstr>5 “本章のゴール” を解こう（難）</vt:lpstr>
      <vt:lpstr>5 “本章のゴール” を解こう（難）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米田 優峻</dc:creator>
  <cp:lastModifiedBy>内藤 真広</cp:lastModifiedBy>
  <cp:revision>4</cp:revision>
  <dcterms:created xsi:type="dcterms:W3CDTF">2024-12-02T00:16:03Z</dcterms:created>
  <dcterms:modified xsi:type="dcterms:W3CDTF">2026-03-29T09:59:54Z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2024-12-02T00:00:00Z</vt:filetime>
  </property>
  <property fmtid="{D5CDD505-2E9C-101B-9397-08002B2CF9AE}" pid="5" name="Producer">
    <vt:lpwstr>Microsoft® PowerPoint® 2016</vt:lpwstr>
  </property>
</Properties>
</file>